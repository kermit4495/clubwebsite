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Outfit"/>
      <p:regular r:id="rId11"/>
      <p:bold r:id="rId12"/>
    </p:embeddedFont>
    <p:embeddedFont>
      <p:font typeface="Outfit Medium"/>
      <p:regular r:id="rId13"/>
      <p:bold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Outfit-regular.fntdata"/><Relationship Id="rId10" Type="http://schemas.openxmlformats.org/officeDocument/2006/relationships/slide" Target="slides/slide6.xml"/><Relationship Id="rId13" Type="http://schemas.openxmlformats.org/officeDocument/2006/relationships/font" Target="fonts/OutfitMedium-regular.fntdata"/><Relationship Id="rId12" Type="http://schemas.openxmlformats.org/officeDocument/2006/relationships/font" Target="fonts/Outfit-bold.fntdata"/><Relationship Id="rId15" Type="http://schemas.openxmlformats.org/officeDocument/2006/relationships/font" Target="fonts/DMSans-regular.fntdata"/><Relationship Id="rId14" Type="http://schemas.openxmlformats.org/officeDocument/2006/relationships/font" Target="fonts/OutfitMedium-bold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18" Type="http://schemas.openxmlformats.org/officeDocument/2006/relationships/font" Target="fonts/DMSa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6ab08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8f6ab08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f8f6ab086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f8f6ab086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8f6ab08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8f6ab08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f8f6ab086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f8f6ab08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f8f6ab086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f8f6ab086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f8f6ab086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f8f6ab086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55284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1583300" y="356257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flipH="1" rot="10800000">
              <a:off x="-125473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flipH="1" rot="10800000">
              <a:off x="-125483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flipH="1" rot="10800000">
              <a:off x="8424002" y="12348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flipH="1" rot="10800000">
              <a:off x="8423992" y="-2842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720000" y="445025"/>
            <a:ext cx="55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720000" y="1652075"/>
            <a:ext cx="4294800" cy="21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4292275" y="1663850"/>
            <a:ext cx="4138500" cy="18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42625"/>
            <a:ext cx="7704000" cy="644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hasCustomPrompt="1" type="title"/>
          </p:nvPr>
        </p:nvSpPr>
        <p:spPr>
          <a:xfrm>
            <a:off x="713225" y="1774100"/>
            <a:ext cx="46761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713225" y="2872275"/>
            <a:ext cx="467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3" type="subTitle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6" type="subTitle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7" type="title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8" type="title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hasCustomPrompt="1" idx="13" type="title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/>
          <p:nvPr>
            <p:ph hasCustomPrompt="1" idx="14" type="title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/>
          <p:nvPr>
            <p:ph idx="16" type="subTitle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7" type="subTitle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8" type="subTitle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9" type="subTitle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0" type="subTitle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21" type="subTitle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4"/>
          <p:cNvSpPr txBox="1"/>
          <p:nvPr>
            <p:ph type="title"/>
          </p:nvPr>
        </p:nvSpPr>
        <p:spPr>
          <a:xfrm>
            <a:off x="1226425" y="3229500"/>
            <a:ext cx="6691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226413" y="1366200"/>
            <a:ext cx="6691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flipH="1" rot="10800000">
              <a:off x="-129123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flipH="1" rot="10800000">
              <a:off x="-548808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4" name="Google Shape;144;p18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45083" y="-503840"/>
            <a:ext cx="9434170" cy="6151188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flipH="1" rot="10800000">
              <a:off x="534577" y="46792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/>
            <p:nvPr/>
          </p:nvSpPr>
          <p:spPr>
            <a:xfrm flipH="1" rot="10800000">
              <a:off x="-125483" y="-4286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19"/>
          <p:cNvSpPr txBox="1"/>
          <p:nvPr>
            <p:ph type="title"/>
          </p:nvPr>
        </p:nvSpPr>
        <p:spPr>
          <a:xfrm>
            <a:off x="720000" y="1270313"/>
            <a:ext cx="3777300" cy="170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720000" y="2979813"/>
            <a:ext cx="3777300" cy="8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/>
          <p:nvPr>
            <p:ph idx="2" type="pic"/>
          </p:nvPr>
        </p:nvSpPr>
        <p:spPr>
          <a:xfrm>
            <a:off x="5121925" y="1060325"/>
            <a:ext cx="3109200" cy="3109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1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4837200" y="1796350"/>
            <a:ext cx="3593400" cy="64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837375" y="2441150"/>
            <a:ext cx="3593400" cy="90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2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2"/>
            <p:cNvSpPr/>
            <p:nvPr/>
          </p:nvSpPr>
          <p:spPr>
            <a:xfrm flipH="1" rot="10800000">
              <a:off x="29354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720000" y="1215742"/>
            <a:ext cx="7704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535133" y="-37823"/>
            <a:ext cx="10207495" cy="5621696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 flipH="1" rot="10800000">
              <a:off x="-528348" y="-378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 flipH="1" rot="10800000">
              <a:off x="-125483" y="4190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720000" y="1215749"/>
            <a:ext cx="7704000" cy="31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310473" y="3500727"/>
            <a:ext cx="9764950" cy="2327954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flipH="1" rot="10800000">
              <a:off x="927364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 flipH="1" rot="10800000">
              <a:off x="273054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1" type="subTitle"/>
          </p:nvPr>
        </p:nvSpPr>
        <p:spPr>
          <a:xfrm>
            <a:off x="4821081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4"/>
          <p:cNvSpPr txBox="1"/>
          <p:nvPr>
            <p:ph idx="2" type="subTitle"/>
          </p:nvPr>
        </p:nvSpPr>
        <p:spPr>
          <a:xfrm>
            <a:off x="1478950" y="2782975"/>
            <a:ext cx="2844000" cy="11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4"/>
          <p:cNvSpPr txBox="1"/>
          <p:nvPr>
            <p:ph idx="3" type="subTitle"/>
          </p:nvPr>
        </p:nvSpPr>
        <p:spPr>
          <a:xfrm>
            <a:off x="1478950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4" type="subTitle"/>
          </p:nvPr>
        </p:nvSpPr>
        <p:spPr>
          <a:xfrm>
            <a:off x="4821091" y="2370625"/>
            <a:ext cx="28440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flipH="1" rot="10800000">
              <a:off x="-136836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 rot="10800000">
              <a:off x="-655296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" name="Google Shape;24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512036" y="-358023"/>
            <a:ext cx="10169413" cy="5930154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flipH="1" rot="10800000">
              <a:off x="-512036" y="182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 rot="10800000">
              <a:off x="295217" y="46040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881225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342795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5974700" y="2768751"/>
            <a:ext cx="22881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881225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427954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5974700" y="2250275"/>
            <a:ext cx="22881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flipH="1" rot="10800000">
              <a:off x="-118698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flipH="1" rot="10800000">
              <a:off x="-519458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7"/>
          <p:cNvSpPr txBox="1"/>
          <p:nvPr>
            <p:ph idx="1" type="subTitle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7"/>
          <p:cNvSpPr txBox="1"/>
          <p:nvPr>
            <p:ph idx="2" type="subTitle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7"/>
          <p:cNvSpPr txBox="1"/>
          <p:nvPr>
            <p:ph idx="3" type="subTitle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27"/>
          <p:cNvSpPr txBox="1"/>
          <p:nvPr>
            <p:ph idx="4" type="subTitle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subTitle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subTitle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266473" y="3341397"/>
            <a:ext cx="9676960" cy="2321921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8"/>
            <p:cNvSpPr/>
            <p:nvPr/>
          </p:nvSpPr>
          <p:spPr>
            <a:xfrm flipH="1" rot="10800000">
              <a:off x="-266473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8"/>
            <p:cNvSpPr/>
            <p:nvPr/>
          </p:nvSpPr>
          <p:spPr>
            <a:xfrm flipH="1" rot="10800000">
              <a:off x="-151033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968524" y="2235613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8"/>
          <p:cNvSpPr txBox="1"/>
          <p:nvPr>
            <p:ph idx="2" type="subTitle"/>
          </p:nvPr>
        </p:nvSpPr>
        <p:spPr>
          <a:xfrm>
            <a:off x="3439063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8"/>
          <p:cNvSpPr txBox="1"/>
          <p:nvPr>
            <p:ph idx="3" type="subTitle"/>
          </p:nvPr>
        </p:nvSpPr>
        <p:spPr>
          <a:xfrm>
            <a:off x="968524" y="3967325"/>
            <a:ext cx="22662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4" type="subTitle"/>
          </p:nvPr>
        </p:nvSpPr>
        <p:spPr>
          <a:xfrm>
            <a:off x="3439063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5" type="subTitle"/>
          </p:nvPr>
        </p:nvSpPr>
        <p:spPr>
          <a:xfrm>
            <a:off x="5909375" y="2235613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>
            <p:ph idx="6" type="subTitle"/>
          </p:nvPr>
        </p:nvSpPr>
        <p:spPr>
          <a:xfrm>
            <a:off x="5909375" y="3967325"/>
            <a:ext cx="2265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7" type="subTitle"/>
          </p:nvPr>
        </p:nvSpPr>
        <p:spPr>
          <a:xfrm>
            <a:off x="968524" y="1890138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8" type="subTitle"/>
          </p:nvPr>
        </p:nvSpPr>
        <p:spPr>
          <a:xfrm>
            <a:off x="3439063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9" type="subTitle"/>
          </p:nvPr>
        </p:nvSpPr>
        <p:spPr>
          <a:xfrm>
            <a:off x="5909375" y="1890138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13" type="subTitle"/>
          </p:nvPr>
        </p:nvSpPr>
        <p:spPr>
          <a:xfrm>
            <a:off x="968524" y="3621825"/>
            <a:ext cx="2266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4" type="subTitle"/>
          </p:nvPr>
        </p:nvSpPr>
        <p:spPr>
          <a:xfrm>
            <a:off x="3439063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15" type="subTitle"/>
          </p:nvPr>
        </p:nvSpPr>
        <p:spPr>
          <a:xfrm>
            <a:off x="5909375" y="3621825"/>
            <a:ext cx="2265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hasCustomPrompt="1" type="title"/>
          </p:nvPr>
        </p:nvSpPr>
        <p:spPr>
          <a:xfrm>
            <a:off x="4351975" y="638350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4351975" y="1327275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hasCustomPrompt="1" idx="2" type="title"/>
          </p:nvPr>
        </p:nvSpPr>
        <p:spPr>
          <a:xfrm>
            <a:off x="4351975" y="1990612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4351975" y="267952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" name="Google Shape;307;p29"/>
          <p:cNvSpPr txBox="1"/>
          <p:nvPr>
            <p:ph hasCustomPrompt="1" idx="4" type="title"/>
          </p:nvPr>
        </p:nvSpPr>
        <p:spPr>
          <a:xfrm>
            <a:off x="4351975" y="3342874"/>
            <a:ext cx="4078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/>
          <p:nvPr>
            <p:ph idx="5" type="subTitle"/>
          </p:nvPr>
        </p:nvSpPr>
        <p:spPr>
          <a:xfrm>
            <a:off x="4351975" y="4031799"/>
            <a:ext cx="4078800" cy="41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type="title"/>
          </p:nvPr>
        </p:nvSpPr>
        <p:spPr>
          <a:xfrm>
            <a:off x="713225" y="677525"/>
            <a:ext cx="5094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713225" y="1841450"/>
            <a:ext cx="50946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0"/>
          <p:cNvSpPr txBox="1"/>
          <p:nvPr/>
        </p:nvSpPr>
        <p:spPr>
          <a:xfrm>
            <a:off x="713225" y="3611950"/>
            <a:ext cx="509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flipH="1" rot="10800000">
              <a:off x="-247298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flipH="1" rot="10800000">
              <a:off x="346967" y="-44621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flipH="1" rot="10800000">
                <a:off x="-266661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rect b="b" l="l" r="r" t="t"/>
                <a:pathLst>
                  <a:path extrusionOk="0" h="209550" w="181539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flipH="1" rot="10800000">
              <a:off x="293867" y="47973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b="1" sz="3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748100" y="1599650"/>
            <a:ext cx="6863400" cy="91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Linear Regression</a:t>
            </a:r>
            <a:endParaRPr sz="3000"/>
          </a:p>
        </p:txBody>
      </p:sp>
      <p:grpSp>
        <p:nvGrpSpPr>
          <p:cNvPr id="339" name="Google Shape;339;p33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340" name="Google Shape;340;p33"/>
            <p:cNvSpPr/>
            <p:nvPr/>
          </p:nvSpPr>
          <p:spPr>
            <a:xfrm>
              <a:off x="7074911" y="25473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7026089" y="-1533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6606684" y="318466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6138958" y="1370872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5732458" y="87452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7480889" y="98993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3"/>
            <p:cNvSpPr/>
            <p:nvPr/>
          </p:nvSpPr>
          <p:spPr>
            <a:xfrm>
              <a:off x="7074904" y="207505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3"/>
            <p:cNvSpPr/>
            <p:nvPr/>
          </p:nvSpPr>
          <p:spPr>
            <a:xfrm>
              <a:off x="7962441" y="1404077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3"/>
            <p:cNvSpPr/>
            <p:nvPr/>
          </p:nvSpPr>
          <p:spPr>
            <a:xfrm flipH="1" rot="10800000">
              <a:off x="6036087" y="312497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 flipH="1" rot="10800000">
              <a:off x="6355205" y="41020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33"/>
            <p:cNvSpPr/>
            <p:nvPr/>
          </p:nvSpPr>
          <p:spPr>
            <a:xfrm flipH="1" rot="10800000">
              <a:off x="5732459" y="487908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3"/>
            <p:cNvSpPr/>
            <p:nvPr/>
          </p:nvSpPr>
          <p:spPr>
            <a:xfrm flipH="1" rot="10800000">
              <a:off x="6683197" y="3515490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3"/>
            <p:cNvSpPr/>
            <p:nvPr/>
          </p:nvSpPr>
          <p:spPr>
            <a:xfrm flipH="1" rot="10800000">
              <a:off x="5104880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8484758" y="243811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8038260" y="2921288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3"/>
            <p:cNvSpPr/>
            <p:nvPr/>
          </p:nvSpPr>
          <p:spPr>
            <a:xfrm flipH="1" rot="10800000">
              <a:off x="7853362" y="3962203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3"/>
            <p:cNvSpPr/>
            <p:nvPr/>
          </p:nvSpPr>
          <p:spPr>
            <a:xfrm flipH="1" rot="10800000">
              <a:off x="8261505" y="4434525"/>
              <a:ext cx="838710" cy="968121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7" name="Google Shape;357;p33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Poverty vs High School Graduation Rate</a:t>
            </a:r>
            <a:endParaRPr sz="3100"/>
          </a:p>
        </p:txBody>
      </p:sp>
      <p:sp>
        <p:nvSpPr>
          <p:cNvPr id="363" name="Google Shape;363;p34"/>
          <p:cNvSpPr txBox="1"/>
          <p:nvPr>
            <p:ph idx="1" type="body"/>
          </p:nvPr>
        </p:nvSpPr>
        <p:spPr>
          <a:xfrm>
            <a:off x="662675" y="1195600"/>
            <a:ext cx="77040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scatterplot shows the relationship between HS graduate rate the US and the percentage of residents who live in poverty.</a:t>
            </a:r>
            <a:endParaRPr sz="1600"/>
          </a:p>
        </p:txBody>
      </p:sp>
      <p:pic>
        <p:nvPicPr>
          <p:cNvPr id="364" name="Google Shape;3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25" y="2032975"/>
            <a:ext cx="4136225" cy="295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4"/>
          <p:cNvSpPr txBox="1"/>
          <p:nvPr/>
        </p:nvSpPr>
        <p:spPr>
          <a:xfrm>
            <a:off x="5076650" y="2172975"/>
            <a:ext cx="2707800" cy="2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Response variable (dependent):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% in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poverty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Explanatory variable (independent):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% HS grad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Relationship: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Linear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66" name="Google Shape;366;p34"/>
          <p:cNvCxnSpPr/>
          <p:nvPr/>
        </p:nvCxnSpPr>
        <p:spPr>
          <a:xfrm>
            <a:off x="1810025" y="2373550"/>
            <a:ext cx="2406900" cy="18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Simple Linear Regression Model</a:t>
            </a:r>
            <a:endParaRPr sz="3100"/>
          </a:p>
        </p:txBody>
      </p:sp>
      <p:sp>
        <p:nvSpPr>
          <p:cNvPr id="372" name="Google Shape;372;p35"/>
          <p:cNvSpPr txBox="1"/>
          <p:nvPr/>
        </p:nvSpPr>
        <p:spPr>
          <a:xfrm>
            <a:off x="592175" y="1270350"/>
            <a:ext cx="81951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Error between the fitted line and the original Y:</a:t>
            </a:r>
            <a:endParaRPr b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3" name="Google Shape;3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650" y="1762025"/>
            <a:ext cx="4441351" cy="333822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5"/>
          <p:cNvSpPr txBox="1"/>
          <p:nvPr/>
        </p:nvSpPr>
        <p:spPr>
          <a:xfrm>
            <a:off x="815025" y="1929400"/>
            <a:ext cx="2341800" cy="26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 = Y’ - Y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Y’ =  17 + b1 * x </a:t>
            </a:r>
            <a:endParaRPr b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375" name="Google Shape;375;p35"/>
          <p:cNvCxnSpPr/>
          <p:nvPr/>
        </p:nvCxnSpPr>
        <p:spPr>
          <a:xfrm flipH="1" rot="10800000">
            <a:off x="1065000" y="3448225"/>
            <a:ext cx="415500" cy="32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35"/>
          <p:cNvCxnSpPr/>
          <p:nvPr/>
        </p:nvCxnSpPr>
        <p:spPr>
          <a:xfrm rot="10800000">
            <a:off x="2263075" y="3419575"/>
            <a:ext cx="363600" cy="38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5"/>
          <p:cNvSpPr txBox="1"/>
          <p:nvPr/>
        </p:nvSpPr>
        <p:spPr>
          <a:xfrm>
            <a:off x="656700" y="3806275"/>
            <a:ext cx="141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intercept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8" name="Google Shape;378;p35"/>
          <p:cNvSpPr txBox="1"/>
          <p:nvPr/>
        </p:nvSpPr>
        <p:spPr>
          <a:xfrm>
            <a:off x="2258763" y="3877925"/>
            <a:ext cx="12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slope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Finding Best Fitting Line</a:t>
            </a:r>
            <a:endParaRPr sz="3100"/>
          </a:p>
        </p:txBody>
      </p:sp>
      <p:pic>
        <p:nvPicPr>
          <p:cNvPr id="384" name="Google Shape;3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56400"/>
            <a:ext cx="8839199" cy="345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Least Square Regression </a:t>
            </a:r>
            <a:endParaRPr sz="3100"/>
          </a:p>
        </p:txBody>
      </p:sp>
      <p:sp>
        <p:nvSpPr>
          <p:cNvPr id="390" name="Google Shape;390;p37"/>
          <p:cNvSpPr txBox="1"/>
          <p:nvPr/>
        </p:nvSpPr>
        <p:spPr>
          <a:xfrm>
            <a:off x="964700" y="1189200"/>
            <a:ext cx="6776700" cy="27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do we choose to minimize the least </a:t>
            </a: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squares</a:t>
            </a: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rabicParenR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Commonly used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M Sans"/>
              <a:buAutoNum type="arabicParenR"/>
            </a:pPr>
            <a:r>
              <a:rPr lang="en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Easy to compute, both by computer or by closed form formula</a:t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type="title"/>
          </p:nvPr>
        </p:nvSpPr>
        <p:spPr>
          <a:xfrm>
            <a:off x="619725" y="2157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Least Square Regression </a:t>
            </a:r>
            <a:endParaRPr/>
          </a:p>
        </p:txBody>
      </p:sp>
      <p:sp>
        <p:nvSpPr>
          <p:cNvPr id="396" name="Google Shape;396;p38"/>
          <p:cNvSpPr txBox="1"/>
          <p:nvPr>
            <p:ph idx="1" type="body"/>
          </p:nvPr>
        </p:nvSpPr>
        <p:spPr>
          <a:xfrm>
            <a:off x="720000" y="1215750"/>
            <a:ext cx="2393700" cy="3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 minimizing the least squared errors, we obtain: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500" y="874450"/>
            <a:ext cx="4675225" cy="41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