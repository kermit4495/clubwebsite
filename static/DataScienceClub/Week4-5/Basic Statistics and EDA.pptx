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Outfit"/>
      <p:regular r:id="rId23"/>
      <p:bold r:id="rId24"/>
    </p:embeddedFont>
    <p:embeddedFont>
      <p:font typeface="Outfit Medium"/>
      <p:regular r:id="rId25"/>
      <p:bold r:id="rId26"/>
    </p:embeddedFont>
    <p:embeddedFont>
      <p:font typeface="DM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Outfit-bold.fntdata"/><Relationship Id="rId23" Type="http://schemas.openxmlformats.org/officeDocument/2006/relationships/font" Target="fonts/Outfi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utfitMedium-bold.fntdata"/><Relationship Id="rId25" Type="http://schemas.openxmlformats.org/officeDocument/2006/relationships/font" Target="fonts/OutfitMedium-regular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DM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oboto-regular.fntdata"/><Relationship Id="rId14" Type="http://schemas.openxmlformats.org/officeDocument/2006/relationships/slide" Target="slides/slide10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Lato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880a2034c8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880a2034c8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880a2034c8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880a2034c8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880a2034c8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880a2034c8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880a2034c8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880a2034c8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880a2034c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880a2034c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025a14886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025a14886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025a148861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025a14886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7" name="Google Shape;17;p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9" name="Google Shape;29;p5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5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5"/>
          <p:cNvSpPr txBox="1"/>
          <p:nvPr>
            <p:ph idx="2" type="subTitle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5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44" name="Google Shape;44;p6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flipH="1" rot="10800000">
              <a:off x="-125473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 flipH="1" rot="10800000">
              <a:off x="-125483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 flipH="1" rot="10800000">
              <a:off x="8424002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flipH="1" rot="10800000">
              <a:off x="8423992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292275" y="1663850"/>
            <a:ext cx="4138500" cy="18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/>
          <p:nvPr>
            <p:ph type="title"/>
          </p:nvPr>
        </p:nvSpPr>
        <p:spPr>
          <a:xfrm>
            <a:off x="720000" y="3942625"/>
            <a:ext cx="7704000" cy="644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hasCustomPrompt="1" type="title"/>
          </p:nvPr>
        </p:nvSpPr>
        <p:spPr>
          <a:xfrm>
            <a:off x="713225" y="1774100"/>
            <a:ext cx="4676100" cy="10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/>
          <p:nvPr>
            <p:ph idx="1" type="subTitle"/>
          </p:nvPr>
        </p:nvSpPr>
        <p:spPr>
          <a:xfrm>
            <a:off x="713225" y="2872275"/>
            <a:ext cx="4676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subTitle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2" type="subTitle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3" type="subTitle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4" type="subTitle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5" type="subTitle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6" type="subTitle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hasCustomPrompt="1" idx="7" type="title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hasCustomPrompt="1" idx="8" type="title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/>
          <p:nvPr>
            <p:ph hasCustomPrompt="1" idx="9" type="title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hasCustomPrompt="1" idx="13" type="title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/>
          <p:nvPr>
            <p:ph hasCustomPrompt="1" idx="14" type="title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/>
          <p:nvPr>
            <p:ph hasCustomPrompt="1" idx="15" type="title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3" name="Google Shape;93;p13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9" type="subTitle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20" type="subTitle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21" type="subTitle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99" name="Google Shape;99;p1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4"/>
          <p:cNvSpPr txBox="1"/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5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11" name="Google Shape;111;p15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6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122" name="Google Shape;122;p16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133" name="Google Shape;133;p17"/>
            <p:cNvSpPr/>
            <p:nvPr/>
          </p:nvSpPr>
          <p:spPr>
            <a:xfrm>
              <a:off x="293877" y="46157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 flipH="1" rot="10800000">
              <a:off x="-129123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 flipH="1" rot="10800000">
              <a:off x="-548808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1851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44" name="Google Shape;144;p18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145" name="Google Shape;145;p18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46" name="Google Shape;146;p18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8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8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8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8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8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8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" name="Google Shape;153;p18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156" name="Google Shape;156;p19"/>
            <p:cNvSpPr/>
            <p:nvPr/>
          </p:nvSpPr>
          <p:spPr>
            <a:xfrm flipH="1" rot="10800000">
              <a:off x="534577" y="46792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-145073" y="392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-145083" y="44198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/>
            <p:nvPr/>
          </p:nvSpPr>
          <p:spPr>
            <a:xfrm flipH="1" rot="10800000">
              <a:off x="-125483" y="-4286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9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19"/>
          <p:cNvSpPr txBox="1"/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5" name="Google Shape;165;p19"/>
          <p:cNvSpPr txBox="1"/>
          <p:nvPr>
            <p:ph idx="1" type="subTitle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9"/>
          <p:cNvSpPr/>
          <p:nvPr>
            <p:ph idx="2" type="pic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0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69" name="Google Shape;169;p20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0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20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1" type="subTitle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1"/>
          <p:cNvGrpSpPr/>
          <p:nvPr/>
        </p:nvGrpSpPr>
        <p:grpSpPr>
          <a:xfrm flipH="1"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81" name="Google Shape;181;p21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1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1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1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1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1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" name="Google Shape;189;p21"/>
          <p:cNvSpPr txBox="1"/>
          <p:nvPr>
            <p:ph type="title"/>
          </p:nvPr>
        </p:nvSpPr>
        <p:spPr>
          <a:xfrm>
            <a:off x="4837200" y="1796350"/>
            <a:ext cx="35934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4837375" y="2441150"/>
            <a:ext cx="3593400" cy="90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2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93" name="Google Shape;193;p22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2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2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2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2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2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2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2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" name="Google Shape;20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2" name="Google Shape;202;p22"/>
          <p:cNvSpPr txBox="1"/>
          <p:nvPr>
            <p:ph idx="1" type="body"/>
          </p:nvPr>
        </p:nvSpPr>
        <p:spPr>
          <a:xfrm>
            <a:off x="720000" y="1215742"/>
            <a:ext cx="7704000" cy="1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3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205" name="Google Shape;205;p23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3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3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3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3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3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3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3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4" name="Google Shape;214;p23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flipH="1" rot="10800000">
              <a:off x="927364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 flipH="1" rot="10800000">
              <a:off x="273054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1" type="subTitle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4"/>
          <p:cNvSpPr txBox="1"/>
          <p:nvPr>
            <p:ph idx="2" type="subTitle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4"/>
          <p:cNvSpPr txBox="1"/>
          <p:nvPr>
            <p:ph idx="3" type="subTitle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4" type="subTitle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flipH="1" rot="10800000">
              <a:off x="-136836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flipH="1" rot="10800000">
              <a:off x="-655296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" name="Google Shape;24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1" name="Google Shape;241;p25"/>
          <p:cNvSpPr txBox="1"/>
          <p:nvPr>
            <p:ph idx="1" type="subTitle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5"/>
          <p:cNvSpPr txBox="1"/>
          <p:nvPr>
            <p:ph idx="2" type="subTitle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245" name="Google Shape;245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-124136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 flipH="1" rot="10800000">
              <a:off x="-512036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 flipH="1" rot="10800000">
              <a:off x="295217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124133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7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262" name="Google Shape;262;p27"/>
            <p:cNvSpPr/>
            <p:nvPr/>
          </p:nvSpPr>
          <p:spPr>
            <a:xfrm flipH="1" rot="10800000">
              <a:off x="-118698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 flipH="1" rot="10800000">
              <a:off x="-519458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-519448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213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7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7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7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7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" name="Google Shape;270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1" name="Google Shape;271;p27"/>
          <p:cNvSpPr txBox="1"/>
          <p:nvPr>
            <p:ph idx="1" type="subTitle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27"/>
          <p:cNvSpPr txBox="1"/>
          <p:nvPr>
            <p:ph idx="2" type="subTitle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27"/>
          <p:cNvSpPr txBox="1"/>
          <p:nvPr>
            <p:ph idx="3" type="subTitle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27"/>
          <p:cNvSpPr txBox="1"/>
          <p:nvPr>
            <p:ph idx="4" type="subTitle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subTitle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subTitle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8"/>
          <p:cNvGrpSpPr/>
          <p:nvPr/>
        </p:nvGrpSpPr>
        <p:grpSpPr>
          <a:xfrm>
            <a:off x="-266473" y="3341397"/>
            <a:ext cx="9676960" cy="2321921"/>
            <a:chOff x="-266473" y="3341397"/>
            <a:chExt cx="9676960" cy="2321921"/>
          </a:xfrm>
        </p:grpSpPr>
        <p:sp>
          <p:nvSpPr>
            <p:cNvPr id="281" name="Google Shape;281;p28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86361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8"/>
            <p:cNvSpPr/>
            <p:nvPr/>
          </p:nvSpPr>
          <p:spPr>
            <a:xfrm flipH="1" rot="10800000">
              <a:off x="-266473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15286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8"/>
            <p:cNvSpPr/>
            <p:nvPr/>
          </p:nvSpPr>
          <p:spPr>
            <a:xfrm flipH="1" rot="10800000">
              <a:off x="-151033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8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8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" name="Google Shape;28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968524" y="2235613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28"/>
          <p:cNvSpPr txBox="1"/>
          <p:nvPr>
            <p:ph idx="2" type="subTitle"/>
          </p:nvPr>
        </p:nvSpPr>
        <p:spPr>
          <a:xfrm>
            <a:off x="3439063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28"/>
          <p:cNvSpPr txBox="1"/>
          <p:nvPr>
            <p:ph idx="3" type="subTitle"/>
          </p:nvPr>
        </p:nvSpPr>
        <p:spPr>
          <a:xfrm>
            <a:off x="968524" y="3967325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4" type="subTitle"/>
          </p:nvPr>
        </p:nvSpPr>
        <p:spPr>
          <a:xfrm>
            <a:off x="3439063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5" type="subTitle"/>
          </p:nvPr>
        </p:nvSpPr>
        <p:spPr>
          <a:xfrm>
            <a:off x="5909375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>
            <p:ph idx="6" type="subTitle"/>
          </p:nvPr>
        </p:nvSpPr>
        <p:spPr>
          <a:xfrm>
            <a:off x="5909375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>
            <p:ph idx="7" type="subTitle"/>
          </p:nvPr>
        </p:nvSpPr>
        <p:spPr>
          <a:xfrm>
            <a:off x="968524" y="1890138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7" name="Google Shape;297;p28"/>
          <p:cNvSpPr txBox="1"/>
          <p:nvPr>
            <p:ph idx="8" type="subTitle"/>
          </p:nvPr>
        </p:nvSpPr>
        <p:spPr>
          <a:xfrm>
            <a:off x="3439063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8" name="Google Shape;298;p28"/>
          <p:cNvSpPr txBox="1"/>
          <p:nvPr>
            <p:ph idx="9" type="subTitle"/>
          </p:nvPr>
        </p:nvSpPr>
        <p:spPr>
          <a:xfrm>
            <a:off x="5909375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13" type="subTitle"/>
          </p:nvPr>
        </p:nvSpPr>
        <p:spPr>
          <a:xfrm>
            <a:off x="968524" y="3621825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14" type="subTitle"/>
          </p:nvPr>
        </p:nvSpPr>
        <p:spPr>
          <a:xfrm>
            <a:off x="3439063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1" name="Google Shape;301;p28"/>
          <p:cNvSpPr txBox="1"/>
          <p:nvPr>
            <p:ph idx="15" type="subTitle"/>
          </p:nvPr>
        </p:nvSpPr>
        <p:spPr>
          <a:xfrm>
            <a:off x="5909375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/>
          <p:nvPr>
            <p:ph hasCustomPrompt="1" type="title"/>
          </p:nvPr>
        </p:nvSpPr>
        <p:spPr>
          <a:xfrm>
            <a:off x="4351975" y="638350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4351975" y="1327275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hasCustomPrompt="1" idx="2" type="title"/>
          </p:nvPr>
        </p:nvSpPr>
        <p:spPr>
          <a:xfrm>
            <a:off x="4351975" y="1990612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4351975" y="267952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" name="Google Shape;307;p29"/>
          <p:cNvSpPr txBox="1"/>
          <p:nvPr>
            <p:ph hasCustomPrompt="1" idx="4" type="title"/>
          </p:nvPr>
        </p:nvSpPr>
        <p:spPr>
          <a:xfrm>
            <a:off x="4351975" y="3342874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8" name="Google Shape;308;p29"/>
          <p:cNvSpPr txBox="1"/>
          <p:nvPr>
            <p:ph idx="5" type="subTitle"/>
          </p:nvPr>
        </p:nvSpPr>
        <p:spPr>
          <a:xfrm>
            <a:off x="4351975" y="403179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/>
          <p:nvPr>
            <p:ph type="title"/>
          </p:nvPr>
        </p:nvSpPr>
        <p:spPr>
          <a:xfrm>
            <a:off x="713225" y="677525"/>
            <a:ext cx="5094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1" name="Google Shape;311;p30"/>
          <p:cNvSpPr txBox="1"/>
          <p:nvPr>
            <p:ph idx="1" type="subTitle"/>
          </p:nvPr>
        </p:nvSpPr>
        <p:spPr>
          <a:xfrm>
            <a:off x="713225" y="1841450"/>
            <a:ext cx="5094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0"/>
          <p:cNvSpPr txBox="1"/>
          <p:nvPr/>
        </p:nvSpPr>
        <p:spPr>
          <a:xfrm>
            <a:off x="713225" y="3611950"/>
            <a:ext cx="5094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google.com/search?sca_esv=eeca58d8d47b3544&amp;rlz=1C1CHZN_enUS939US940&amp;cs=0&amp;sxsrf=AE3TifNdJsNNyxjY1EwcdSU9noYUY1jmXg%3A1759383694135&amp;q=Measures+of+Central+Tendency&amp;sa=X&amp;ved=2ahUKEwja6rGA54SQAxX2AjQIHWTmGzcQxccNegQILhAB&amp;mstk=AUtExfDQEOKjONearAAcZZwKFpPbwxNlq0Q7HYqHwm2HH6oFKsraak4Vz8TXv4G_FLBNeZR2FbcZPfNHHbh00txIPa5iwYPhni19jsciuzxcABZSei0RtrWJh7ghCWb8xAHhEnpBXFKlfkhDHwtA9i_hdRzLDjUQmUMfLtffQ_-j4E3IZws6Al3XPOS-VMIdxqVZVCFs-fXbmfMzyc8wkJx540w4pahZdk7z4LEQeNd6SCdgzkDew2OPgmB5mIhFMEXK1Vc6mCYtTUcmewbcsPxalPJp7mIUlYHcuDaVbHLDRmlJ80BvoQQOponRhN9R8J_EwgPUuVFH6ekNyvc1i9TcSE3ytyezsfdrEJBQUpvyfdHM&amp;csui=3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google.com/search?sca_esv=eeca58d8d47b3544&amp;rlz=1C1CHZN_enUS939US940&amp;cs=0&amp;sxsrf=AE3TifNdJsNNyxjY1EwcdSU9noYUY1jmXg%3A1759383694135&amp;q=Measures+of+Dispersion&amp;sa=X&amp;ved=2ahUKEwja6rGA54SQAxX2AjQIHWTmGzcQxccNegQIMRAB&amp;mstk=AUtExfDQEOKjONearAAcZZwKFpPbwxNlq0Q7HYqHwm2HH6oFKsraak4Vz8TXv4G_FLBNeZR2FbcZPfNHHbh00txIPa5iwYPhni19jsciuzxcABZSei0RtrWJh7ghCWb8xAHhEnpBXFKlfkhDHwtA9i_hdRzLDjUQmUMfLtffQ_-j4E3IZws6Al3XPOS-VMIdxqVZVCFs-fXbmfMzyc8wkJx540w4pahZdk7z4LEQeNd6SCdgzkDew2OPgmB5mIhFMEXK1Vc6mCYtTUcmewbcsPxalPJp7mIUlYHcuDaVbHLDRmlJ80BvoQQOponRhN9R8J_EwgPUuVFH6ekNyvc1i9TcSE3ytyezsfdrEJBQUpvyfdHM&amp;csui=3" TargetMode="External"/><Relationship Id="rId4" Type="http://schemas.openxmlformats.org/officeDocument/2006/relationships/hyperlink" Target="https://www.google.com/search?sca_esv=eeca58d8d47b3544&amp;rlz=1C1CHZN_enUS939US940&amp;cs=0&amp;sxsrf=AE3TifNdJsNNyxjY1EwcdSU9noYUY1jmXg%3A1759383694135&amp;q=Standard+Deviation&amp;sa=X&amp;ved=2ahUKEwja6rGA54SQAxX2AjQIHWTmGzcQxccNegQIEhAB&amp;mstk=AUtExfDQEOKjONearAAcZZwKFpPbwxNlq0Q7HYqHwm2HH6oFKsraak4Vz8TXv4G_FLBNeZR2FbcZPfNHHbh00txIPa5iwYPhni19jsciuzxcABZSei0RtrWJh7ghCWb8xAHhEnpBXFKlfkhDHwtA9i_hdRzLDjUQmUMfLtffQ_-j4E3IZws6Al3XPOS-VMIdxqVZVCFs-fXbmfMzyc8wkJx540w4pahZdk7z4LEQeNd6SCdgzkDew2OPgmB5mIhFMEXK1Vc6mCYtTUcmewbcsPxalPJp7mIUlYHcuDaVbHLDRmlJ80BvoQQOponRhN9R8J_EwgPUuVFH6ekNyvc1i9TcSE3ytyezsfdrEJBQUpvyfdHM&amp;csui=3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>
            <p:ph type="ctrTitle"/>
          </p:nvPr>
        </p:nvSpPr>
        <p:spPr>
          <a:xfrm>
            <a:off x="1236300" y="2550850"/>
            <a:ext cx="6249300" cy="193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Basic Statistics </a:t>
            </a:r>
            <a:endParaRPr sz="4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&amp;</a:t>
            </a:r>
            <a:endParaRPr sz="4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Exploratory</a:t>
            </a:r>
            <a:r>
              <a:rPr lang="en" sz="4300"/>
              <a:t> Data Analysis</a:t>
            </a:r>
            <a:endParaRPr sz="4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 </a:t>
            </a:r>
            <a:endParaRPr sz="4800"/>
          </a:p>
        </p:txBody>
      </p:sp>
      <p:grpSp>
        <p:nvGrpSpPr>
          <p:cNvPr id="339" name="Google Shape;339;p33"/>
          <p:cNvGrpSpPr/>
          <p:nvPr/>
        </p:nvGrpSpPr>
        <p:grpSpPr>
          <a:xfrm>
            <a:off x="5115430" y="156608"/>
            <a:ext cx="3305094" cy="4986808"/>
            <a:chOff x="5115337" y="-428624"/>
            <a:chExt cx="4275118" cy="6450405"/>
          </a:xfrm>
        </p:grpSpPr>
        <p:sp>
          <p:nvSpPr>
            <p:cNvPr id="340" name="Google Shape;340;p33"/>
            <p:cNvSpPr/>
            <p:nvPr/>
          </p:nvSpPr>
          <p:spPr>
            <a:xfrm flipH="1" rot="10800000">
              <a:off x="8492525" y="-1927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3"/>
            <p:cNvSpPr/>
            <p:nvPr/>
          </p:nvSpPr>
          <p:spPr>
            <a:xfrm>
              <a:off x="8551745" y="32678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3"/>
            <p:cNvSpPr/>
            <p:nvPr/>
          </p:nvSpPr>
          <p:spPr>
            <a:xfrm>
              <a:off x="6606686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3"/>
            <p:cNvSpPr/>
            <p:nvPr/>
          </p:nvSpPr>
          <p:spPr>
            <a:xfrm>
              <a:off x="7103477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6684072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6109895" y="11940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3"/>
            <p:cNvSpPr/>
            <p:nvPr/>
          </p:nvSpPr>
          <p:spPr>
            <a:xfrm>
              <a:off x="6109895" y="6977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3"/>
            <p:cNvSpPr/>
            <p:nvPr/>
          </p:nvSpPr>
          <p:spPr>
            <a:xfrm>
              <a:off x="7587339" y="1194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3"/>
            <p:cNvSpPr/>
            <p:nvPr/>
          </p:nvSpPr>
          <p:spPr>
            <a:xfrm>
              <a:off x="5634170" y="-42862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3"/>
            <p:cNvSpPr/>
            <p:nvPr/>
          </p:nvSpPr>
          <p:spPr>
            <a:xfrm>
              <a:off x="7017892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3"/>
            <p:cNvSpPr/>
            <p:nvPr/>
          </p:nvSpPr>
          <p:spPr>
            <a:xfrm>
              <a:off x="5193798" y="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3"/>
            <p:cNvSpPr/>
            <p:nvPr/>
          </p:nvSpPr>
          <p:spPr>
            <a:xfrm>
              <a:off x="8068891" y="16222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3"/>
            <p:cNvSpPr/>
            <p:nvPr/>
          </p:nvSpPr>
          <p:spPr>
            <a:xfrm flipH="1" rot="10800000">
              <a:off x="5115337" y="3655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3"/>
            <p:cNvSpPr/>
            <p:nvPr/>
          </p:nvSpPr>
          <p:spPr>
            <a:xfrm flipH="1" rot="10800000">
              <a:off x="6606680" y="39247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3"/>
            <p:cNvSpPr/>
            <p:nvPr/>
          </p:nvSpPr>
          <p:spPr>
            <a:xfrm flipH="1" rot="10800000">
              <a:off x="5983934" y="50536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3"/>
            <p:cNvSpPr/>
            <p:nvPr/>
          </p:nvSpPr>
          <p:spPr>
            <a:xfrm flipH="1" rot="10800000">
              <a:off x="7178797" y="35333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3"/>
            <p:cNvSpPr/>
            <p:nvPr/>
          </p:nvSpPr>
          <p:spPr>
            <a:xfrm flipH="1" rot="10800000">
              <a:off x="6606686" y="460940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3"/>
            <p:cNvSpPr/>
            <p:nvPr/>
          </p:nvSpPr>
          <p:spPr>
            <a:xfrm flipH="1" rot="10800000">
              <a:off x="5526543" y="41283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3"/>
            <p:cNvSpPr/>
            <p:nvPr/>
          </p:nvSpPr>
          <p:spPr>
            <a:xfrm>
              <a:off x="8117298" y="28522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3"/>
            <p:cNvSpPr/>
            <p:nvPr/>
          </p:nvSpPr>
          <p:spPr>
            <a:xfrm>
              <a:off x="8172542" y="3036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47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675" lIns="70675" spcFirstLastPara="1" rIns="70675" wrap="square" tIns="70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4"/>
          <p:cNvSpPr txBox="1"/>
          <p:nvPr>
            <p:ph idx="7" type="title"/>
          </p:nvPr>
        </p:nvSpPr>
        <p:spPr>
          <a:xfrm>
            <a:off x="3057175" y="1189489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65" name="Google Shape;365;p34"/>
          <p:cNvSpPr txBox="1"/>
          <p:nvPr>
            <p:ph idx="14" type="title"/>
          </p:nvPr>
        </p:nvSpPr>
        <p:spPr>
          <a:xfrm>
            <a:off x="6537800" y="1189501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66" name="Google Shape;366;p34"/>
          <p:cNvSpPr txBox="1"/>
          <p:nvPr>
            <p:ph idx="18" type="subTitle"/>
          </p:nvPr>
        </p:nvSpPr>
        <p:spPr>
          <a:xfrm>
            <a:off x="5551850" y="2797248"/>
            <a:ext cx="2706600" cy="102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 - Conversion Rate</a:t>
            </a:r>
            <a:endParaRPr/>
          </a:p>
        </p:txBody>
      </p:sp>
      <p:sp>
        <p:nvSpPr>
          <p:cNvPr id="367" name="Google Shape;367;p34"/>
          <p:cNvSpPr txBox="1"/>
          <p:nvPr>
            <p:ph idx="18" type="subTitle"/>
          </p:nvPr>
        </p:nvSpPr>
        <p:spPr>
          <a:xfrm>
            <a:off x="2273950" y="3020900"/>
            <a:ext cx="2706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5"/>
          <p:cNvSpPr txBox="1"/>
          <p:nvPr>
            <p:ph type="title"/>
          </p:nvPr>
        </p:nvSpPr>
        <p:spPr>
          <a:xfrm>
            <a:off x="713225" y="2384250"/>
            <a:ext cx="68634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Basic Statistics</a:t>
            </a:r>
            <a:endParaRPr sz="3000"/>
          </a:p>
        </p:txBody>
      </p:sp>
      <p:sp>
        <p:nvSpPr>
          <p:cNvPr id="373" name="Google Shape;373;p35"/>
          <p:cNvSpPr txBox="1"/>
          <p:nvPr>
            <p:ph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74" name="Google Shape;374;p35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375" name="Google Shape;375;p35"/>
            <p:cNvSpPr/>
            <p:nvPr/>
          </p:nvSpPr>
          <p:spPr>
            <a:xfrm>
              <a:off x="7074911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5"/>
            <p:cNvSpPr/>
            <p:nvPr/>
          </p:nvSpPr>
          <p:spPr>
            <a:xfrm>
              <a:off x="7026089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5"/>
            <p:cNvSpPr/>
            <p:nvPr/>
          </p:nvSpPr>
          <p:spPr>
            <a:xfrm>
              <a:off x="6606684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5"/>
            <p:cNvSpPr/>
            <p:nvPr/>
          </p:nvSpPr>
          <p:spPr>
            <a:xfrm>
              <a:off x="6138958" y="13708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5"/>
            <p:cNvSpPr/>
            <p:nvPr/>
          </p:nvSpPr>
          <p:spPr>
            <a:xfrm>
              <a:off x="5732458" y="8745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5"/>
            <p:cNvSpPr/>
            <p:nvPr/>
          </p:nvSpPr>
          <p:spPr>
            <a:xfrm>
              <a:off x="7480889" y="98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5"/>
            <p:cNvSpPr/>
            <p:nvPr/>
          </p:nvSpPr>
          <p:spPr>
            <a:xfrm>
              <a:off x="7074904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5"/>
            <p:cNvSpPr/>
            <p:nvPr/>
          </p:nvSpPr>
          <p:spPr>
            <a:xfrm>
              <a:off x="7962441" y="14040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5"/>
            <p:cNvSpPr/>
            <p:nvPr/>
          </p:nvSpPr>
          <p:spPr>
            <a:xfrm flipH="1" rot="10800000">
              <a:off x="6036087" y="3124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5"/>
            <p:cNvSpPr/>
            <p:nvPr/>
          </p:nvSpPr>
          <p:spPr>
            <a:xfrm flipH="1" rot="10800000">
              <a:off x="6355205" y="41020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5"/>
            <p:cNvSpPr/>
            <p:nvPr/>
          </p:nvSpPr>
          <p:spPr>
            <a:xfrm flipH="1" rot="10800000">
              <a:off x="5732459" y="48790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5"/>
            <p:cNvSpPr/>
            <p:nvPr/>
          </p:nvSpPr>
          <p:spPr>
            <a:xfrm flipH="1" rot="10800000">
              <a:off x="6683197" y="35154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5"/>
            <p:cNvSpPr/>
            <p:nvPr/>
          </p:nvSpPr>
          <p:spPr>
            <a:xfrm flipH="1" rot="10800000">
              <a:off x="5104880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5"/>
            <p:cNvSpPr/>
            <p:nvPr/>
          </p:nvSpPr>
          <p:spPr>
            <a:xfrm>
              <a:off x="8484758" y="243811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5"/>
            <p:cNvSpPr/>
            <p:nvPr/>
          </p:nvSpPr>
          <p:spPr>
            <a:xfrm>
              <a:off x="8038260" y="29212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5"/>
            <p:cNvSpPr/>
            <p:nvPr/>
          </p:nvSpPr>
          <p:spPr>
            <a:xfrm flipH="1" rot="10800000">
              <a:off x="7853362" y="396220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5"/>
            <p:cNvSpPr/>
            <p:nvPr/>
          </p:nvSpPr>
          <p:spPr>
            <a:xfrm flipH="1" rot="10800000">
              <a:off x="8261505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92" name="Google Shape;392;p35"/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Descriptive Statistics</a:t>
            </a:r>
            <a:endParaRPr sz="3100"/>
          </a:p>
        </p:txBody>
      </p:sp>
      <p:sp>
        <p:nvSpPr>
          <p:cNvPr id="398" name="Google Shape;398;p36"/>
          <p:cNvSpPr txBox="1"/>
          <p:nvPr/>
        </p:nvSpPr>
        <p:spPr>
          <a:xfrm>
            <a:off x="842725" y="1266975"/>
            <a:ext cx="6941700" cy="3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1D35"/>
              </a:buClr>
              <a:buSzPts val="1800"/>
              <a:buFont typeface="Roboto"/>
              <a:buChar char="●"/>
            </a:pPr>
            <a:r>
              <a:rPr b="1" lang="en" sz="20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Measures of Central Tendency</a:t>
            </a:r>
            <a:r>
              <a:rPr lang="en" sz="20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Describe the typical value in a dataset.</a:t>
            </a:r>
            <a:r>
              <a:rPr lang="en" sz="18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Mean</a:t>
            </a:r>
            <a:r>
              <a:rPr lang="en" sz="18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The average of a dataset. </a:t>
            </a:r>
            <a:endParaRPr sz="1800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Median</a:t>
            </a:r>
            <a:r>
              <a:rPr lang="en" sz="18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The middle value when data is ordered. </a:t>
            </a:r>
            <a:endParaRPr sz="1800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Mode</a:t>
            </a:r>
            <a:r>
              <a:rPr lang="en" sz="18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The most frequent value in a dataset. </a:t>
            </a:r>
            <a:endParaRPr sz="1800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8525" y="842963"/>
            <a:ext cx="6981825" cy="34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Descriptive Statistics</a:t>
            </a:r>
            <a:endParaRPr sz="3100"/>
          </a:p>
        </p:txBody>
      </p:sp>
      <p:sp>
        <p:nvSpPr>
          <p:cNvPr id="409" name="Google Shape;409;p38"/>
          <p:cNvSpPr txBox="1"/>
          <p:nvPr/>
        </p:nvSpPr>
        <p:spPr>
          <a:xfrm>
            <a:off x="842725" y="1266975"/>
            <a:ext cx="7253100" cy="3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1D35"/>
              </a:buClr>
              <a:buSzPts val="2000"/>
              <a:buFont typeface="Roboto"/>
              <a:buChar char="●"/>
            </a:pPr>
            <a:r>
              <a:rPr b="1" lang="en" sz="20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Measures of Dispersion</a:t>
            </a:r>
            <a:r>
              <a:rPr lang="en" sz="20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Explain how spread out a dataset is. </a:t>
            </a:r>
            <a:endParaRPr sz="2000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2000"/>
              <a:buFont typeface="Roboto"/>
              <a:buChar char="●"/>
            </a:pPr>
            <a:r>
              <a:rPr b="1" lang="en" sz="20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Range</a:t>
            </a:r>
            <a:r>
              <a:rPr lang="en" sz="20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The difference between the maximum and minimum values. </a:t>
            </a:r>
            <a:endParaRPr sz="2000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2000"/>
              <a:buFont typeface="Roboto"/>
              <a:buChar char="●"/>
            </a:pPr>
            <a:r>
              <a:rPr b="1" lang="en" sz="20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Standard Deviation</a:t>
            </a:r>
            <a:r>
              <a:rPr lang="en" sz="20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Measures the average distance of each data point from the mean. </a:t>
            </a:r>
            <a:endParaRPr sz="2000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788" y="959176"/>
            <a:ext cx="5888424" cy="322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0"/>
          <p:cNvSpPr txBox="1"/>
          <p:nvPr>
            <p:ph type="title"/>
          </p:nvPr>
        </p:nvSpPr>
        <p:spPr>
          <a:xfrm>
            <a:off x="713225" y="2384250"/>
            <a:ext cx="68634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Exploratory Data Analysis (EDA)</a:t>
            </a:r>
            <a:endParaRPr sz="3000"/>
          </a:p>
        </p:txBody>
      </p:sp>
      <p:sp>
        <p:nvSpPr>
          <p:cNvPr id="420" name="Google Shape;420;p40"/>
          <p:cNvSpPr txBox="1"/>
          <p:nvPr>
            <p:ph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421" name="Google Shape;421;p40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422" name="Google Shape;422;p40"/>
            <p:cNvSpPr/>
            <p:nvPr/>
          </p:nvSpPr>
          <p:spPr>
            <a:xfrm>
              <a:off x="7074911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0"/>
            <p:cNvSpPr/>
            <p:nvPr/>
          </p:nvSpPr>
          <p:spPr>
            <a:xfrm>
              <a:off x="7026089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0"/>
            <p:cNvSpPr/>
            <p:nvPr/>
          </p:nvSpPr>
          <p:spPr>
            <a:xfrm>
              <a:off x="6606684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0"/>
            <p:cNvSpPr/>
            <p:nvPr/>
          </p:nvSpPr>
          <p:spPr>
            <a:xfrm>
              <a:off x="6138958" y="13708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0"/>
            <p:cNvSpPr/>
            <p:nvPr/>
          </p:nvSpPr>
          <p:spPr>
            <a:xfrm>
              <a:off x="5732458" y="8745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0"/>
            <p:cNvSpPr/>
            <p:nvPr/>
          </p:nvSpPr>
          <p:spPr>
            <a:xfrm>
              <a:off x="7480889" y="98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0"/>
            <p:cNvSpPr/>
            <p:nvPr/>
          </p:nvSpPr>
          <p:spPr>
            <a:xfrm>
              <a:off x="7074904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0"/>
            <p:cNvSpPr/>
            <p:nvPr/>
          </p:nvSpPr>
          <p:spPr>
            <a:xfrm>
              <a:off x="7962441" y="14040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0"/>
            <p:cNvSpPr/>
            <p:nvPr/>
          </p:nvSpPr>
          <p:spPr>
            <a:xfrm flipH="1" rot="10800000">
              <a:off x="6036087" y="3124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0"/>
            <p:cNvSpPr/>
            <p:nvPr/>
          </p:nvSpPr>
          <p:spPr>
            <a:xfrm flipH="1" rot="10800000">
              <a:off x="6355205" y="41020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0"/>
            <p:cNvSpPr/>
            <p:nvPr/>
          </p:nvSpPr>
          <p:spPr>
            <a:xfrm flipH="1" rot="10800000">
              <a:off x="5732459" y="48790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0"/>
            <p:cNvSpPr/>
            <p:nvPr/>
          </p:nvSpPr>
          <p:spPr>
            <a:xfrm flipH="1" rot="10800000">
              <a:off x="6683197" y="35154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0"/>
            <p:cNvSpPr/>
            <p:nvPr/>
          </p:nvSpPr>
          <p:spPr>
            <a:xfrm flipH="1" rot="10800000">
              <a:off x="5104880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0"/>
            <p:cNvSpPr/>
            <p:nvPr/>
          </p:nvSpPr>
          <p:spPr>
            <a:xfrm>
              <a:off x="8484758" y="243811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0"/>
            <p:cNvSpPr/>
            <p:nvPr/>
          </p:nvSpPr>
          <p:spPr>
            <a:xfrm>
              <a:off x="8038260" y="29212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40"/>
            <p:cNvSpPr/>
            <p:nvPr/>
          </p:nvSpPr>
          <p:spPr>
            <a:xfrm flipH="1" rot="10800000">
              <a:off x="7853362" y="396220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40"/>
            <p:cNvSpPr/>
            <p:nvPr/>
          </p:nvSpPr>
          <p:spPr>
            <a:xfrm flipH="1" rot="10800000">
              <a:off x="8261505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39" name="Google Shape;439;p40"/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1"/>
          <p:cNvSpPr txBox="1"/>
          <p:nvPr>
            <p:ph type="title"/>
          </p:nvPr>
        </p:nvSpPr>
        <p:spPr>
          <a:xfrm>
            <a:off x="727650" y="353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Optimizing Conversion Rate</a:t>
            </a:r>
            <a:endParaRPr/>
          </a:p>
        </p:txBody>
      </p:sp>
      <p:pic>
        <p:nvPicPr>
          <p:cNvPr id="445" name="Google Shape;44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8750" y="1743775"/>
            <a:ext cx="2496825" cy="24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1"/>
          <p:cNvSpPr txBox="1"/>
          <p:nvPr/>
        </p:nvSpPr>
        <p:spPr>
          <a:xfrm>
            <a:off x="592250" y="1290375"/>
            <a:ext cx="5626500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There is a lot of data on users that visit different websites: companies find out whether they converted or not(such as buying a product) as well as some of their characteristics such as their country, the marketing channel, their age, whether they are repeat users and the number of pages visited during that session 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Optimizing conversion </a:t>
            </a: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rates</a:t>
            </a: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is used to</a:t>
            </a: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endParaRPr b="1"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Analyze historical data to identify patterns;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Recommend changes for the product team and the marketing team to improve conversion rate.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Rate Dataset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2" name="Google Shape;45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5200" y="1693200"/>
            <a:ext cx="6153150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