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Lato"/>
      <p:regular r:id="rId16"/>
      <p:bold r:id="rId17"/>
      <p:italic r:id="rId18"/>
      <p:boldItalic r:id="rId19"/>
    </p:embeddedFont>
    <p:embeddedFont>
      <p:font typeface="Outfit"/>
      <p:regular r:id="rId20"/>
      <p:bold r:id="rId21"/>
    </p:embeddedFont>
    <p:embeddedFont>
      <p:font typeface="Outfit Medium"/>
      <p:regular r:id="rId22"/>
      <p:bold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-regular.fntdata"/><Relationship Id="rId22" Type="http://schemas.openxmlformats.org/officeDocument/2006/relationships/font" Target="fonts/OutfitMedium-regular.fntdata"/><Relationship Id="rId21" Type="http://schemas.openxmlformats.org/officeDocument/2006/relationships/font" Target="fonts/Outfit-bold.fntdata"/><Relationship Id="rId24" Type="http://schemas.openxmlformats.org/officeDocument/2006/relationships/font" Target="fonts/DMSans-regular.fntdata"/><Relationship Id="rId23" Type="http://schemas.openxmlformats.org/officeDocument/2006/relationships/font" Target="fonts/OutfitMedium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7" Type="http://schemas.openxmlformats.org/officeDocument/2006/relationships/font" Target="fonts/DM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19" Type="http://schemas.openxmlformats.org/officeDocument/2006/relationships/font" Target="fonts/Lato-boldItalic.fntdata"/><Relationship Id="rId18" Type="http://schemas.openxmlformats.org/officeDocument/2006/relationships/font" Target="fonts/La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025a14886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025a14886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025a148861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025a148861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f8f6ab086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f8f6ab086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8f6ab086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8f6ab086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f8f6ab086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f8f6ab086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f8f6ab086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2f8f6ab086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f8f6ab086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2f8f6ab086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6ab086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2f8f6ab086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713225" y="2384250"/>
            <a:ext cx="43443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713225" y="3300150"/>
            <a:ext cx="4344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7" name="Google Shape;17;p4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4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5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9" name="Google Shape;29;p5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5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5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5055284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5"/>
          <p:cNvSpPr txBox="1"/>
          <p:nvPr>
            <p:ph idx="2" type="subTitle"/>
          </p:nvPr>
        </p:nvSpPr>
        <p:spPr>
          <a:xfrm>
            <a:off x="1583300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5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6"/>
          <p:cNvGrpSpPr/>
          <p:nvPr/>
        </p:nvGrpSpPr>
        <p:grpSpPr>
          <a:xfrm>
            <a:off x="-247298" y="-284290"/>
            <a:ext cx="9638600" cy="5868163"/>
            <a:chOff x="-247298" y="-284290"/>
            <a:chExt cx="9638600" cy="5868163"/>
          </a:xfrm>
        </p:grpSpPr>
        <p:sp>
          <p:nvSpPr>
            <p:cNvPr id="44" name="Google Shape;44;p6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flipH="1" rot="10800000">
              <a:off x="-125473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 flipH="1" rot="10800000">
              <a:off x="-125483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 flipH="1" rot="10800000">
              <a:off x="8424002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 flipH="1" rot="10800000">
              <a:off x="8423992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292275" y="1663850"/>
            <a:ext cx="4138500" cy="18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3862975" y="1655500"/>
            <a:ext cx="45678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3862975" y="2816925"/>
            <a:ext cx="45678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"/>
          <p:cNvSpPr txBox="1"/>
          <p:nvPr>
            <p:ph type="title"/>
          </p:nvPr>
        </p:nvSpPr>
        <p:spPr>
          <a:xfrm>
            <a:off x="720000" y="3942625"/>
            <a:ext cx="7704000" cy="644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hasCustomPrompt="1" type="title"/>
          </p:nvPr>
        </p:nvSpPr>
        <p:spPr>
          <a:xfrm>
            <a:off x="713225" y="1774100"/>
            <a:ext cx="4676100" cy="10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6" name="Google Shape;66;p11"/>
          <p:cNvSpPr txBox="1"/>
          <p:nvPr>
            <p:ph idx="1" type="subTitle"/>
          </p:nvPr>
        </p:nvSpPr>
        <p:spPr>
          <a:xfrm>
            <a:off x="713225" y="2872275"/>
            <a:ext cx="46761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70" name="Google Shape;70;p13"/>
            <p:cNvSpPr/>
            <p:nvPr/>
          </p:nvSpPr>
          <p:spPr>
            <a:xfrm>
              <a:off x="421002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884277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8430764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8430764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-125486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-125486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-417711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872296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" type="subTitle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2" type="subTitle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3" type="subTitle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4" type="subTitle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5" type="subTitle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6" type="subTitle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hasCustomPrompt="1" idx="7" type="title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hasCustomPrompt="1" idx="8" type="title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/>
          <p:nvPr>
            <p:ph hasCustomPrompt="1" idx="9" type="title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/>
          <p:nvPr>
            <p:ph hasCustomPrompt="1" idx="13" type="title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/>
          <p:nvPr>
            <p:ph hasCustomPrompt="1" idx="14" type="title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/>
          <p:nvPr>
            <p:ph hasCustomPrompt="1" idx="15" type="title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/>
          <p:nvPr>
            <p:ph idx="16" type="subTitle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2" name="Google Shape;92;p13"/>
          <p:cNvSpPr txBox="1"/>
          <p:nvPr>
            <p:ph idx="17" type="subTitle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3" name="Google Shape;93;p13"/>
          <p:cNvSpPr txBox="1"/>
          <p:nvPr>
            <p:ph idx="18" type="subTitle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9" type="subTitle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20" type="subTitle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21" type="subTitle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99" name="Google Shape;99;p14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4"/>
          <p:cNvSpPr txBox="1"/>
          <p:nvPr>
            <p:ph type="title"/>
          </p:nvPr>
        </p:nvSpPr>
        <p:spPr>
          <a:xfrm>
            <a:off x="1226425" y="3229500"/>
            <a:ext cx="66912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1226413" y="1366200"/>
            <a:ext cx="6691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5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11" name="Google Shape;111;p15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6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122" name="Google Shape;122;p16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7"/>
          <p:cNvGrpSpPr/>
          <p:nvPr/>
        </p:nvGrpSpPr>
        <p:grpSpPr>
          <a:xfrm>
            <a:off x="-548808" y="-584898"/>
            <a:ext cx="10241610" cy="6168779"/>
            <a:chOff x="-548808" y="-584898"/>
            <a:chExt cx="10241610" cy="6168779"/>
          </a:xfrm>
        </p:grpSpPr>
        <p:sp>
          <p:nvSpPr>
            <p:cNvPr id="133" name="Google Shape;133;p17"/>
            <p:cNvSpPr/>
            <p:nvPr/>
          </p:nvSpPr>
          <p:spPr>
            <a:xfrm>
              <a:off x="293877" y="46157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 flipH="1" rot="10800000">
              <a:off x="-129123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 flipH="1" rot="10800000">
              <a:off x="-548808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1851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44" name="Google Shape;144;p18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145" name="Google Shape;145;p18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146" name="Google Shape;146;p18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8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8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8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8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8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8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" name="Google Shape;153;p18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9"/>
          <p:cNvGrpSpPr/>
          <p:nvPr/>
        </p:nvGrpSpPr>
        <p:grpSpPr>
          <a:xfrm>
            <a:off x="-145083" y="-503840"/>
            <a:ext cx="9434170" cy="6151188"/>
            <a:chOff x="-145083" y="-503840"/>
            <a:chExt cx="9434170" cy="6151188"/>
          </a:xfrm>
        </p:grpSpPr>
        <p:sp>
          <p:nvSpPr>
            <p:cNvPr id="156" name="Google Shape;156;p19"/>
            <p:cNvSpPr/>
            <p:nvPr/>
          </p:nvSpPr>
          <p:spPr>
            <a:xfrm flipH="1" rot="10800000">
              <a:off x="534577" y="46792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-145073" y="392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-145083" y="44198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9"/>
            <p:cNvSpPr/>
            <p:nvPr/>
          </p:nvSpPr>
          <p:spPr>
            <a:xfrm flipH="1">
              <a:off x="8430777" y="46443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9"/>
            <p:cNvSpPr/>
            <p:nvPr/>
          </p:nvSpPr>
          <p:spPr>
            <a:xfrm flipH="1" rot="10800000">
              <a:off x="-125483" y="-4286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9"/>
            <p:cNvSpPr/>
            <p:nvPr/>
          </p:nvSpPr>
          <p:spPr>
            <a:xfrm flipH="1">
              <a:off x="7770717" y="-5038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 rot="10800000">
              <a:off x="8450367" y="2513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9"/>
            <p:cNvSpPr/>
            <p:nvPr/>
          </p:nvSpPr>
          <p:spPr>
            <a:xfrm rot="10800000">
              <a:off x="8450377" y="-2444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19"/>
          <p:cNvSpPr txBox="1"/>
          <p:nvPr>
            <p:ph type="title"/>
          </p:nvPr>
        </p:nvSpPr>
        <p:spPr>
          <a:xfrm>
            <a:off x="720000" y="1270313"/>
            <a:ext cx="3777300" cy="17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5" name="Google Shape;165;p19"/>
          <p:cNvSpPr txBox="1"/>
          <p:nvPr>
            <p:ph idx="1" type="subTitle"/>
          </p:nvPr>
        </p:nvSpPr>
        <p:spPr>
          <a:xfrm>
            <a:off x="720000" y="2979813"/>
            <a:ext cx="3777300" cy="8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9"/>
          <p:cNvSpPr/>
          <p:nvPr>
            <p:ph idx="2" type="pic"/>
          </p:nvPr>
        </p:nvSpPr>
        <p:spPr>
          <a:xfrm>
            <a:off x="5121925" y="1060325"/>
            <a:ext cx="3109200" cy="3109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0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69" name="Google Shape;169;p20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0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0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0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0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0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20"/>
          <p:cNvSpPr txBox="1"/>
          <p:nvPr>
            <p:ph type="title"/>
          </p:nvPr>
        </p:nvSpPr>
        <p:spPr>
          <a:xfrm>
            <a:off x="720000" y="1637550"/>
            <a:ext cx="35979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1" type="subTitle"/>
          </p:nvPr>
        </p:nvSpPr>
        <p:spPr>
          <a:xfrm>
            <a:off x="720000" y="2700750"/>
            <a:ext cx="35979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21"/>
          <p:cNvGrpSpPr/>
          <p:nvPr/>
        </p:nvGrpSpPr>
        <p:grpSpPr>
          <a:xfrm flipH="1"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81" name="Google Shape;181;p21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1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1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1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1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1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1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" name="Google Shape;189;p21"/>
          <p:cNvSpPr txBox="1"/>
          <p:nvPr>
            <p:ph type="title"/>
          </p:nvPr>
        </p:nvSpPr>
        <p:spPr>
          <a:xfrm>
            <a:off x="4837200" y="1796350"/>
            <a:ext cx="35934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4837375" y="2441150"/>
            <a:ext cx="3593400" cy="90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2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93" name="Google Shape;193;p22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2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2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2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2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2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2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2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" name="Google Shape;20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2" name="Google Shape;202;p22"/>
          <p:cNvSpPr txBox="1"/>
          <p:nvPr>
            <p:ph idx="1" type="body"/>
          </p:nvPr>
        </p:nvSpPr>
        <p:spPr>
          <a:xfrm>
            <a:off x="720000" y="1215742"/>
            <a:ext cx="7704000" cy="10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3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205" name="Google Shape;205;p23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3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3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3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3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3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3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3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4" name="Google Shape;214;p23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4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217" name="Google Shape;217;p24"/>
            <p:cNvSpPr/>
            <p:nvPr/>
          </p:nvSpPr>
          <p:spPr>
            <a:xfrm flipH="1" rot="10800000">
              <a:off x="927364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 flipH="1" rot="10800000">
              <a:off x="273054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-310473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-125483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4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" name="Google Shape;225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1" type="subTitle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4"/>
          <p:cNvSpPr txBox="1"/>
          <p:nvPr>
            <p:ph idx="2" type="subTitle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4"/>
          <p:cNvSpPr txBox="1"/>
          <p:nvPr>
            <p:ph idx="3" type="subTitle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24"/>
          <p:cNvSpPr txBox="1"/>
          <p:nvPr>
            <p:ph idx="4" type="subTitle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5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232" name="Google Shape;232;p25"/>
            <p:cNvSpPr/>
            <p:nvPr/>
          </p:nvSpPr>
          <p:spPr>
            <a:xfrm flipH="1" rot="10800000">
              <a:off x="-136836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83414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 flipH="1" rot="10800000">
              <a:off x="-655296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0" name="Google Shape;240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1" name="Google Shape;241;p25"/>
          <p:cNvSpPr txBox="1"/>
          <p:nvPr>
            <p:ph idx="1" type="subTitle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5"/>
          <p:cNvSpPr txBox="1"/>
          <p:nvPr>
            <p:ph idx="2" type="subTitle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6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245" name="Google Shape;245;p26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-124136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 flipH="1" rot="10800000">
              <a:off x="-512036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 flipH="1" rot="10800000">
              <a:off x="295217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-124133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27"/>
          <p:cNvGrpSpPr/>
          <p:nvPr/>
        </p:nvGrpSpPr>
        <p:grpSpPr>
          <a:xfrm>
            <a:off x="-519458" y="2674710"/>
            <a:ext cx="10224210" cy="2744938"/>
            <a:chOff x="-519458" y="2674710"/>
            <a:chExt cx="10224210" cy="2744938"/>
          </a:xfrm>
        </p:grpSpPr>
        <p:sp>
          <p:nvSpPr>
            <p:cNvPr id="262" name="Google Shape;262;p27"/>
            <p:cNvSpPr/>
            <p:nvPr/>
          </p:nvSpPr>
          <p:spPr>
            <a:xfrm flipH="1" rot="10800000">
              <a:off x="-118698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7"/>
            <p:cNvSpPr/>
            <p:nvPr/>
          </p:nvSpPr>
          <p:spPr>
            <a:xfrm flipH="1" rot="10800000">
              <a:off x="-519458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-519448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213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7"/>
            <p:cNvSpPr/>
            <p:nvPr/>
          </p:nvSpPr>
          <p:spPr>
            <a:xfrm rot="10800000">
              <a:off x="8465282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7"/>
            <p:cNvSpPr/>
            <p:nvPr/>
          </p:nvSpPr>
          <p:spPr>
            <a:xfrm rot="10800000">
              <a:off x="8866042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7"/>
            <p:cNvSpPr/>
            <p:nvPr/>
          </p:nvSpPr>
          <p:spPr>
            <a:xfrm flipH="1">
              <a:off x="8866032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7"/>
            <p:cNvSpPr/>
            <p:nvPr/>
          </p:nvSpPr>
          <p:spPr>
            <a:xfrm flipH="1">
              <a:off x="83251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" name="Google Shape;270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1" name="Google Shape;271;p27"/>
          <p:cNvSpPr txBox="1"/>
          <p:nvPr>
            <p:ph idx="1" type="subTitle"/>
          </p:nvPr>
        </p:nvSpPr>
        <p:spPr>
          <a:xfrm>
            <a:off x="1142950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27"/>
          <p:cNvSpPr txBox="1"/>
          <p:nvPr>
            <p:ph idx="2" type="subTitle"/>
          </p:nvPr>
        </p:nvSpPr>
        <p:spPr>
          <a:xfrm>
            <a:off x="4749341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27"/>
          <p:cNvSpPr txBox="1"/>
          <p:nvPr>
            <p:ph idx="3" type="subTitle"/>
          </p:nvPr>
        </p:nvSpPr>
        <p:spPr>
          <a:xfrm>
            <a:off x="1142950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27"/>
          <p:cNvSpPr txBox="1"/>
          <p:nvPr>
            <p:ph idx="4" type="subTitle"/>
          </p:nvPr>
        </p:nvSpPr>
        <p:spPr>
          <a:xfrm>
            <a:off x="4749341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1142962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subTitle"/>
          </p:nvPr>
        </p:nvSpPr>
        <p:spPr>
          <a:xfrm>
            <a:off x="1142962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subTitle"/>
          </p:nvPr>
        </p:nvSpPr>
        <p:spPr>
          <a:xfrm>
            <a:off x="4749338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4749338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8"/>
          <p:cNvGrpSpPr/>
          <p:nvPr/>
        </p:nvGrpSpPr>
        <p:grpSpPr>
          <a:xfrm>
            <a:off x="-266473" y="3341397"/>
            <a:ext cx="9676960" cy="2321921"/>
            <a:chOff x="-266473" y="3341397"/>
            <a:chExt cx="9676960" cy="2321921"/>
          </a:xfrm>
        </p:grpSpPr>
        <p:sp>
          <p:nvSpPr>
            <p:cNvPr id="281" name="Google Shape;281;p28"/>
            <p:cNvSpPr/>
            <p:nvPr/>
          </p:nvSpPr>
          <p:spPr>
            <a:xfrm flipH="1">
              <a:off x="744167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86361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8"/>
            <p:cNvSpPr/>
            <p:nvPr/>
          </p:nvSpPr>
          <p:spPr>
            <a:xfrm flipH="1" rot="10800000">
              <a:off x="-266473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8"/>
            <p:cNvSpPr/>
            <p:nvPr/>
          </p:nvSpPr>
          <p:spPr>
            <a:xfrm>
              <a:off x="15286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8"/>
            <p:cNvSpPr/>
            <p:nvPr/>
          </p:nvSpPr>
          <p:spPr>
            <a:xfrm flipH="1" rot="10800000">
              <a:off x="-151033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8"/>
            <p:cNvSpPr/>
            <p:nvPr/>
          </p:nvSpPr>
          <p:spPr>
            <a:xfrm rot="10800000">
              <a:off x="8571777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8"/>
            <p:cNvSpPr/>
            <p:nvPr/>
          </p:nvSpPr>
          <p:spPr>
            <a:xfrm flipH="1">
              <a:off x="815243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8"/>
            <p:cNvSpPr/>
            <p:nvPr/>
          </p:nvSpPr>
          <p:spPr>
            <a:xfrm rot="10800000">
              <a:off x="8456337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" name="Google Shape;28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968524" y="2235613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28"/>
          <p:cNvSpPr txBox="1"/>
          <p:nvPr>
            <p:ph idx="2" type="subTitle"/>
          </p:nvPr>
        </p:nvSpPr>
        <p:spPr>
          <a:xfrm>
            <a:off x="3439063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28"/>
          <p:cNvSpPr txBox="1"/>
          <p:nvPr>
            <p:ph idx="3" type="subTitle"/>
          </p:nvPr>
        </p:nvSpPr>
        <p:spPr>
          <a:xfrm>
            <a:off x="968524" y="3967325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4" type="subTitle"/>
          </p:nvPr>
        </p:nvSpPr>
        <p:spPr>
          <a:xfrm>
            <a:off x="3439063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5" type="subTitle"/>
          </p:nvPr>
        </p:nvSpPr>
        <p:spPr>
          <a:xfrm>
            <a:off x="5909375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>
            <p:ph idx="6" type="subTitle"/>
          </p:nvPr>
        </p:nvSpPr>
        <p:spPr>
          <a:xfrm>
            <a:off x="5909375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>
            <p:ph idx="7" type="subTitle"/>
          </p:nvPr>
        </p:nvSpPr>
        <p:spPr>
          <a:xfrm>
            <a:off x="968524" y="1890138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7" name="Google Shape;297;p28"/>
          <p:cNvSpPr txBox="1"/>
          <p:nvPr>
            <p:ph idx="8" type="subTitle"/>
          </p:nvPr>
        </p:nvSpPr>
        <p:spPr>
          <a:xfrm>
            <a:off x="3439063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8" name="Google Shape;298;p28"/>
          <p:cNvSpPr txBox="1"/>
          <p:nvPr>
            <p:ph idx="9" type="subTitle"/>
          </p:nvPr>
        </p:nvSpPr>
        <p:spPr>
          <a:xfrm>
            <a:off x="5909375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13" type="subTitle"/>
          </p:nvPr>
        </p:nvSpPr>
        <p:spPr>
          <a:xfrm>
            <a:off x="968524" y="3621825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14" type="subTitle"/>
          </p:nvPr>
        </p:nvSpPr>
        <p:spPr>
          <a:xfrm>
            <a:off x="3439063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1" name="Google Shape;301;p28"/>
          <p:cNvSpPr txBox="1"/>
          <p:nvPr>
            <p:ph idx="15" type="subTitle"/>
          </p:nvPr>
        </p:nvSpPr>
        <p:spPr>
          <a:xfrm>
            <a:off x="5909375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/>
          <p:nvPr>
            <p:ph hasCustomPrompt="1" type="title"/>
          </p:nvPr>
        </p:nvSpPr>
        <p:spPr>
          <a:xfrm>
            <a:off x="4351975" y="638350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4351975" y="1327275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hasCustomPrompt="1" idx="2" type="title"/>
          </p:nvPr>
        </p:nvSpPr>
        <p:spPr>
          <a:xfrm>
            <a:off x="4351975" y="1990612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4351975" y="267952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7" name="Google Shape;307;p29"/>
          <p:cNvSpPr txBox="1"/>
          <p:nvPr>
            <p:ph hasCustomPrompt="1" idx="4" type="title"/>
          </p:nvPr>
        </p:nvSpPr>
        <p:spPr>
          <a:xfrm>
            <a:off x="4351975" y="3342874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8" name="Google Shape;308;p29"/>
          <p:cNvSpPr txBox="1"/>
          <p:nvPr>
            <p:ph idx="5" type="subTitle"/>
          </p:nvPr>
        </p:nvSpPr>
        <p:spPr>
          <a:xfrm>
            <a:off x="4351975" y="403179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/>
          <p:nvPr>
            <p:ph type="title"/>
          </p:nvPr>
        </p:nvSpPr>
        <p:spPr>
          <a:xfrm>
            <a:off x="713225" y="677525"/>
            <a:ext cx="50946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1" name="Google Shape;311;p30"/>
          <p:cNvSpPr txBox="1"/>
          <p:nvPr>
            <p:ph idx="1" type="subTitle"/>
          </p:nvPr>
        </p:nvSpPr>
        <p:spPr>
          <a:xfrm>
            <a:off x="713225" y="1841450"/>
            <a:ext cx="50946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0"/>
          <p:cNvSpPr txBox="1"/>
          <p:nvPr/>
        </p:nvSpPr>
        <p:spPr>
          <a:xfrm>
            <a:off x="713225" y="3611950"/>
            <a:ext cx="5094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1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1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b="1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 txBox="1"/>
          <p:nvPr>
            <p:ph type="ctrTitle"/>
          </p:nvPr>
        </p:nvSpPr>
        <p:spPr>
          <a:xfrm>
            <a:off x="713225" y="1156000"/>
            <a:ext cx="4160700" cy="193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Data Science Club - Week 4</a:t>
            </a:r>
            <a:endParaRPr sz="4800"/>
          </a:p>
        </p:txBody>
      </p:sp>
      <p:sp>
        <p:nvSpPr>
          <p:cNvPr id="339" name="Google Shape;339;p33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Kevin and Vincent</a:t>
            </a:r>
            <a:endParaRPr/>
          </a:p>
        </p:txBody>
      </p:sp>
      <p:grpSp>
        <p:nvGrpSpPr>
          <p:cNvPr id="340" name="Google Shape;340;p33"/>
          <p:cNvGrpSpPr/>
          <p:nvPr/>
        </p:nvGrpSpPr>
        <p:grpSpPr>
          <a:xfrm>
            <a:off x="5115337" y="-428624"/>
            <a:ext cx="4275118" cy="6450405"/>
            <a:chOff x="5115337" y="-428624"/>
            <a:chExt cx="4275118" cy="6450405"/>
          </a:xfrm>
        </p:grpSpPr>
        <p:sp>
          <p:nvSpPr>
            <p:cNvPr id="341" name="Google Shape;341;p33"/>
            <p:cNvSpPr/>
            <p:nvPr/>
          </p:nvSpPr>
          <p:spPr>
            <a:xfrm flipH="1" rot="10800000">
              <a:off x="8492525" y="-1927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3"/>
            <p:cNvSpPr/>
            <p:nvPr/>
          </p:nvSpPr>
          <p:spPr>
            <a:xfrm>
              <a:off x="8551745" y="32678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3"/>
            <p:cNvSpPr/>
            <p:nvPr/>
          </p:nvSpPr>
          <p:spPr>
            <a:xfrm>
              <a:off x="6606686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3"/>
            <p:cNvSpPr/>
            <p:nvPr/>
          </p:nvSpPr>
          <p:spPr>
            <a:xfrm>
              <a:off x="7103477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3"/>
            <p:cNvSpPr/>
            <p:nvPr/>
          </p:nvSpPr>
          <p:spPr>
            <a:xfrm>
              <a:off x="6684072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3"/>
            <p:cNvSpPr/>
            <p:nvPr/>
          </p:nvSpPr>
          <p:spPr>
            <a:xfrm>
              <a:off x="6109895" y="11940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3"/>
            <p:cNvSpPr/>
            <p:nvPr/>
          </p:nvSpPr>
          <p:spPr>
            <a:xfrm>
              <a:off x="6109895" y="6977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3"/>
            <p:cNvSpPr/>
            <p:nvPr/>
          </p:nvSpPr>
          <p:spPr>
            <a:xfrm>
              <a:off x="7587339" y="1194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3"/>
            <p:cNvSpPr/>
            <p:nvPr/>
          </p:nvSpPr>
          <p:spPr>
            <a:xfrm>
              <a:off x="5634170" y="-42862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3"/>
            <p:cNvSpPr/>
            <p:nvPr/>
          </p:nvSpPr>
          <p:spPr>
            <a:xfrm>
              <a:off x="7017892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3"/>
            <p:cNvSpPr/>
            <p:nvPr/>
          </p:nvSpPr>
          <p:spPr>
            <a:xfrm>
              <a:off x="5193798" y="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3"/>
            <p:cNvSpPr/>
            <p:nvPr/>
          </p:nvSpPr>
          <p:spPr>
            <a:xfrm>
              <a:off x="8068891" y="16222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3"/>
            <p:cNvSpPr/>
            <p:nvPr/>
          </p:nvSpPr>
          <p:spPr>
            <a:xfrm flipH="1" rot="10800000">
              <a:off x="5115337" y="3655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3"/>
            <p:cNvSpPr/>
            <p:nvPr/>
          </p:nvSpPr>
          <p:spPr>
            <a:xfrm flipH="1" rot="10800000">
              <a:off x="6606680" y="39247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3"/>
            <p:cNvSpPr/>
            <p:nvPr/>
          </p:nvSpPr>
          <p:spPr>
            <a:xfrm flipH="1" rot="10800000">
              <a:off x="5983934" y="50536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3"/>
            <p:cNvSpPr/>
            <p:nvPr/>
          </p:nvSpPr>
          <p:spPr>
            <a:xfrm flipH="1" rot="10800000">
              <a:off x="7178797" y="35333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3"/>
            <p:cNvSpPr/>
            <p:nvPr/>
          </p:nvSpPr>
          <p:spPr>
            <a:xfrm flipH="1" rot="10800000">
              <a:off x="6606686" y="460940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3"/>
            <p:cNvSpPr/>
            <p:nvPr/>
          </p:nvSpPr>
          <p:spPr>
            <a:xfrm flipH="1" rot="10800000">
              <a:off x="5526543" y="41283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3"/>
            <p:cNvSpPr/>
            <p:nvPr/>
          </p:nvSpPr>
          <p:spPr>
            <a:xfrm>
              <a:off x="8117298" y="28522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3"/>
            <p:cNvSpPr/>
            <p:nvPr/>
          </p:nvSpPr>
          <p:spPr>
            <a:xfrm>
              <a:off x="8172542" y="3036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3</a:t>
            </a:r>
            <a:endParaRPr/>
          </a:p>
        </p:txBody>
      </p:sp>
      <p:sp>
        <p:nvSpPr>
          <p:cNvPr id="366" name="Google Shape;366;p34"/>
          <p:cNvSpPr txBox="1"/>
          <p:nvPr>
            <p:ph idx="7" type="title"/>
          </p:nvPr>
        </p:nvSpPr>
        <p:spPr>
          <a:xfrm>
            <a:off x="3057175" y="1189489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67" name="Google Shape;367;p34"/>
          <p:cNvSpPr txBox="1"/>
          <p:nvPr>
            <p:ph idx="14" type="title"/>
          </p:nvPr>
        </p:nvSpPr>
        <p:spPr>
          <a:xfrm>
            <a:off x="6537800" y="1189501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68" name="Google Shape;368;p34"/>
          <p:cNvSpPr txBox="1"/>
          <p:nvPr>
            <p:ph idx="18" type="subTitle"/>
          </p:nvPr>
        </p:nvSpPr>
        <p:spPr>
          <a:xfrm>
            <a:off x="2071225" y="1769723"/>
            <a:ext cx="2706600" cy="102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 - Conversion Rate</a:t>
            </a:r>
            <a:endParaRPr/>
          </a:p>
        </p:txBody>
      </p:sp>
      <p:sp>
        <p:nvSpPr>
          <p:cNvPr id="369" name="Google Shape;369;p34"/>
          <p:cNvSpPr txBox="1"/>
          <p:nvPr>
            <p:ph idx="18" type="subTitle"/>
          </p:nvPr>
        </p:nvSpPr>
        <p:spPr>
          <a:xfrm>
            <a:off x="5551850" y="1993375"/>
            <a:ext cx="2706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Regression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5"/>
          <p:cNvSpPr txBox="1"/>
          <p:nvPr>
            <p:ph type="title"/>
          </p:nvPr>
        </p:nvSpPr>
        <p:spPr>
          <a:xfrm>
            <a:off x="713225" y="2384250"/>
            <a:ext cx="68634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Conversion Rate</a:t>
            </a:r>
            <a:endParaRPr sz="3000"/>
          </a:p>
        </p:txBody>
      </p:sp>
      <p:sp>
        <p:nvSpPr>
          <p:cNvPr id="375" name="Google Shape;375;p35"/>
          <p:cNvSpPr txBox="1"/>
          <p:nvPr>
            <p:ph idx="2" type="title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376" name="Google Shape;376;p35"/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377" name="Google Shape;377;p35"/>
            <p:cNvSpPr/>
            <p:nvPr/>
          </p:nvSpPr>
          <p:spPr>
            <a:xfrm>
              <a:off x="7074911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5"/>
            <p:cNvSpPr/>
            <p:nvPr/>
          </p:nvSpPr>
          <p:spPr>
            <a:xfrm>
              <a:off x="7026089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5"/>
            <p:cNvSpPr/>
            <p:nvPr/>
          </p:nvSpPr>
          <p:spPr>
            <a:xfrm>
              <a:off x="6606684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5"/>
            <p:cNvSpPr/>
            <p:nvPr/>
          </p:nvSpPr>
          <p:spPr>
            <a:xfrm>
              <a:off x="6138958" y="13708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5"/>
            <p:cNvSpPr/>
            <p:nvPr/>
          </p:nvSpPr>
          <p:spPr>
            <a:xfrm>
              <a:off x="5732458" y="8745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5"/>
            <p:cNvSpPr/>
            <p:nvPr/>
          </p:nvSpPr>
          <p:spPr>
            <a:xfrm>
              <a:off x="7480889" y="98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5"/>
            <p:cNvSpPr/>
            <p:nvPr/>
          </p:nvSpPr>
          <p:spPr>
            <a:xfrm>
              <a:off x="7074904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5"/>
            <p:cNvSpPr/>
            <p:nvPr/>
          </p:nvSpPr>
          <p:spPr>
            <a:xfrm>
              <a:off x="7962441" y="14040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5"/>
            <p:cNvSpPr/>
            <p:nvPr/>
          </p:nvSpPr>
          <p:spPr>
            <a:xfrm flipH="1" rot="10800000">
              <a:off x="6036087" y="3124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5"/>
            <p:cNvSpPr/>
            <p:nvPr/>
          </p:nvSpPr>
          <p:spPr>
            <a:xfrm flipH="1" rot="10800000">
              <a:off x="6355205" y="41020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5"/>
            <p:cNvSpPr/>
            <p:nvPr/>
          </p:nvSpPr>
          <p:spPr>
            <a:xfrm flipH="1" rot="10800000">
              <a:off x="5732459" y="48790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5"/>
            <p:cNvSpPr/>
            <p:nvPr/>
          </p:nvSpPr>
          <p:spPr>
            <a:xfrm flipH="1" rot="10800000">
              <a:off x="6683197" y="35154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5"/>
            <p:cNvSpPr/>
            <p:nvPr/>
          </p:nvSpPr>
          <p:spPr>
            <a:xfrm flipH="1" rot="10800000">
              <a:off x="5104880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5"/>
            <p:cNvSpPr/>
            <p:nvPr/>
          </p:nvSpPr>
          <p:spPr>
            <a:xfrm>
              <a:off x="8484758" y="243811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5"/>
            <p:cNvSpPr/>
            <p:nvPr/>
          </p:nvSpPr>
          <p:spPr>
            <a:xfrm>
              <a:off x="8038260" y="29212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5"/>
            <p:cNvSpPr/>
            <p:nvPr/>
          </p:nvSpPr>
          <p:spPr>
            <a:xfrm flipH="1" rot="10800000">
              <a:off x="7853362" y="396220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5"/>
            <p:cNvSpPr/>
            <p:nvPr/>
          </p:nvSpPr>
          <p:spPr>
            <a:xfrm flipH="1" rot="10800000">
              <a:off x="8261505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94" name="Google Shape;394;p35"/>
          <p:cNvCxnSpPr/>
          <p:nvPr/>
        </p:nvCxnSpPr>
        <p:spPr>
          <a:xfrm>
            <a:off x="841250" y="1385850"/>
            <a:ext cx="37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727650" y="353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Optimizing Conversion Rate</a:t>
            </a:r>
            <a:endParaRPr/>
          </a:p>
        </p:txBody>
      </p:sp>
      <p:pic>
        <p:nvPicPr>
          <p:cNvPr id="400" name="Google Shape;40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8750" y="1743775"/>
            <a:ext cx="2496825" cy="24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6"/>
          <p:cNvSpPr txBox="1"/>
          <p:nvPr/>
        </p:nvSpPr>
        <p:spPr>
          <a:xfrm>
            <a:off x="592250" y="1290375"/>
            <a:ext cx="5626500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There is a lot of data on users that visit different websites: companies find out whether they converted or not(such as buying a product) as well as some of their characteristics such as their country, the marketing channel, their age, whether they are repeat users and the number of pages visited during that session 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Optimizing conversion </a:t>
            </a:r>
            <a:r>
              <a:rPr b="1"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rates</a:t>
            </a:r>
            <a:r>
              <a:rPr b="1"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is used to</a:t>
            </a:r>
            <a:r>
              <a:rPr b="1"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endParaRPr b="1"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Analyze historical data to identify patterns;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Recommend changes for the product team and the marketing team to improve conversion rate.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Conversion Rate Dataset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7" name="Google Shape;40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5200" y="1693200"/>
            <a:ext cx="6153150" cy="23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8"/>
          <p:cNvSpPr txBox="1"/>
          <p:nvPr>
            <p:ph type="title"/>
          </p:nvPr>
        </p:nvSpPr>
        <p:spPr>
          <a:xfrm>
            <a:off x="713225" y="2384250"/>
            <a:ext cx="68634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Linear Regression</a:t>
            </a:r>
            <a:endParaRPr sz="3000"/>
          </a:p>
        </p:txBody>
      </p:sp>
      <p:sp>
        <p:nvSpPr>
          <p:cNvPr id="413" name="Google Shape;413;p38"/>
          <p:cNvSpPr txBox="1"/>
          <p:nvPr>
            <p:ph idx="2" type="title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414" name="Google Shape;414;p38"/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415" name="Google Shape;415;p38"/>
            <p:cNvSpPr/>
            <p:nvPr/>
          </p:nvSpPr>
          <p:spPr>
            <a:xfrm>
              <a:off x="7074911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8"/>
            <p:cNvSpPr/>
            <p:nvPr/>
          </p:nvSpPr>
          <p:spPr>
            <a:xfrm>
              <a:off x="7026089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8"/>
            <p:cNvSpPr/>
            <p:nvPr/>
          </p:nvSpPr>
          <p:spPr>
            <a:xfrm>
              <a:off x="6606684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8"/>
            <p:cNvSpPr/>
            <p:nvPr/>
          </p:nvSpPr>
          <p:spPr>
            <a:xfrm>
              <a:off x="6138958" y="13708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8"/>
            <p:cNvSpPr/>
            <p:nvPr/>
          </p:nvSpPr>
          <p:spPr>
            <a:xfrm>
              <a:off x="5732458" y="8745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8"/>
            <p:cNvSpPr/>
            <p:nvPr/>
          </p:nvSpPr>
          <p:spPr>
            <a:xfrm>
              <a:off x="7480889" y="98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8"/>
            <p:cNvSpPr/>
            <p:nvPr/>
          </p:nvSpPr>
          <p:spPr>
            <a:xfrm>
              <a:off x="7074904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8"/>
            <p:cNvSpPr/>
            <p:nvPr/>
          </p:nvSpPr>
          <p:spPr>
            <a:xfrm>
              <a:off x="7962441" y="14040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8"/>
            <p:cNvSpPr/>
            <p:nvPr/>
          </p:nvSpPr>
          <p:spPr>
            <a:xfrm flipH="1" rot="10800000">
              <a:off x="6036087" y="3124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8"/>
            <p:cNvSpPr/>
            <p:nvPr/>
          </p:nvSpPr>
          <p:spPr>
            <a:xfrm flipH="1" rot="10800000">
              <a:off x="6355205" y="41020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8"/>
            <p:cNvSpPr/>
            <p:nvPr/>
          </p:nvSpPr>
          <p:spPr>
            <a:xfrm flipH="1" rot="10800000">
              <a:off x="5732459" y="48790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8"/>
            <p:cNvSpPr/>
            <p:nvPr/>
          </p:nvSpPr>
          <p:spPr>
            <a:xfrm flipH="1" rot="10800000">
              <a:off x="6683197" y="35154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8"/>
            <p:cNvSpPr/>
            <p:nvPr/>
          </p:nvSpPr>
          <p:spPr>
            <a:xfrm flipH="1" rot="10800000">
              <a:off x="5104880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8"/>
            <p:cNvSpPr/>
            <p:nvPr/>
          </p:nvSpPr>
          <p:spPr>
            <a:xfrm>
              <a:off x="8484758" y="243811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8"/>
            <p:cNvSpPr/>
            <p:nvPr/>
          </p:nvSpPr>
          <p:spPr>
            <a:xfrm>
              <a:off x="8038260" y="29212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8"/>
            <p:cNvSpPr/>
            <p:nvPr/>
          </p:nvSpPr>
          <p:spPr>
            <a:xfrm flipH="1" rot="10800000">
              <a:off x="7853362" y="396220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8"/>
            <p:cNvSpPr/>
            <p:nvPr/>
          </p:nvSpPr>
          <p:spPr>
            <a:xfrm flipH="1" rot="10800000">
              <a:off x="8261505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32" name="Google Shape;432;p38"/>
          <p:cNvCxnSpPr/>
          <p:nvPr/>
        </p:nvCxnSpPr>
        <p:spPr>
          <a:xfrm>
            <a:off x="841250" y="1385850"/>
            <a:ext cx="37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Poverty vs High School Graduation Rate</a:t>
            </a:r>
            <a:endParaRPr sz="3100"/>
          </a:p>
        </p:txBody>
      </p:sp>
      <p:sp>
        <p:nvSpPr>
          <p:cNvPr id="438" name="Google Shape;438;p39"/>
          <p:cNvSpPr txBox="1"/>
          <p:nvPr>
            <p:ph idx="1" type="body"/>
          </p:nvPr>
        </p:nvSpPr>
        <p:spPr>
          <a:xfrm>
            <a:off x="662675" y="1195600"/>
            <a:ext cx="7704000" cy="7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scatterplot shows the relationship between HS graduate rate the US and the percentage of residents who live in poverty.</a:t>
            </a:r>
            <a:endParaRPr sz="1600"/>
          </a:p>
        </p:txBody>
      </p:sp>
      <p:pic>
        <p:nvPicPr>
          <p:cNvPr id="439" name="Google Shape;43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825" y="2032975"/>
            <a:ext cx="4136225" cy="295545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9"/>
          <p:cNvSpPr txBox="1"/>
          <p:nvPr/>
        </p:nvSpPr>
        <p:spPr>
          <a:xfrm>
            <a:off x="5076650" y="2172975"/>
            <a:ext cx="2707800" cy="23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Response variable (dependent):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% in 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poverty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Explanatory variable (independent):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% HS grad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Relationship: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Linear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41" name="Google Shape;441;p39"/>
          <p:cNvCxnSpPr/>
          <p:nvPr/>
        </p:nvCxnSpPr>
        <p:spPr>
          <a:xfrm>
            <a:off x="1810025" y="2373550"/>
            <a:ext cx="2406900" cy="184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Simple Linear Regression Model</a:t>
            </a:r>
            <a:endParaRPr sz="3100"/>
          </a:p>
        </p:txBody>
      </p:sp>
      <p:sp>
        <p:nvSpPr>
          <p:cNvPr id="447" name="Google Shape;447;p40"/>
          <p:cNvSpPr txBox="1"/>
          <p:nvPr/>
        </p:nvSpPr>
        <p:spPr>
          <a:xfrm>
            <a:off x="592175" y="1270350"/>
            <a:ext cx="8195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Error between the fitted line and the original Y:</a:t>
            </a:r>
            <a:endParaRPr b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48" name="Google Shape;44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2650" y="1762025"/>
            <a:ext cx="4441351" cy="3338228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40"/>
          <p:cNvSpPr txBox="1"/>
          <p:nvPr/>
        </p:nvSpPr>
        <p:spPr>
          <a:xfrm>
            <a:off x="815025" y="1929400"/>
            <a:ext cx="2341800" cy="26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 = Y’ - Y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Y’ =  17 + b1 * x 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50" name="Google Shape;450;p40"/>
          <p:cNvCxnSpPr/>
          <p:nvPr/>
        </p:nvCxnSpPr>
        <p:spPr>
          <a:xfrm flipH="1" rot="10800000">
            <a:off x="1065000" y="3448225"/>
            <a:ext cx="415500" cy="32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1" name="Google Shape;451;p40"/>
          <p:cNvCxnSpPr/>
          <p:nvPr/>
        </p:nvCxnSpPr>
        <p:spPr>
          <a:xfrm rot="10800000">
            <a:off x="2263075" y="3419575"/>
            <a:ext cx="363600" cy="38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2" name="Google Shape;452;p40"/>
          <p:cNvSpPr txBox="1"/>
          <p:nvPr/>
        </p:nvSpPr>
        <p:spPr>
          <a:xfrm>
            <a:off x="656700" y="3806275"/>
            <a:ext cx="141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intercept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3" name="Google Shape;453;p40"/>
          <p:cNvSpPr txBox="1"/>
          <p:nvPr/>
        </p:nvSpPr>
        <p:spPr>
          <a:xfrm>
            <a:off x="2258763" y="3877925"/>
            <a:ext cx="123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slope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Finding Best Fitting Line</a:t>
            </a:r>
            <a:endParaRPr sz="3100"/>
          </a:p>
        </p:txBody>
      </p:sp>
      <p:pic>
        <p:nvPicPr>
          <p:cNvPr id="459" name="Google Shape;45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356400"/>
            <a:ext cx="8839199" cy="3450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Least Square Regression </a:t>
            </a:r>
            <a:endParaRPr sz="3100"/>
          </a:p>
        </p:txBody>
      </p:sp>
      <p:sp>
        <p:nvSpPr>
          <p:cNvPr id="465" name="Google Shape;465;p42"/>
          <p:cNvSpPr txBox="1"/>
          <p:nvPr/>
        </p:nvSpPr>
        <p:spPr>
          <a:xfrm>
            <a:off x="964700" y="1189200"/>
            <a:ext cx="6776700" cy="27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Why do we choose to minimize the least </a:t>
            </a: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squares</a:t>
            </a: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AutoNum type="arabicParenR"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Commonly used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AutoNum type="arabicParenR"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Easy to compute, both by computer or by closed form formula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3"/>
          <p:cNvSpPr txBox="1"/>
          <p:nvPr>
            <p:ph type="title"/>
          </p:nvPr>
        </p:nvSpPr>
        <p:spPr>
          <a:xfrm>
            <a:off x="619725" y="2157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Least Square Regression </a:t>
            </a:r>
            <a:endParaRPr/>
          </a:p>
        </p:txBody>
      </p:sp>
      <p:sp>
        <p:nvSpPr>
          <p:cNvPr id="471" name="Google Shape;471;p43"/>
          <p:cNvSpPr txBox="1"/>
          <p:nvPr>
            <p:ph idx="1" type="body"/>
          </p:nvPr>
        </p:nvSpPr>
        <p:spPr>
          <a:xfrm>
            <a:off x="720000" y="1215750"/>
            <a:ext cx="23937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By minimizing the least squared errors, we obtain: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2" name="Google Shape;47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8500" y="874450"/>
            <a:ext cx="4675225" cy="414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