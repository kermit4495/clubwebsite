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Outfit"/>
      <p:regular r:id="rId11"/>
      <p:bold r:id="rId12"/>
    </p:embeddedFont>
    <p:embeddedFont>
      <p:font typeface="Outfit Medium"/>
      <p:regular r:id="rId13"/>
      <p:bold r:id="rId14"/>
    </p:embeddedFont>
    <p:embeddedFont>
      <p:font typeface="DM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Outfit-regular.fntdata"/><Relationship Id="rId10" Type="http://schemas.openxmlformats.org/officeDocument/2006/relationships/slide" Target="slides/slide6.xml"/><Relationship Id="rId13" Type="http://schemas.openxmlformats.org/officeDocument/2006/relationships/font" Target="fonts/OutfitMedium-regular.fntdata"/><Relationship Id="rId12" Type="http://schemas.openxmlformats.org/officeDocument/2006/relationships/font" Target="fonts/Outfit-bold.fntdata"/><Relationship Id="rId15" Type="http://schemas.openxmlformats.org/officeDocument/2006/relationships/font" Target="fonts/DMSans-regular.fntdata"/><Relationship Id="rId14" Type="http://schemas.openxmlformats.org/officeDocument/2006/relationships/font" Target="fonts/OutfitMedium-bold.fntdata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18" Type="http://schemas.openxmlformats.org/officeDocument/2006/relationships/font" Target="fonts/DM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8f6ab08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f8f6ab08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f8f6ab086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f8f6ab086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f8f6ab086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f8f6ab086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f8f6ab086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f8f6ab086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f8f6ab086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f8f6ab086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f8f6ab086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f8f6ab086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4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22" name="Google Shape;122;p16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4" name="Google Shape;144;p18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46" name="Google Shape;146;p18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" name="Google Shape;153;p18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9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" name="Google Shape;165;p19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69" name="Google Shape;169;p20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20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1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81" name="Google Shape;181;p21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93" name="Google Shape;193;p22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" name="Google Shape;20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3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205" name="Google Shape;205;p23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3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3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4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4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" name="Google Shape;24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1" name="Google Shape;241;p25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5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1" name="Google Shape;271;p27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7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7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27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281" name="Google Shape;281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8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8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7" name="Google Shape;297;p28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8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29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29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30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0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title"/>
          </p:nvPr>
        </p:nvSpPr>
        <p:spPr>
          <a:xfrm>
            <a:off x="748100" y="1599650"/>
            <a:ext cx="68634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Linear Regression</a:t>
            </a:r>
            <a:endParaRPr sz="3000"/>
          </a:p>
        </p:txBody>
      </p:sp>
      <p:grpSp>
        <p:nvGrpSpPr>
          <p:cNvPr id="339" name="Google Shape;339;p33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340" name="Google Shape;340;p33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3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3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3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3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3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3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3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3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7" name="Google Shape;357;p33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Poverty vs High School Graduation Rate</a:t>
            </a:r>
            <a:endParaRPr sz="3100"/>
          </a:p>
        </p:txBody>
      </p:sp>
      <p:sp>
        <p:nvSpPr>
          <p:cNvPr id="363" name="Google Shape;363;p34"/>
          <p:cNvSpPr txBox="1"/>
          <p:nvPr>
            <p:ph idx="1" type="body"/>
          </p:nvPr>
        </p:nvSpPr>
        <p:spPr>
          <a:xfrm>
            <a:off x="662675" y="1195600"/>
            <a:ext cx="77040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scatterplot shows the relationship between HS graduate rate the US and the percentage of residents who live in poverty.</a:t>
            </a:r>
            <a:endParaRPr sz="1600"/>
          </a:p>
        </p:txBody>
      </p:sp>
      <p:pic>
        <p:nvPicPr>
          <p:cNvPr id="364" name="Google Shape;36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825" y="2032975"/>
            <a:ext cx="4136225" cy="295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4"/>
          <p:cNvSpPr txBox="1"/>
          <p:nvPr/>
        </p:nvSpPr>
        <p:spPr>
          <a:xfrm>
            <a:off x="5076650" y="2172975"/>
            <a:ext cx="2707800" cy="23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Response variable (dependent):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% in 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poverty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Explanatory variable (independent):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% HS grad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Relationship: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Linear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66" name="Google Shape;366;p34"/>
          <p:cNvCxnSpPr/>
          <p:nvPr/>
        </p:nvCxnSpPr>
        <p:spPr>
          <a:xfrm>
            <a:off x="1810025" y="2373550"/>
            <a:ext cx="2406900" cy="18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Simple Linear Regression Model</a:t>
            </a:r>
            <a:endParaRPr sz="3100"/>
          </a:p>
        </p:txBody>
      </p:sp>
      <p:sp>
        <p:nvSpPr>
          <p:cNvPr id="372" name="Google Shape;372;p35"/>
          <p:cNvSpPr txBox="1"/>
          <p:nvPr/>
        </p:nvSpPr>
        <p:spPr>
          <a:xfrm>
            <a:off x="592175" y="1270350"/>
            <a:ext cx="8195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Error between the fitted line and the original Y: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73" name="Google Shape;3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650" y="1762025"/>
            <a:ext cx="4441351" cy="333822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5"/>
          <p:cNvSpPr txBox="1"/>
          <p:nvPr/>
        </p:nvSpPr>
        <p:spPr>
          <a:xfrm>
            <a:off x="815025" y="1929400"/>
            <a:ext cx="3817500" cy="30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Error term: 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 = Y’ - Y 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Y’ =  17 + b1 * x 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Y’ - predicted, red line 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- actual Y, blue dot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75" name="Google Shape;375;p35"/>
          <p:cNvCxnSpPr/>
          <p:nvPr/>
        </p:nvCxnSpPr>
        <p:spPr>
          <a:xfrm flipH="1" rot="10800000">
            <a:off x="1065000" y="3448225"/>
            <a:ext cx="415500" cy="32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35"/>
          <p:cNvCxnSpPr/>
          <p:nvPr/>
        </p:nvCxnSpPr>
        <p:spPr>
          <a:xfrm rot="10800000">
            <a:off x="2076820" y="3419575"/>
            <a:ext cx="363600" cy="38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" name="Google Shape;377;p35"/>
          <p:cNvSpPr txBox="1"/>
          <p:nvPr/>
        </p:nvSpPr>
        <p:spPr>
          <a:xfrm>
            <a:off x="628045" y="3663002"/>
            <a:ext cx="14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intercept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8" name="Google Shape;378;p35"/>
          <p:cNvSpPr txBox="1"/>
          <p:nvPr/>
        </p:nvSpPr>
        <p:spPr>
          <a:xfrm>
            <a:off x="2258763" y="3720325"/>
            <a:ext cx="123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slope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Finding Best Fitting Line</a:t>
            </a:r>
            <a:endParaRPr sz="3100"/>
          </a:p>
        </p:txBody>
      </p:sp>
      <p:pic>
        <p:nvPicPr>
          <p:cNvPr id="384" name="Google Shape;3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356400"/>
            <a:ext cx="8839199" cy="3450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Least Square Regression </a:t>
            </a:r>
            <a:endParaRPr sz="3100"/>
          </a:p>
        </p:txBody>
      </p:sp>
      <p:sp>
        <p:nvSpPr>
          <p:cNvPr id="390" name="Google Shape;390;p37"/>
          <p:cNvSpPr txBox="1"/>
          <p:nvPr/>
        </p:nvSpPr>
        <p:spPr>
          <a:xfrm>
            <a:off x="964700" y="1189200"/>
            <a:ext cx="6776700" cy="27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Why do we choose to minimize the least </a:t>
            </a: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squares</a:t>
            </a: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rabicParenR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Commonly used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rabicParenR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Easy to compute, both by computer or by closed form formula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"/>
          <p:cNvSpPr txBox="1"/>
          <p:nvPr>
            <p:ph type="title"/>
          </p:nvPr>
        </p:nvSpPr>
        <p:spPr>
          <a:xfrm>
            <a:off x="619725" y="2157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Least Square Regression </a:t>
            </a:r>
            <a:endParaRPr/>
          </a:p>
        </p:txBody>
      </p:sp>
      <p:sp>
        <p:nvSpPr>
          <p:cNvPr id="396" name="Google Shape;396;p38"/>
          <p:cNvSpPr txBox="1"/>
          <p:nvPr>
            <p:ph idx="1" type="body"/>
          </p:nvPr>
        </p:nvSpPr>
        <p:spPr>
          <a:xfrm>
            <a:off x="720000" y="1215750"/>
            <a:ext cx="23937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By minimizing the least squared errors, we obtain: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7" name="Google Shape;39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500" y="874450"/>
            <a:ext cx="4675225" cy="41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