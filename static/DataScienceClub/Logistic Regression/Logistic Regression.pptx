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Outfit"/>
      <p:regular r:id="rId12"/>
      <p:bold r:id="rId13"/>
    </p:embeddedFont>
    <p:embeddedFont>
      <p:font typeface="Outfit Medium"/>
      <p:regular r:id="rId14"/>
      <p:bold r:id="rId15"/>
    </p:embeddedFont>
    <p:embeddedFont>
      <p:font typeface="Roboto Mono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  <p:embeddedFont>
      <p:font typeface="Comforta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Comfortaa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Comforta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Outfit-bold.fntdata"/><Relationship Id="rId12" Type="http://schemas.openxmlformats.org/officeDocument/2006/relationships/font" Target="fonts/Outfit-regular.fntdata"/><Relationship Id="rId15" Type="http://schemas.openxmlformats.org/officeDocument/2006/relationships/font" Target="fonts/OutfitMedium-bold.fntdata"/><Relationship Id="rId14" Type="http://schemas.openxmlformats.org/officeDocument/2006/relationships/font" Target="fonts/OutfitMedium-regular.fntdata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19" Type="http://schemas.openxmlformats.org/officeDocument/2006/relationships/font" Target="fonts/RobotoMono-boldItalic.fntdata"/><Relationship Id="rId18" Type="http://schemas.openxmlformats.org/officeDocument/2006/relationships/font" Target="fonts/RobotoMon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f8f6ab08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f8f6ab08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f8f6ab086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f8f6ab08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6ab086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f8f6ab086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f8f6ab08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f8f6ab08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f8f6ab086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f8f6ab086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a4b6c7e6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fa4b6c7e6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0" name="Google Shape;20;p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33" name="Google Shape;33;p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9" name="Google Shape;49;p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82" name="Google Shape;82;p1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12" name="Google Shape;112;p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25" name="Google Shape;125;p1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37" name="Google Shape;137;p1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49" name="Google Shape;149;p1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8" name="Google Shape;15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1" name="Google Shape;161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62" name="Google Shape;162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63" name="Google Shape;163;p1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" name="Google Shape;170;p1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74" name="Google Shape;174;p1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3" name="Google Shape;183;p1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5" name="Google Shape;18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8" name="Google Shape;188;p2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2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01" name="Google Shape;201;p2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2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14" name="Google Shape;214;p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27" name="Google Shape;227;p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40" name="Google Shape;240;p2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9" name="Google Shape;249;p2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56" name="Google Shape;256;p2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70" name="Google Shape;270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9" name="Google Shape;279;p2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2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5" name="Google Shape;28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88" name="Google Shape;288;p2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7" name="Google Shape;297;p2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2" name="Google Shape;302;p2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3" name="Google Shape;303;p2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4" name="Google Shape;304;p2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5" name="Google Shape;30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308" name="Google Shape;308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2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2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4" name="Google Shape;324;p2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5" name="Google Shape;325;p2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6" name="Google Shape;326;p2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7" name="Google Shape;327;p2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8" name="Google Shape;328;p2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9" name="Google Shape;32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2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2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2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6" name="Google Shape;336;p2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0" name="Google Shape;340;p3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45" name="Google Shape;345;p3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56" name="Google Shape;356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57" name="Google Shape;357;p3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4" name="Google Shape;364;p3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 txBox="1"/>
          <p:nvPr>
            <p:ph type="ctrTitle"/>
          </p:nvPr>
        </p:nvSpPr>
        <p:spPr>
          <a:xfrm>
            <a:off x="713225" y="217325"/>
            <a:ext cx="5329200" cy="347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Data Science Club - Week 6</a:t>
            </a:r>
            <a:endParaRPr sz="4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Logistic</a:t>
            </a:r>
            <a:r>
              <a:rPr lang="en" sz="4300"/>
              <a:t> Regression + Confusion Matrix</a:t>
            </a:r>
            <a:endParaRPr sz="4300"/>
          </a:p>
        </p:txBody>
      </p:sp>
      <p:sp>
        <p:nvSpPr>
          <p:cNvPr id="371" name="Google Shape;371;p33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Kevin and Vincent</a:t>
            </a:r>
            <a:endParaRPr/>
          </a:p>
        </p:txBody>
      </p:sp>
      <p:grpSp>
        <p:nvGrpSpPr>
          <p:cNvPr id="372" name="Google Shape;372;p33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73" name="Google Shape;373;p33"/>
            <p:cNvSpPr/>
            <p:nvPr/>
          </p:nvSpPr>
          <p:spPr>
            <a:xfrm flipH="1" rot="10800000">
              <a:off x="8492525" y="-1927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3"/>
            <p:cNvSpPr/>
            <p:nvPr/>
          </p:nvSpPr>
          <p:spPr>
            <a:xfrm>
              <a:off x="8551745" y="32678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6606686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3"/>
            <p:cNvSpPr/>
            <p:nvPr/>
          </p:nvSpPr>
          <p:spPr>
            <a:xfrm>
              <a:off x="7103477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3"/>
            <p:cNvSpPr/>
            <p:nvPr/>
          </p:nvSpPr>
          <p:spPr>
            <a:xfrm>
              <a:off x="6684072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3"/>
            <p:cNvSpPr/>
            <p:nvPr/>
          </p:nvSpPr>
          <p:spPr>
            <a:xfrm>
              <a:off x="6109895" y="119408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3"/>
            <p:cNvSpPr/>
            <p:nvPr/>
          </p:nvSpPr>
          <p:spPr>
            <a:xfrm>
              <a:off x="6109895" y="69774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3"/>
            <p:cNvSpPr/>
            <p:nvPr/>
          </p:nvSpPr>
          <p:spPr>
            <a:xfrm>
              <a:off x="7587339" y="1194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3"/>
            <p:cNvSpPr/>
            <p:nvPr/>
          </p:nvSpPr>
          <p:spPr>
            <a:xfrm>
              <a:off x="5634170" y="-42862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3"/>
            <p:cNvSpPr/>
            <p:nvPr/>
          </p:nvSpPr>
          <p:spPr>
            <a:xfrm>
              <a:off x="7017892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3"/>
            <p:cNvSpPr/>
            <p:nvPr/>
          </p:nvSpPr>
          <p:spPr>
            <a:xfrm>
              <a:off x="5193798" y="1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3"/>
            <p:cNvSpPr/>
            <p:nvPr/>
          </p:nvSpPr>
          <p:spPr>
            <a:xfrm>
              <a:off x="8068891" y="16222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3"/>
            <p:cNvSpPr/>
            <p:nvPr/>
          </p:nvSpPr>
          <p:spPr>
            <a:xfrm flipH="1" rot="10800000">
              <a:off x="5115337" y="3655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 flipH="1" rot="10800000">
              <a:off x="6606680" y="39247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 flipH="1" rot="10800000">
              <a:off x="5983934" y="50536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3"/>
            <p:cNvSpPr/>
            <p:nvPr/>
          </p:nvSpPr>
          <p:spPr>
            <a:xfrm flipH="1" rot="10800000">
              <a:off x="7178797" y="35333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3"/>
            <p:cNvSpPr/>
            <p:nvPr/>
          </p:nvSpPr>
          <p:spPr>
            <a:xfrm flipH="1" rot="10800000">
              <a:off x="6606686" y="460940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3"/>
            <p:cNvSpPr/>
            <p:nvPr/>
          </p:nvSpPr>
          <p:spPr>
            <a:xfrm flipH="1" rot="10800000">
              <a:off x="5526543" y="412830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3"/>
            <p:cNvSpPr/>
            <p:nvPr/>
          </p:nvSpPr>
          <p:spPr>
            <a:xfrm>
              <a:off x="8117298" y="285223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8172542" y="30360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/>
          <p:nvPr>
            <p:ph type="title"/>
          </p:nvPr>
        </p:nvSpPr>
        <p:spPr>
          <a:xfrm>
            <a:off x="713225" y="2384250"/>
            <a:ext cx="68634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Logistic Regression</a:t>
            </a:r>
            <a:endParaRPr sz="3000"/>
          </a:p>
        </p:txBody>
      </p:sp>
      <p:sp>
        <p:nvSpPr>
          <p:cNvPr id="399" name="Google Shape;399;p34"/>
          <p:cNvSpPr txBox="1"/>
          <p:nvPr>
            <p:ph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0" name="Google Shape;400;p34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01" name="Google Shape;401;p34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4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4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4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4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4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4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4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4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18" name="Google Shape;418;p34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Logistic Regression</a:t>
            </a:r>
            <a:endParaRPr sz="3100"/>
          </a:p>
        </p:txBody>
      </p:sp>
      <p:sp>
        <p:nvSpPr>
          <p:cNvPr id="425" name="Google Shape;425;p35"/>
          <p:cNvSpPr txBox="1"/>
          <p:nvPr/>
        </p:nvSpPr>
        <p:spPr>
          <a:xfrm>
            <a:off x="474950" y="1314825"/>
            <a:ext cx="8427300" cy="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Logistic Regression is a classification algorithm used to predict a variable based on previously presented data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fortaa"/>
              <a:buChar char="-"/>
            </a:pPr>
            <a:r>
              <a:rPr lang="en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Used to classify things such as fraudulent or spam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Examples: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Fraud Detection - amount, location, and transaction date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Spam Detection - sender, word usage, typos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Website Visitor Behavior - time spent, number of items</a:t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6" name="Google Shape;426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Example of a Logistic Regression model</a:t>
            </a:r>
            <a:endParaRPr sz="3100"/>
          </a:p>
        </p:txBody>
      </p:sp>
      <p:sp>
        <p:nvSpPr>
          <p:cNvPr id="432" name="Google Shape;432;p36"/>
          <p:cNvSpPr txBox="1"/>
          <p:nvPr>
            <p:ph idx="1" type="body"/>
          </p:nvPr>
        </p:nvSpPr>
        <p:spPr>
          <a:xfrm>
            <a:off x="662675" y="1195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Fitting to a sigmoid function curve, </a:t>
            </a:r>
            <a:endParaRPr sz="1600"/>
          </a:p>
        </p:txBody>
      </p:sp>
      <p:cxnSp>
        <p:nvCxnSpPr>
          <p:cNvPr id="433" name="Google Shape;433;p36"/>
          <p:cNvCxnSpPr/>
          <p:nvPr/>
        </p:nvCxnSpPr>
        <p:spPr>
          <a:xfrm>
            <a:off x="1810025" y="2373550"/>
            <a:ext cx="2406900" cy="18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5" name="Google Shape;4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25" y="1995100"/>
            <a:ext cx="7882506" cy="2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Example: Iris Dataset</a:t>
            </a:r>
            <a:endParaRPr sz="3100"/>
          </a:p>
        </p:txBody>
      </p:sp>
      <p:sp>
        <p:nvSpPr>
          <p:cNvPr id="441" name="Google Shape;441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37"/>
          <p:cNvSpPr txBox="1"/>
          <p:nvPr/>
        </p:nvSpPr>
        <p:spPr>
          <a:xfrm>
            <a:off x="1175975" y="1318875"/>
            <a:ext cx="3462300" cy="3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Dataset: Iris flower features (e.g., sepal length, petal width) and their species.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Goal: Predict whether a flower is </a:t>
            </a:r>
            <a:r>
              <a:rPr i="1" lang="en" sz="1200">
                <a:latin typeface="Comfortaa"/>
                <a:ea typeface="Comfortaa"/>
                <a:cs typeface="Comfortaa"/>
                <a:sym typeface="Comfortaa"/>
              </a:rPr>
              <a:t>Iris-setosa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(0) or </a:t>
            </a:r>
            <a:r>
              <a:rPr i="1" lang="en" sz="1200">
                <a:latin typeface="Comfortaa"/>
                <a:ea typeface="Comfortaa"/>
                <a:cs typeface="Comfortaa"/>
                <a:sym typeface="Comfortaa"/>
              </a:rPr>
              <a:t>Iris-versicolor</a:t>
            </a: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 (1).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Features: Sepal length, petal length, etc.</a:t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mfortaa"/>
                <a:ea typeface="Comfortaa"/>
                <a:cs typeface="Comfortaa"/>
                <a:sym typeface="Comfortaa"/>
              </a:rPr>
              <a:t>Code for Logistic Regression</a:t>
            </a:r>
            <a:br>
              <a:rPr lang="en" sz="1200">
                <a:latin typeface="Comfortaa"/>
                <a:ea typeface="Comfortaa"/>
                <a:cs typeface="Comfortaa"/>
                <a:sym typeface="Comfortaa"/>
              </a:rPr>
            </a:br>
            <a:br>
              <a:rPr lang="en" sz="1200"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200">
                <a:solidFill>
                  <a:srgbClr val="188038"/>
                </a:solidFill>
                <a:latin typeface="Comfortaa"/>
                <a:ea typeface="Comfortaa"/>
                <a:cs typeface="Comfortaa"/>
                <a:sym typeface="Comfortaa"/>
              </a:rPr>
              <a:t>from sklearn.linear_model import LogisticRegression</a:t>
            </a:r>
            <a:endParaRPr sz="1200">
              <a:solidFill>
                <a:srgbClr val="18803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Comfortaa"/>
                <a:ea typeface="Comfortaa"/>
                <a:cs typeface="Comfortaa"/>
                <a:sym typeface="Comfortaa"/>
              </a:rPr>
              <a:t>model = LogisticRegression()</a:t>
            </a:r>
            <a:endParaRPr sz="1200">
              <a:solidFill>
                <a:srgbClr val="18803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88038"/>
                </a:solidFill>
                <a:latin typeface="Comfortaa"/>
                <a:ea typeface="Comfortaa"/>
                <a:cs typeface="Comfortaa"/>
                <a:sym typeface="Comfortaa"/>
              </a:rPr>
              <a:t>model.fit(X_train, y_train)</a:t>
            </a:r>
            <a:endParaRPr sz="1200">
              <a:solidFill>
                <a:srgbClr val="18803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8803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43" name="Google Shape;4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275" y="2428875"/>
            <a:ext cx="4367750" cy="12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Confusion Matrix</a:t>
            </a:r>
            <a:endParaRPr sz="3100"/>
          </a:p>
        </p:txBody>
      </p:sp>
      <p:sp>
        <p:nvSpPr>
          <p:cNvPr id="449" name="Google Shape;449;p38"/>
          <p:cNvSpPr txBox="1"/>
          <p:nvPr/>
        </p:nvSpPr>
        <p:spPr>
          <a:xfrm>
            <a:off x="964700" y="1593600"/>
            <a:ext cx="3948000" cy="23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Tests the accuracy and precision of the model by using a confusion matrix to find out if the model classified data correctly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[15   1]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[2  12​]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0" name="Google Shape;45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1" name="Google Shape;4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700" y="1382900"/>
            <a:ext cx="3994551" cy="23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for Confusion </a:t>
            </a:r>
            <a:r>
              <a:rPr lang="en"/>
              <a:t>matrix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7" name="Google Shape;457;p39"/>
          <p:cNvPicPr preferRelativeResize="0"/>
          <p:nvPr/>
        </p:nvPicPr>
        <p:blipFill rotWithShape="1">
          <a:blip r:embed="rId3">
            <a:alphaModFix/>
          </a:blip>
          <a:srcRect b="5643" l="0" r="0" t="5634"/>
          <a:stretch/>
        </p:blipFill>
        <p:spPr>
          <a:xfrm>
            <a:off x="318900" y="1778850"/>
            <a:ext cx="4756850" cy="2207986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9"/>
          <p:cNvSpPr txBox="1"/>
          <p:nvPr/>
        </p:nvSpPr>
        <p:spPr>
          <a:xfrm>
            <a:off x="5154250" y="1228438"/>
            <a:ext cx="3696300" cy="2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TP = True Positive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TN = True negative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FP = False positives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FN = False negatives</a:t>
            </a:r>
            <a:endParaRPr sz="2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9" name="Google Shape;459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