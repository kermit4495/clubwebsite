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32918400" cx="43891200"/>
  <p:notesSz cx="7315200" cy="9601200"/>
  <p:embeddedFontLst>
    <p:embeddedFont>
      <p:font typeface="Arial Black"/>
      <p:regular r:id="rId8"/>
    </p:embeddedFont>
    <p:embeddedFont>
      <p:font typeface="Century Gothic"/>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6708">
          <p15:clr>
            <a:srgbClr val="A4A3A4"/>
          </p15:clr>
        </p15:guide>
        <p15:guide id="6" pos="20904">
          <p15:clr>
            <a:srgbClr val="A4A3A4"/>
          </p15:clr>
        </p15:guide>
        <p15:guide id="7" pos="7082">
          <p15:clr>
            <a:srgbClr val="A4A3A4"/>
          </p15:clr>
        </p15:guide>
        <p15:guide id="8" pos="20582">
          <p15:clr>
            <a:srgbClr val="A4A3A4"/>
          </p15:clr>
        </p15:guide>
        <p15:guide id="9" pos="27330">
          <p15:clr>
            <a:srgbClr val="A4A3A4"/>
          </p15:clr>
        </p15:guide>
        <p15:guide id="10" pos="326">
          <p15:clr>
            <a:srgbClr val="A4A3A4"/>
          </p15:clr>
        </p15:guide>
      </p15:sldGuideLst>
    </p:ext>
    <p:ext uri="{2D200454-40CA-4A62-9FC3-DE9A4176ACB9}">
      <p15:notesGuideLst>
        <p15:guide id="1" orient="horz" pos="3024">
          <p15:clr>
            <a:srgbClr val="A4A3A4"/>
          </p15:clr>
        </p15:guide>
        <p15:guide id="2" pos="2304">
          <p15:clr>
            <a:srgbClr val="A4A3A4"/>
          </p15:clr>
        </p15:guide>
      </p15:notesGuideLst>
    </p:ext>
    <p:ext uri="GoogleSlidesCustomDataVersion2">
      <go:slidesCustomData xmlns:go="http://customooxmlschemas.google.com/" r:id="rId13" roundtripDataSignature="AMtx7mim2JnJxz14zrhyT1+rTkM7QpAs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5D5CC7-609E-4DAD-A1AD-2E274C57FA60}">
  <a:tblStyle styleId="{3C5D5CC7-609E-4DAD-A1AD-2E274C57FA6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18" orient="horz"/>
        <p:guide pos="288" orient="horz"/>
        <p:guide pos="20160" orient="horz"/>
        <p:guide orient="horz"/>
        <p:guide pos="6708"/>
        <p:guide pos="20904"/>
        <p:guide pos="7082"/>
        <p:guide pos="20582"/>
        <p:guide pos="27330"/>
        <p:guide pos="326"/>
      </p:guideLst>
    </p:cSldViewPr>
  </p:slideViewPr>
  <p:notesViewPr>
    <p:cSldViewPr snapToGrid="0">
      <p:cViewPr varScale="1">
        <p:scale>
          <a:sx n="100" d="100"/>
          <a:sy n="100" d="100"/>
        </p:scale>
        <p:origin x="0" y="0"/>
      </p:cViewPr>
      <p:guideLst>
        <p:guide pos="3024" orient="horz"/>
        <p:guide pos="2304"/>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font" Target="fonts/CenturyGothic-italic.fntdata"/><Relationship Id="rId10" Type="http://schemas.openxmlformats.org/officeDocument/2006/relationships/font" Target="fonts/CenturyGothic-bold.fntdata"/><Relationship Id="rId13" Type="http://customschemas.google.com/relationships/presentationmetadata" Target="metadata"/><Relationship Id="rId12" Type="http://schemas.openxmlformats.org/officeDocument/2006/relationships/font" Target="fonts/CenturyGothic-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CenturyGothic-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ArialBlack-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00" lIns="96625" spcFirstLastPara="1" rIns="96625" wrap="square" tIns="48300">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00" lIns="96625" spcFirstLastPara="1" rIns="96625" wrap="square" tIns="48300">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00" lIns="96625" spcFirstLastPara="1" rIns="96625" wrap="square" tIns="48300">
            <a:normAutofit/>
          </a:bodyPr>
          <a:lstStyle>
            <a:lvl1pPr indent="-228600" lvl="0" marL="457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00" lIns="96625" spcFirstLastPara="1" rIns="96625" wrap="square" tIns="48300">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00" lIns="96625" spcFirstLastPara="1" rIns="96625" wrap="square" tIns="48300">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txBox="1"/>
          <p:nvPr>
            <p:ph idx="1" type="body"/>
          </p:nvPr>
        </p:nvSpPr>
        <p:spPr>
          <a:xfrm>
            <a:off x="731520" y="4560570"/>
            <a:ext cx="5852160" cy="432054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7" name="Google Shape;37;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x48 Trifold Template">
  <p:cSld name="36x48 Trifold Template">
    <p:spTree>
      <p:nvGrpSpPr>
        <p:cNvPr id="17" name="Shape 17"/>
        <p:cNvGrpSpPr/>
        <p:nvPr/>
      </p:nvGrpSpPr>
      <p:grpSpPr>
        <a:xfrm>
          <a:off x="0" y="0"/>
          <a:ext cx="0" cy="0"/>
          <a:chOff x="0" y="0"/>
          <a:chExt cx="0" cy="0"/>
        </a:xfrm>
      </p:grpSpPr>
      <p:sp>
        <p:nvSpPr>
          <p:cNvPr id="18" name="Google Shape;18;p3"/>
          <p:cNvSpPr txBox="1"/>
          <p:nvPr>
            <p:ph idx="1" type="body"/>
          </p:nvPr>
        </p:nvSpPr>
        <p:spPr>
          <a:xfrm>
            <a:off x="527049" y="6021370"/>
            <a:ext cx="10196513"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 name="Google Shape;19;p3"/>
          <p:cNvSpPr txBox="1"/>
          <p:nvPr>
            <p:ph idx="2" type="body"/>
          </p:nvPr>
        </p:nvSpPr>
        <p:spPr>
          <a:xfrm>
            <a:off x="527049" y="5267325"/>
            <a:ext cx="10196513"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 name="Google Shape;20;p3"/>
          <p:cNvSpPr txBox="1"/>
          <p:nvPr>
            <p:ph idx="3" type="body"/>
          </p:nvPr>
        </p:nvSpPr>
        <p:spPr>
          <a:xfrm>
            <a:off x="517525" y="14197507"/>
            <a:ext cx="10210799"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1" name="Google Shape;21;p3"/>
          <p:cNvSpPr txBox="1"/>
          <p:nvPr>
            <p:ph idx="4" type="body"/>
          </p:nvPr>
        </p:nvSpPr>
        <p:spPr>
          <a:xfrm>
            <a:off x="11252201" y="6021371"/>
            <a:ext cx="21421724"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2" name="Google Shape;22;p3"/>
          <p:cNvSpPr txBox="1"/>
          <p:nvPr>
            <p:ph idx="5" type="body"/>
          </p:nvPr>
        </p:nvSpPr>
        <p:spPr>
          <a:xfrm>
            <a:off x="11242675" y="5267326"/>
            <a:ext cx="21431250"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3" name="Google Shape;23;p3"/>
          <p:cNvSpPr txBox="1"/>
          <p:nvPr>
            <p:ph idx="6" type="body"/>
          </p:nvPr>
        </p:nvSpPr>
        <p:spPr>
          <a:xfrm>
            <a:off x="11252201" y="20505756"/>
            <a:ext cx="21421724"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4" name="Google Shape;24;p3"/>
          <p:cNvSpPr txBox="1"/>
          <p:nvPr>
            <p:ph idx="7" type="body"/>
          </p:nvPr>
        </p:nvSpPr>
        <p:spPr>
          <a:xfrm>
            <a:off x="11252201" y="19751711"/>
            <a:ext cx="21421724"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5" name="Google Shape;25;p3"/>
          <p:cNvSpPr txBox="1"/>
          <p:nvPr>
            <p:ph idx="8" type="body"/>
          </p:nvPr>
        </p:nvSpPr>
        <p:spPr>
          <a:xfrm>
            <a:off x="33185100" y="5267325"/>
            <a:ext cx="10201275"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6" name="Google Shape;26;p3"/>
          <p:cNvSpPr txBox="1"/>
          <p:nvPr>
            <p:ph idx="9" type="body"/>
          </p:nvPr>
        </p:nvSpPr>
        <p:spPr>
          <a:xfrm>
            <a:off x="33185099" y="6021370"/>
            <a:ext cx="10201275"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7" name="Google Shape;27;p3"/>
          <p:cNvSpPr txBox="1"/>
          <p:nvPr>
            <p:ph idx="13" type="body"/>
          </p:nvPr>
        </p:nvSpPr>
        <p:spPr>
          <a:xfrm>
            <a:off x="33185102" y="19751711"/>
            <a:ext cx="10201275"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8" name="Google Shape;28;p3"/>
          <p:cNvSpPr txBox="1"/>
          <p:nvPr>
            <p:ph idx="14" type="body"/>
          </p:nvPr>
        </p:nvSpPr>
        <p:spPr>
          <a:xfrm>
            <a:off x="33185101" y="20505756"/>
            <a:ext cx="10201275"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9" name="Google Shape;29;p3"/>
          <p:cNvSpPr txBox="1"/>
          <p:nvPr>
            <p:ph idx="15" type="body"/>
          </p:nvPr>
        </p:nvSpPr>
        <p:spPr>
          <a:xfrm>
            <a:off x="33185099" y="27421962"/>
            <a:ext cx="10201275" cy="677100"/>
          </a:xfrm>
          <a:prstGeom prst="rect">
            <a:avLst/>
          </a:prstGeom>
          <a:solidFill>
            <a:srgbClr val="1F3864"/>
          </a:solidFill>
          <a:ln>
            <a:noFill/>
          </a:ln>
        </p:spPr>
        <p:txBody>
          <a:bodyPr anchorCtr="0" anchor="t" bIns="91425" lIns="91425" spcFirstLastPara="1" rIns="91425" wrap="square" tIns="91425">
            <a:spAutoFit/>
          </a:bodyPr>
          <a:lstStyle>
            <a:lvl1pPr indent="-228600" lvl="0" marL="457200" marR="0" rtl="0" algn="ctr">
              <a:spcBef>
                <a:spcPts val="640"/>
              </a:spcBef>
              <a:spcAft>
                <a:spcPts val="0"/>
              </a:spcAft>
              <a:buClr>
                <a:schemeClr val="lt1"/>
              </a:buClr>
              <a:buSzPts val="3200"/>
              <a:buFont typeface="Arial"/>
              <a:buNone/>
              <a:defRPr b="1" i="0" sz="3200" u="none" cap="none" strike="noStrike">
                <a:solidFill>
                  <a:schemeClr val="lt1"/>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0" name="Google Shape;30;p3"/>
          <p:cNvSpPr txBox="1"/>
          <p:nvPr>
            <p:ph idx="16" type="body"/>
          </p:nvPr>
        </p:nvSpPr>
        <p:spPr>
          <a:xfrm>
            <a:off x="33185099" y="28268326"/>
            <a:ext cx="10201275"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1" name="Google Shape;31;p3"/>
          <p:cNvSpPr txBox="1"/>
          <p:nvPr>
            <p:ph idx="17" type="body"/>
          </p:nvPr>
        </p:nvSpPr>
        <p:spPr>
          <a:xfrm>
            <a:off x="527049" y="14951552"/>
            <a:ext cx="10201275" cy="769419"/>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400"/>
              </a:spcBef>
              <a:spcAft>
                <a:spcPts val="0"/>
              </a:spcAft>
              <a:buClr>
                <a:srgbClr val="1F3864"/>
              </a:buClr>
              <a:buSzPts val="2000"/>
              <a:buFont typeface="Arial"/>
              <a:buNone/>
              <a:defRPr b="0" i="0" sz="20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2" name="Google Shape;32;p3"/>
          <p:cNvSpPr txBox="1"/>
          <p:nvPr>
            <p:ph idx="18" type="body"/>
          </p:nvPr>
        </p:nvSpPr>
        <p:spPr>
          <a:xfrm>
            <a:off x="11224245" y="1438210"/>
            <a:ext cx="21421724" cy="769441"/>
          </a:xfrm>
          <a:prstGeom prst="rect">
            <a:avLst/>
          </a:prstGeom>
          <a:noFill/>
          <a:ln>
            <a:noFill/>
          </a:ln>
        </p:spPr>
        <p:txBody>
          <a:bodyPr anchorCtr="0" anchor="t" bIns="45700" lIns="91425" spcFirstLastPara="1" rIns="91425" wrap="square" tIns="45700">
            <a:spAutoFit/>
          </a:bodyPr>
          <a:lstStyle>
            <a:lvl1pPr indent="-228600" lvl="0" marL="457200" marR="0" rtl="0" algn="ctr">
              <a:spcBef>
                <a:spcPts val="880"/>
              </a:spcBef>
              <a:spcAft>
                <a:spcPts val="0"/>
              </a:spcAft>
              <a:buClr>
                <a:schemeClr val="lt1"/>
              </a:buClr>
              <a:buSzPts val="4400"/>
              <a:buFont typeface="Arial"/>
              <a:buNone/>
              <a:defRPr b="0" i="0" sz="4400" u="none" cap="none" strike="noStrike">
                <a:solidFill>
                  <a:schemeClr val="lt1"/>
                </a:solidFill>
                <a:latin typeface="Century Gothic"/>
                <a:ea typeface="Century Gothic"/>
                <a:cs typeface="Century Gothic"/>
                <a:sym typeface="Century Gothic"/>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3" name="Google Shape;33;p3"/>
          <p:cNvSpPr txBox="1"/>
          <p:nvPr>
            <p:ph idx="19" type="body"/>
          </p:nvPr>
        </p:nvSpPr>
        <p:spPr>
          <a:xfrm>
            <a:off x="11224245" y="2504523"/>
            <a:ext cx="21421724" cy="646331"/>
          </a:xfrm>
          <a:prstGeom prst="rect">
            <a:avLst/>
          </a:prstGeom>
          <a:noFill/>
          <a:ln>
            <a:noFill/>
          </a:ln>
        </p:spPr>
        <p:txBody>
          <a:bodyPr anchorCtr="0" anchor="t" bIns="45700" lIns="91425" spcFirstLastPara="1" rIns="91425" wrap="square" tIns="45700">
            <a:spAutoFit/>
          </a:bodyPr>
          <a:lstStyle>
            <a:lvl1pPr indent="-228600" lvl="0" marL="457200" marR="0" rtl="0" algn="ctr">
              <a:spcBef>
                <a:spcPts val="720"/>
              </a:spcBef>
              <a:spcAft>
                <a:spcPts val="0"/>
              </a:spcAft>
              <a:buClr>
                <a:schemeClr val="lt1"/>
              </a:buClr>
              <a:buSzPts val="3600"/>
              <a:buFont typeface="Arial"/>
              <a:buNone/>
              <a:defRPr b="0" i="0" sz="3600" u="none" cap="none" strike="noStrike">
                <a:solidFill>
                  <a:schemeClr val="lt1"/>
                </a:solidFill>
                <a:latin typeface="Century Gothic"/>
                <a:ea typeface="Century Gothic"/>
                <a:cs typeface="Century Gothic"/>
                <a:sym typeface="Century Gothic"/>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4" name="Google Shape;34;p3"/>
          <p:cNvSpPr txBox="1"/>
          <p:nvPr>
            <p:ph idx="20" type="body"/>
          </p:nvPr>
        </p:nvSpPr>
        <p:spPr>
          <a:xfrm>
            <a:off x="11224245" y="282188"/>
            <a:ext cx="21421724" cy="1015663"/>
          </a:xfrm>
          <a:prstGeom prst="rect">
            <a:avLst/>
          </a:prstGeom>
          <a:noFill/>
          <a:ln>
            <a:noFill/>
          </a:ln>
        </p:spPr>
        <p:txBody>
          <a:bodyPr anchorCtr="0" anchor="t" bIns="45700" lIns="91425" spcFirstLastPara="1" rIns="91425" wrap="square" tIns="45700">
            <a:spAutoFit/>
          </a:bodyPr>
          <a:lstStyle>
            <a:lvl1pPr indent="-228600" lvl="0" marL="457200" marR="0" rtl="0" algn="ctr">
              <a:spcBef>
                <a:spcPts val="1200"/>
              </a:spcBef>
              <a:spcAft>
                <a:spcPts val="0"/>
              </a:spcAft>
              <a:buClr>
                <a:schemeClr val="lt1"/>
              </a:buClr>
              <a:buSzPts val="6000"/>
              <a:buFont typeface="Arial"/>
              <a:buNone/>
              <a:defRPr b="1" i="0" sz="6000" u="none" cap="none" strike="noStrike">
                <a:solidFill>
                  <a:schemeClr val="lt1"/>
                </a:solidFill>
                <a:latin typeface="Century Gothic"/>
                <a:ea typeface="Century Gothic"/>
                <a:cs typeface="Century Gothic"/>
                <a:sym typeface="Century Gothic"/>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s://www.posterpresentations.com/how-to-change-the-research-poster-template-colors.html" TargetMode="External"/><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32077025"/>
            <a:ext cx="43929300" cy="1184275"/>
          </a:xfrm>
          <a:prstGeom prst="rect">
            <a:avLst/>
          </a:pr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1" name="Google Shape;11;p2"/>
          <p:cNvSpPr txBox="1"/>
          <p:nvPr/>
        </p:nvSpPr>
        <p:spPr>
          <a:xfrm>
            <a:off x="590553" y="32499697"/>
            <a:ext cx="2514600" cy="341436"/>
          </a:xfrm>
          <a:prstGeom prst="rect">
            <a:avLst/>
          </a:prstGeom>
          <a:noFill/>
          <a:ln>
            <a:noFill/>
          </a:ln>
        </p:spPr>
        <p:txBody>
          <a:bodyPr anchorCtr="0" anchor="t" bIns="45600" lIns="91250" spcFirstLastPara="1" rIns="91250" wrap="square" tIns="45600">
            <a:spAutoFit/>
          </a:bodyPr>
          <a:lstStyle/>
          <a:p>
            <a:pPr indent="0" lvl="0" marL="0" marR="0" rtl="0" algn="l">
              <a:lnSpc>
                <a:spcPct val="65000"/>
              </a:lnSpc>
              <a:spcBef>
                <a:spcPts val="0"/>
              </a:spcBef>
              <a:spcAft>
                <a:spcPts val="0"/>
              </a:spcAft>
              <a:buNone/>
            </a:pPr>
            <a:r>
              <a:rPr b="1" i="0" lang="en-US" sz="500" u="none" cap="none" strike="noStrike">
                <a:solidFill>
                  <a:srgbClr val="BFBFBF"/>
                </a:solidFill>
                <a:latin typeface="Arial"/>
                <a:ea typeface="Arial"/>
                <a:cs typeface="Arial"/>
                <a:sym typeface="Arial"/>
              </a:rPr>
              <a:t>RESEARCH POSTER PRESENTATION DESIGN © 2022</a:t>
            </a:r>
            <a:endParaRPr/>
          </a:p>
          <a:p>
            <a:pPr indent="0" lvl="0" marL="0" marR="0" rtl="0" algn="l">
              <a:lnSpc>
                <a:spcPct val="65000"/>
              </a:lnSpc>
              <a:spcBef>
                <a:spcPts val="550"/>
              </a:spcBef>
              <a:spcAft>
                <a:spcPts val="0"/>
              </a:spcAft>
              <a:buNone/>
            </a:pPr>
            <a:r>
              <a:rPr b="1" i="0" lang="en-US" sz="1100" u="none" cap="none" strike="noStrike">
                <a:solidFill>
                  <a:srgbClr val="BFBFBF"/>
                </a:solidFill>
                <a:latin typeface="Arial"/>
                <a:ea typeface="Arial"/>
                <a:cs typeface="Arial"/>
                <a:sym typeface="Arial"/>
              </a:rPr>
              <a:t>www.PosterPresentations.com</a:t>
            </a:r>
            <a:endParaRPr/>
          </a:p>
        </p:txBody>
      </p:sp>
      <p:graphicFrame>
        <p:nvGraphicFramePr>
          <p:cNvPr id="12" name="Google Shape;12;p2"/>
          <p:cNvGraphicFramePr/>
          <p:nvPr/>
        </p:nvGraphicFramePr>
        <p:xfrm>
          <a:off x="-10611120" y="14098"/>
          <a:ext cx="3000000" cy="3000000"/>
        </p:xfrm>
        <a:graphic>
          <a:graphicData uri="http://schemas.openxmlformats.org/drawingml/2006/table">
            <a:tbl>
              <a:tblPr bandRow="1" firstRow="1">
                <a:noFill/>
                <a:tableStyleId>{3C5D5CC7-609E-4DAD-A1AD-2E274C57FA60}</a:tableStyleId>
              </a:tblPr>
              <a:tblGrid>
                <a:gridCol w="4192250"/>
                <a:gridCol w="5584625"/>
              </a:tblGrid>
              <a:tr h="1329125">
                <a:tc gridSpan="2">
                  <a:txBody>
                    <a:bodyPr/>
                    <a:lstStyle/>
                    <a:p>
                      <a:pPr indent="0" lvl="0" marL="0" marR="0" rtl="0" algn="ctr">
                        <a:lnSpc>
                          <a:spcPct val="100000"/>
                        </a:lnSpc>
                        <a:spcBef>
                          <a:spcPts val="0"/>
                        </a:spcBef>
                        <a:spcAft>
                          <a:spcPts val="0"/>
                        </a:spcAft>
                        <a:buClr>
                          <a:srgbClr val="1F3A4E"/>
                        </a:buClr>
                        <a:buSzPts val="3600"/>
                        <a:buFont typeface="Arial Black"/>
                        <a:buNone/>
                      </a:pPr>
                      <a:r>
                        <a:rPr b="0" lang="en-US" sz="3600" u="none" cap="none" strike="noStrike">
                          <a:solidFill>
                            <a:srgbClr val="1F3A4E"/>
                          </a:solidFill>
                          <a:latin typeface="Arial Black"/>
                          <a:ea typeface="Arial Black"/>
                          <a:cs typeface="Arial Black"/>
                          <a:sym typeface="Arial Black"/>
                        </a:rPr>
                        <a:t>QUICK START GUIDE</a:t>
                      </a:r>
                      <a:br>
                        <a:rPr b="0" lang="en-US" sz="3600" u="none" cap="none" strike="noStrike">
                          <a:solidFill>
                            <a:srgbClr val="1F3A4E"/>
                          </a:solidFill>
                          <a:latin typeface="Arial Black"/>
                          <a:ea typeface="Arial Black"/>
                          <a:cs typeface="Arial Black"/>
                          <a:sym typeface="Arial Black"/>
                        </a:rPr>
                      </a:br>
                      <a:r>
                        <a:rPr b="1" lang="en-US" sz="2800" u="none" cap="none" strike="noStrike">
                          <a:solidFill>
                            <a:srgbClr val="FF0000"/>
                          </a:solidFill>
                          <a:latin typeface="Trebuchet MS"/>
                          <a:ea typeface="Trebuchet MS"/>
                          <a:cs typeface="Trebuchet MS"/>
                          <a:sym typeface="Trebuchet MS"/>
                        </a:rPr>
                        <a:t>(THIS SIDEBAR WILL NOT PRINT)</a:t>
                      </a:r>
                      <a:endParaRPr b="1" sz="3600" u="none" cap="none" strike="noStrike">
                        <a:solidFill>
                          <a:schemeClr val="lt1"/>
                        </a:solidFill>
                        <a:latin typeface="Trebuchet MS"/>
                        <a:ea typeface="Trebuchet MS"/>
                        <a:cs typeface="Trebuchet MS"/>
                        <a:sym typeface="Trebuchet MS"/>
                      </a:endParaRPr>
                    </a:p>
                  </a:txBody>
                  <a:tcPr marT="137150" marB="45725" marR="91450" marL="182875">
                    <a:solidFill>
                      <a:srgbClr val="FFC000"/>
                    </a:solidFill>
                  </a:tcPr>
                </a:tc>
                <a:tc hMerge="1"/>
              </a:tr>
              <a:tr h="4206625">
                <a:tc gridSpan="2">
                  <a:txBody>
                    <a:bodyPr/>
                    <a:lstStyle/>
                    <a:p>
                      <a:pPr indent="0" lvl="0" marL="0" marR="0" rtl="0" algn="l">
                        <a:spcBef>
                          <a:spcPts val="0"/>
                        </a:spcBef>
                        <a:spcAft>
                          <a:spcPts val="0"/>
                        </a:spcAft>
                        <a:buNone/>
                      </a:pPr>
                      <a:r>
                        <a:rPr i="0" lang="en-US" sz="2000" u="none" cap="none" strike="noStrike">
                          <a:solidFill>
                            <a:srgbClr val="D9D9D9"/>
                          </a:solidFill>
                          <a:latin typeface="Arial"/>
                          <a:ea typeface="Arial"/>
                          <a:cs typeface="Arial"/>
                          <a:sym typeface="Arial"/>
                        </a:rPr>
                        <a:t>This PowerPoint template produces a </a:t>
                      </a:r>
                      <a:r>
                        <a:rPr b="1" i="0" lang="en-US" sz="2000" u="none" cap="none" strike="noStrike">
                          <a:solidFill>
                            <a:srgbClr val="FFC000"/>
                          </a:solidFill>
                          <a:latin typeface="Arial"/>
                          <a:ea typeface="Arial"/>
                          <a:cs typeface="Arial"/>
                          <a:sym typeface="Arial"/>
                        </a:rPr>
                        <a:t>36"x48” Trifold </a:t>
                      </a:r>
                      <a:r>
                        <a:rPr i="0" lang="en-US" sz="2000" u="none" cap="none" strike="noStrike">
                          <a:solidFill>
                            <a:srgbClr val="D9D9D9"/>
                          </a:solidFill>
                          <a:latin typeface="Arial"/>
                          <a:ea typeface="Arial"/>
                          <a:cs typeface="Arial"/>
                          <a:sym typeface="Arial"/>
                        </a:rPr>
                        <a:t>presentation poster board. You can use it to create your research poster by placing your title, subtitle, text, tables, charts and photos. </a:t>
                      </a:r>
                      <a:endParaRPr/>
                    </a:p>
                    <a:p>
                      <a:pPr indent="0" lvl="0" marL="0" marR="0" rtl="0" algn="l">
                        <a:spcBef>
                          <a:spcPts val="0"/>
                        </a:spcBef>
                        <a:spcAft>
                          <a:spcPts val="0"/>
                        </a:spcAft>
                        <a:buNone/>
                      </a:pPr>
                      <a:r>
                        <a:t/>
                      </a:r>
                      <a:endParaRPr i="0" sz="20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i="0" lang="en-US" sz="2000" u="none" cap="none" strike="noStrik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i="0" lang="en-US" sz="2000" u="none" cap="none" strike="noStrike">
                          <a:solidFill>
                            <a:srgbClr val="FFC000"/>
                          </a:solidFill>
                          <a:latin typeface="Arial"/>
                          <a:ea typeface="Arial"/>
                          <a:cs typeface="Arial"/>
                          <a:sym typeface="Arial"/>
                        </a:rPr>
                        <a:t>PosterPresentations.com</a:t>
                      </a:r>
                      <a:r>
                        <a:rPr i="0" lang="en-US" sz="2000" u="none" cap="none" strike="noStrike">
                          <a:solidFill>
                            <a:srgbClr val="D9D9D9"/>
                          </a:solidFill>
                          <a:latin typeface="Arial"/>
                          <a:ea typeface="Arial"/>
                          <a:cs typeface="Arial"/>
                          <a:sym typeface="Arial"/>
                        </a:rPr>
                        <a:t> and click on the  </a:t>
                      </a:r>
                      <a:r>
                        <a:rPr i="0" lang="en-US" sz="2000" u="none" cap="none" strike="noStrike">
                          <a:solidFill>
                            <a:srgbClr val="FFC000"/>
                          </a:solidFill>
                          <a:latin typeface="Arial"/>
                          <a:ea typeface="Arial"/>
                          <a:cs typeface="Arial"/>
                          <a:sym typeface="Arial"/>
                        </a:rPr>
                        <a:t>HELP DESK</a:t>
                      </a:r>
                      <a:r>
                        <a:rPr i="0" lang="en-US" sz="2000" u="none" cap="none" strike="noStrike">
                          <a:solidFill>
                            <a:srgbClr val="D9D9D9"/>
                          </a:solidFill>
                          <a:latin typeface="Arial"/>
                          <a:ea typeface="Arial"/>
                          <a:cs typeface="Arial"/>
                          <a:sym typeface="Arial"/>
                        </a:rPr>
                        <a:t> tab.</a:t>
                      </a:r>
                      <a:endParaRPr/>
                    </a:p>
                    <a:p>
                      <a:pPr indent="0" lvl="0" marL="0" marR="0" rtl="0" algn="l">
                        <a:spcBef>
                          <a:spcPts val="0"/>
                        </a:spcBef>
                        <a:spcAft>
                          <a:spcPts val="0"/>
                        </a:spcAft>
                        <a:buNone/>
                      </a:pPr>
                      <a:r>
                        <a:t/>
                      </a:r>
                      <a:endParaRPr i="0" sz="20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i="0" lang="en-US" sz="2000" u="none" cap="none" strike="noStrike">
                          <a:solidFill>
                            <a:srgbClr val="D9D9D9"/>
                          </a:solidFill>
                          <a:latin typeface="Arial"/>
                          <a:ea typeface="Arial"/>
                          <a:cs typeface="Arial"/>
                          <a:sym typeface="Arial"/>
                        </a:rPr>
                        <a:t>To print your poster using our same-day professional printing service, go online to </a:t>
                      </a:r>
                      <a:r>
                        <a:rPr i="0" lang="en-US" sz="2000" u="none" cap="none" strike="noStrike">
                          <a:solidFill>
                            <a:srgbClr val="FFC000"/>
                          </a:solidFill>
                          <a:latin typeface="Arial"/>
                          <a:ea typeface="Arial"/>
                          <a:cs typeface="Arial"/>
                          <a:sym typeface="Arial"/>
                        </a:rPr>
                        <a:t>PosterPresentations.com</a:t>
                      </a:r>
                      <a:r>
                        <a:rPr i="0" lang="en-US" sz="2000" u="none" cap="none" strike="noStrike">
                          <a:solidFill>
                            <a:srgbClr val="D9D9D9"/>
                          </a:solidFill>
                          <a:latin typeface="Arial"/>
                          <a:ea typeface="Arial"/>
                          <a:cs typeface="Arial"/>
                          <a:sym typeface="Arial"/>
                        </a:rPr>
                        <a:t> and click on "</a:t>
                      </a:r>
                      <a:r>
                        <a:rPr i="0" lang="en-US" sz="2000" u="none" cap="none" strike="noStrike">
                          <a:solidFill>
                            <a:srgbClr val="FFC000"/>
                          </a:solidFill>
                          <a:latin typeface="Arial"/>
                          <a:ea typeface="Arial"/>
                          <a:cs typeface="Arial"/>
                          <a:sym typeface="Arial"/>
                        </a:rPr>
                        <a:t>Order your poster</a:t>
                      </a:r>
                      <a:r>
                        <a:rPr i="0" lang="en-US" sz="2000" u="none" cap="none" strike="noStrike">
                          <a:solidFill>
                            <a:srgbClr val="D9D9D9"/>
                          </a:solidFill>
                          <a:latin typeface="Arial"/>
                          <a:ea typeface="Arial"/>
                          <a:cs typeface="Arial"/>
                          <a:sym typeface="Arial"/>
                        </a:rPr>
                        <a:t>".</a:t>
                      </a:r>
                      <a:endParaRPr b="1" sz="2000" u="none" cap="none" strike="noStrike">
                        <a:solidFill>
                          <a:srgbClr val="D9D9D9"/>
                        </a:solidFill>
                        <a:latin typeface="Arial"/>
                        <a:ea typeface="Arial"/>
                        <a:cs typeface="Arial"/>
                        <a:sym typeface="Arial"/>
                      </a:endParaRPr>
                    </a:p>
                  </a:txBody>
                  <a:tcPr marT="137150" marB="45725" marR="91450" marL="182875">
                    <a:solidFill>
                      <a:srgbClr val="010101"/>
                    </a:solidFill>
                  </a:tcPr>
                </a:tc>
                <a:tc hMerge="1"/>
              </a:tr>
              <a:tr h="4644025">
                <a:tc>
                  <a:txBody>
                    <a:bodyPr/>
                    <a:lstStyle/>
                    <a:p>
                      <a:pPr indent="0" lvl="0" marL="0" marR="0" rtl="0" algn="ctr">
                        <a:spcBef>
                          <a:spcPts val="0"/>
                        </a:spcBef>
                        <a:spcAft>
                          <a:spcPts val="0"/>
                        </a:spcAft>
                        <a:buNone/>
                      </a:pPr>
                      <a:r>
                        <a:t/>
                      </a:r>
                      <a:endParaRPr sz="2000" u="none" cap="none" strike="noStrike">
                        <a:solidFill>
                          <a:srgbClr val="1F3A4E"/>
                        </a:solidFill>
                      </a:endParaRPr>
                    </a:p>
                    <a:p>
                      <a:pPr indent="0" lvl="0" marL="0" marR="0" rtl="0" algn="ctr">
                        <a:spcBef>
                          <a:spcPts val="0"/>
                        </a:spcBef>
                        <a:spcAft>
                          <a:spcPts val="0"/>
                        </a:spcAft>
                        <a:buNone/>
                      </a:pPr>
                      <a:r>
                        <a:t/>
                      </a:r>
                      <a:endParaRPr sz="2000" u="none" cap="none" strike="noStrike">
                        <a:solidFill>
                          <a:srgbClr val="1F3A4E"/>
                        </a:solidFill>
                      </a:endParaRPr>
                    </a:p>
                    <a:p>
                      <a:pPr indent="0" lvl="0" marL="0" marR="0" rtl="0" algn="ctr">
                        <a:spcBef>
                          <a:spcPts val="0"/>
                        </a:spcBef>
                        <a:spcAft>
                          <a:spcPts val="0"/>
                        </a:spcAft>
                        <a:buNone/>
                      </a:pPr>
                      <a:r>
                        <a:rPr lang="en-US" sz="2000" u="none" cap="none" strike="noStrike">
                          <a:solidFill>
                            <a:schemeClr val="lt1"/>
                          </a:solidFill>
                          <a:latin typeface="Arial"/>
                          <a:ea typeface="Arial"/>
                          <a:cs typeface="Arial"/>
                          <a:sym typeface="Arial"/>
                        </a:rPr>
                        <a:t>This is a poster template for a </a:t>
                      </a:r>
                      <a:br>
                        <a:rPr lang="en-US" sz="2000" u="none" cap="none" strike="noStrike">
                          <a:solidFill>
                            <a:schemeClr val="lt1"/>
                          </a:solidFill>
                          <a:latin typeface="Arial"/>
                          <a:ea typeface="Arial"/>
                          <a:cs typeface="Arial"/>
                          <a:sym typeface="Arial"/>
                        </a:rPr>
                      </a:br>
                      <a:r>
                        <a:rPr b="1" lang="en-US" sz="4800" u="none" cap="none" strike="noStrike">
                          <a:solidFill>
                            <a:srgbClr val="FFC000"/>
                          </a:solidFill>
                          <a:latin typeface="Arial"/>
                          <a:ea typeface="Arial"/>
                          <a:cs typeface="Arial"/>
                          <a:sym typeface="Arial"/>
                        </a:rPr>
                        <a:t>TRIFOLD</a:t>
                      </a:r>
                      <a:br>
                        <a:rPr b="1" lang="en-US" sz="3600" u="none" cap="none" strike="noStrike">
                          <a:solidFill>
                            <a:srgbClr val="FFC000"/>
                          </a:solidFill>
                          <a:latin typeface="Arial"/>
                          <a:ea typeface="Arial"/>
                          <a:cs typeface="Arial"/>
                          <a:sym typeface="Arial"/>
                        </a:rPr>
                      </a:br>
                      <a:r>
                        <a:rPr b="1" lang="en-US" sz="2000" u="none" cap="none" strike="noStrike">
                          <a:solidFill>
                            <a:srgbClr val="FFC000"/>
                          </a:solidFill>
                          <a:latin typeface="Arial"/>
                          <a:ea typeface="Arial"/>
                          <a:cs typeface="Arial"/>
                          <a:sym typeface="Arial"/>
                        </a:rPr>
                        <a:t>(3 feet tall by 4 feet wide)</a:t>
                      </a:r>
                      <a:br>
                        <a:rPr lang="en-US" sz="2000" u="none" cap="none" strike="noStrike">
                          <a:solidFill>
                            <a:schemeClr val="lt1"/>
                          </a:solidFill>
                          <a:latin typeface="Arial"/>
                          <a:ea typeface="Arial"/>
                          <a:cs typeface="Arial"/>
                          <a:sym typeface="Arial"/>
                        </a:rPr>
                      </a:br>
                      <a:r>
                        <a:rPr lang="en-US" sz="2000" u="none" cap="none" strike="noStrike">
                          <a:solidFill>
                            <a:schemeClr val="lt1"/>
                          </a:solidFill>
                          <a:latin typeface="Arial"/>
                          <a:ea typeface="Arial"/>
                          <a:cs typeface="Arial"/>
                          <a:sym typeface="Arial"/>
                        </a:rPr>
                        <a:t>presentation board</a:t>
                      </a:r>
                      <a:endParaRPr/>
                    </a:p>
                    <a:p>
                      <a:pPr indent="0" lvl="0" marL="0" marR="0" rtl="0" algn="l">
                        <a:spcBef>
                          <a:spcPts val="0"/>
                        </a:spcBef>
                        <a:spcAft>
                          <a:spcPts val="0"/>
                        </a:spcAft>
                        <a:buNone/>
                      </a:pPr>
                      <a:r>
                        <a:t/>
                      </a:r>
                      <a:endParaRPr sz="2000">
                        <a:solidFill>
                          <a:srgbClr val="1F3A4E"/>
                        </a:solidFill>
                      </a:endParaRPr>
                    </a:p>
                  </a:txBody>
                  <a:tcPr marT="45725" marB="45725" marR="91450" marL="91450">
                    <a:solidFill>
                      <a:srgbClr val="010101"/>
                    </a:solidFill>
                  </a:tcPr>
                </a:tc>
                <a:tc>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Important: Check the template size</a:t>
                      </a:r>
                      <a:br>
                        <a:rPr b="0" lang="en-US" sz="2000">
                          <a:solidFill>
                            <a:srgbClr val="FFC000"/>
                          </a:solidFill>
                          <a:latin typeface="Arial"/>
                          <a:ea typeface="Arial"/>
                          <a:cs typeface="Arial"/>
                          <a:sym typeface="Arial"/>
                        </a:rPr>
                      </a:br>
                      <a:r>
                        <a:rPr b="0" lang="en-US" sz="2000">
                          <a:solidFill>
                            <a:srgbClr val="D9D9D9"/>
                          </a:solidFill>
                          <a:latin typeface="Arial"/>
                          <a:ea typeface="Arial"/>
                          <a:cs typeface="Arial"/>
                          <a:sym typeface="Arial"/>
                        </a:rPr>
                        <a:t>Before you start working on your poster and to avoid printing problems check that you have downloaded and you are using the correct size template for your poster presentation.</a:t>
                      </a:r>
                      <a:br>
                        <a:rPr b="0" lang="en-US" sz="2000">
                          <a:solidFill>
                            <a:srgbClr val="D9D9D9"/>
                          </a:solidFill>
                          <a:latin typeface="Arial"/>
                          <a:ea typeface="Arial"/>
                          <a:cs typeface="Arial"/>
                          <a:sym typeface="Arial"/>
                        </a:rPr>
                      </a:br>
                      <a:endParaRPr b="0" sz="2000">
                        <a:solidFill>
                          <a:srgbClr val="FFC000"/>
                        </a:solidFill>
                        <a:latin typeface="Arial"/>
                        <a:ea typeface="Arial"/>
                        <a:cs typeface="Arial"/>
                        <a:sym typeface="Arial"/>
                      </a:endParaRPr>
                    </a:p>
                  </a:txBody>
                  <a:tcPr marT="137150" marB="45725" marR="91450" marL="182875">
                    <a:solidFill>
                      <a:srgbClr val="010101"/>
                    </a:solidFill>
                  </a:tcPr>
                </a:tc>
              </a:tr>
              <a:tr h="4288700">
                <a:tc>
                  <a:txBody>
                    <a:bodyPr/>
                    <a:lstStyle/>
                    <a:p>
                      <a:pPr indent="0" lvl="0" marL="0" marR="0" rtl="0" algn="l">
                        <a:spcBef>
                          <a:spcPts val="0"/>
                        </a:spcBef>
                        <a:spcAft>
                          <a:spcPts val="0"/>
                        </a:spcAft>
                        <a:buNone/>
                      </a:pPr>
                      <a:r>
                        <a:t/>
                      </a:r>
                      <a:endParaRPr sz="2000">
                        <a:solidFill>
                          <a:srgbClr val="1F3A4E"/>
                        </a:solidFill>
                      </a:endParaRPr>
                    </a:p>
                  </a:txBody>
                  <a:tcPr marT="45725" marB="45725" marR="91450" marL="91450"/>
                </a:tc>
                <a:tc>
                  <a:txBody>
                    <a:bodyPr/>
                    <a:lstStyle/>
                    <a:p>
                      <a:pPr indent="0" lvl="0" marL="0" marR="0" rtl="0" algn="l">
                        <a:spcBef>
                          <a:spcPts val="0"/>
                        </a:spcBef>
                        <a:spcAft>
                          <a:spcPts val="0"/>
                        </a:spcAft>
                        <a:buNone/>
                      </a:pPr>
                      <a:r>
                        <a:rPr b="1" lang="en-US" sz="2400">
                          <a:solidFill>
                            <a:srgbClr val="FFC000"/>
                          </a:solidFill>
                          <a:latin typeface="Arial"/>
                          <a:ea typeface="Arial"/>
                          <a:cs typeface="Arial"/>
                          <a:sym typeface="Arial"/>
                        </a:rPr>
                        <a:t>How to </a:t>
                      </a:r>
                      <a:r>
                        <a:rPr b="1" lang="en-US" sz="4000">
                          <a:solidFill>
                            <a:srgbClr val="FFC000"/>
                          </a:solidFill>
                          <a:latin typeface="Arial"/>
                          <a:ea typeface="Arial"/>
                          <a:cs typeface="Arial"/>
                          <a:sym typeface="Arial"/>
                        </a:rPr>
                        <a:t>Zoom in </a:t>
                      </a:r>
                      <a:r>
                        <a:rPr b="1" lang="en-US" sz="2400">
                          <a:solidFill>
                            <a:srgbClr val="FFC000"/>
                          </a:solidFill>
                          <a:latin typeface="Arial"/>
                          <a:ea typeface="Arial"/>
                          <a:cs typeface="Arial"/>
                          <a:sym typeface="Arial"/>
                        </a:rPr>
                        <a:t>and </a:t>
                      </a:r>
                      <a:r>
                        <a:rPr b="1" lang="en-US" sz="1800">
                          <a:solidFill>
                            <a:srgbClr val="FFC000"/>
                          </a:solidFill>
                          <a:latin typeface="Arial"/>
                          <a:ea typeface="Arial"/>
                          <a:cs typeface="Arial"/>
                          <a:sym typeface="Arial"/>
                        </a:rPr>
                        <a:t>out</a:t>
                      </a:r>
                      <a:endParaRPr b="1" sz="2400">
                        <a:solidFill>
                          <a:srgbClr val="FFC000"/>
                        </a:solidFill>
                        <a:latin typeface="Arial"/>
                        <a:ea typeface="Arial"/>
                        <a:cs typeface="Arial"/>
                        <a:sym typeface="Arial"/>
                      </a:endParaRPr>
                    </a:p>
                    <a:p>
                      <a:pPr indent="0" lvl="0" marL="0" marR="0" rtl="0" algn="l">
                        <a:spcBef>
                          <a:spcPts val="0"/>
                        </a:spcBef>
                        <a:spcAft>
                          <a:spcPts val="0"/>
                        </a:spcAft>
                        <a:buNone/>
                      </a:pPr>
                      <a:r>
                        <a:rPr b="0" lang="en-US" sz="2000">
                          <a:solidFill>
                            <a:srgbClr val="D9D9D9"/>
                          </a:solidFill>
                          <a:latin typeface="Arial"/>
                          <a:ea typeface="Arial"/>
                          <a:cs typeface="Arial"/>
                          <a:sym typeface="Arial"/>
                        </a:rPr>
                        <a:t>Use the PowerPoint zoom tool to adjust the screen magnification to view comfortably. PowerPoint provides 2 ways to zoom: </a:t>
                      </a:r>
                      <a:br>
                        <a:rPr b="0" lang="en-US" sz="2000">
                          <a:solidFill>
                            <a:srgbClr val="D9D9D9"/>
                          </a:solidFill>
                          <a:latin typeface="Arial"/>
                          <a:ea typeface="Arial"/>
                          <a:cs typeface="Arial"/>
                          <a:sym typeface="Arial"/>
                        </a:rPr>
                      </a:br>
                      <a:r>
                        <a:rPr b="0" lang="en-US" sz="2000">
                          <a:solidFill>
                            <a:srgbClr val="FFC000"/>
                          </a:solidFill>
                          <a:latin typeface="Arial"/>
                          <a:ea typeface="Arial"/>
                          <a:cs typeface="Arial"/>
                          <a:sym typeface="Arial"/>
                        </a:rPr>
                        <a:t>1. </a:t>
                      </a:r>
                      <a:r>
                        <a:rPr b="0" lang="en-US" sz="2000">
                          <a:solidFill>
                            <a:srgbClr val="D9D9D9"/>
                          </a:solidFill>
                          <a:latin typeface="Arial"/>
                          <a:ea typeface="Arial"/>
                          <a:cs typeface="Arial"/>
                          <a:sym typeface="Arial"/>
                        </a:rPr>
                        <a:t>On the top menu bar click on the VIEW tab and then click on ZOOM. Choose the zoom percentage that works best for you. </a:t>
                      </a:r>
                      <a:br>
                        <a:rPr b="0" lang="en-US" sz="2000">
                          <a:solidFill>
                            <a:srgbClr val="D9D9D9"/>
                          </a:solidFill>
                          <a:latin typeface="Arial"/>
                          <a:ea typeface="Arial"/>
                          <a:cs typeface="Arial"/>
                          <a:sym typeface="Arial"/>
                        </a:rPr>
                      </a:br>
                      <a:r>
                        <a:rPr b="0" lang="en-US" sz="2000">
                          <a:solidFill>
                            <a:srgbClr val="FFC000"/>
                          </a:solidFill>
                          <a:latin typeface="Arial"/>
                          <a:ea typeface="Arial"/>
                          <a:cs typeface="Arial"/>
                          <a:sym typeface="Arial"/>
                        </a:rPr>
                        <a:t>2. </a:t>
                      </a:r>
                      <a:r>
                        <a:rPr b="0" lang="en-US" sz="2000">
                          <a:solidFill>
                            <a:srgbClr val="D9D9D9"/>
                          </a:solidFill>
                          <a:latin typeface="Arial"/>
                          <a:ea typeface="Arial"/>
                          <a:cs typeface="Arial"/>
                          <a:sym typeface="Arial"/>
                        </a:rPr>
                        <a:t>For better zoom flexibility, use the zoom slider at the bottom right of the window.</a:t>
                      </a:r>
                      <a:endParaRPr/>
                    </a:p>
                  </a:txBody>
                  <a:tcPr marT="137150" marB="45725" marR="91450" marL="182875">
                    <a:solidFill>
                      <a:srgbClr val="010101"/>
                    </a:solidFill>
                  </a:tcPr>
                </a:tc>
              </a:tr>
              <a:tr h="1800525">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Ruler and Guides</a:t>
                      </a:r>
                      <a:br>
                        <a:rPr b="0" lang="en-US" sz="2000">
                          <a:solidFill>
                            <a:srgbClr val="FFC000"/>
                          </a:solidFill>
                          <a:latin typeface="Arial"/>
                          <a:ea typeface="Arial"/>
                          <a:cs typeface="Arial"/>
                          <a:sym typeface="Arial"/>
                        </a:rPr>
                      </a:br>
                      <a:r>
                        <a:rPr b="0" lang="en-US" sz="200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T="45725" marB="45725" marR="91450" marL="91450">
                    <a:solidFill>
                      <a:srgbClr val="010101"/>
                    </a:solidFill>
                  </a:tcPr>
                </a:tc>
                <a:tc hMerge="1"/>
              </a:tr>
              <a:tr h="3824350">
                <a:tc>
                  <a:txBody>
                    <a:bodyPr/>
                    <a:lstStyle/>
                    <a:p>
                      <a:pPr indent="0" lvl="0" marL="0" marR="0" rtl="0" algn="l">
                        <a:spcBef>
                          <a:spcPts val="0"/>
                        </a:spcBef>
                        <a:spcAft>
                          <a:spcPts val="0"/>
                        </a:spcAft>
                        <a:buNone/>
                      </a:pPr>
                      <a:r>
                        <a:t/>
                      </a:r>
                      <a:endParaRPr sz="2000">
                        <a:solidFill>
                          <a:srgbClr val="1F3A4E"/>
                        </a:solidFill>
                      </a:endParaRPr>
                    </a:p>
                  </a:txBody>
                  <a:tcPr marT="45725" marB="45725" marR="91450" marL="91450"/>
                </a:tc>
                <a:tc>
                  <a:txBody>
                    <a:bodyPr/>
                    <a:lstStyle/>
                    <a:p>
                      <a:pPr indent="0" lvl="1" marL="0" marR="0" rtl="0" algn="l">
                        <a:spcBef>
                          <a:spcPts val="0"/>
                        </a:spcBef>
                        <a:spcAft>
                          <a:spcPts val="0"/>
                        </a:spcAft>
                        <a:buNone/>
                      </a:pPr>
                      <a:r>
                        <a:rPr b="1" lang="en-US" sz="2400" u="none" cap="none" strike="noStrike">
                          <a:solidFill>
                            <a:srgbClr val="FFC000"/>
                          </a:solidFill>
                          <a:latin typeface="Arial"/>
                          <a:ea typeface="Arial"/>
                          <a:cs typeface="Arial"/>
                          <a:sym typeface="Arial"/>
                        </a:rPr>
                        <a:t>Headers and text containers</a:t>
                      </a:r>
                      <a:br>
                        <a:rPr b="0" lang="en-US" sz="2000" u="none" cap="none" strike="noStrike">
                          <a:solidFill>
                            <a:schemeClr val="lt1"/>
                          </a:solidFill>
                          <a:latin typeface="Arial"/>
                          <a:ea typeface="Arial"/>
                          <a:cs typeface="Arial"/>
                          <a:sym typeface="Arial"/>
                        </a:rPr>
                      </a:br>
                      <a:r>
                        <a:rPr b="0" lang="en-US" sz="2000" u="none" cap="none" strike="noStrike">
                          <a:solidFill>
                            <a:srgbClr val="D9D9D9"/>
                          </a:solidFill>
                          <a:latin typeface="Arial"/>
                          <a:ea typeface="Arial"/>
                          <a:cs typeface="Arial"/>
                          <a:sym typeface="Arial"/>
                        </a:rPr>
                        <a:t>Included in this template are commonly used section headers such as Abstract, Objectives, Methods, Results, etc. </a:t>
                      </a:r>
                      <a:br>
                        <a:rPr b="0" lang="en-US" sz="2000" u="none" cap="none" strike="noStrike">
                          <a:solidFill>
                            <a:schemeClr val="lt1"/>
                          </a:solidFill>
                          <a:latin typeface="Arial"/>
                          <a:ea typeface="Arial"/>
                          <a:cs typeface="Arial"/>
                          <a:sym typeface="Arial"/>
                        </a:rPr>
                      </a:br>
                      <a:r>
                        <a:rPr b="0" lang="en-US" sz="2000" u="none" cap="none" strike="noStrike">
                          <a:solidFill>
                            <a:srgbClr val="FFC000"/>
                          </a:solidFill>
                          <a:latin typeface="Arial"/>
                          <a:ea typeface="Arial"/>
                          <a:cs typeface="Arial"/>
                          <a:sym typeface="Arial"/>
                        </a:rPr>
                        <a:t>-</a:t>
                      </a:r>
                      <a:r>
                        <a:rPr b="0" lang="en-US" sz="2000" u="none" cap="none" strike="noStrike">
                          <a:solidFill>
                            <a:schemeClr val="lt1"/>
                          </a:solidFill>
                          <a:latin typeface="Arial"/>
                          <a:ea typeface="Arial"/>
                          <a:cs typeface="Arial"/>
                          <a:sym typeface="Arial"/>
                        </a:rPr>
                        <a:t> </a:t>
                      </a:r>
                      <a:r>
                        <a:rPr b="0" lang="en-US" sz="2000" u="none" cap="none" strike="noStrike">
                          <a:solidFill>
                            <a:srgbClr val="D9D9D9"/>
                          </a:solidFill>
                          <a:latin typeface="Arial"/>
                          <a:ea typeface="Arial"/>
                          <a:cs typeface="Arial"/>
                          <a:sym typeface="Arial"/>
                        </a:rPr>
                        <a:t>Click inside a section header to add its text. </a:t>
                      </a:r>
                      <a:br>
                        <a:rPr b="0" lang="en-US" sz="2000" u="none" cap="none" strike="noStrike">
                          <a:solidFill>
                            <a:schemeClr val="lt1"/>
                          </a:solidFill>
                          <a:latin typeface="Arial"/>
                          <a:ea typeface="Arial"/>
                          <a:cs typeface="Arial"/>
                          <a:sym typeface="Arial"/>
                        </a:rPr>
                      </a:br>
                      <a:r>
                        <a:rPr b="0" lang="en-US" sz="2000" u="none" cap="none" strike="noStrike">
                          <a:solidFill>
                            <a:srgbClr val="FFC000"/>
                          </a:solidFill>
                          <a:latin typeface="Arial"/>
                          <a:ea typeface="Arial"/>
                          <a:cs typeface="Arial"/>
                          <a:sym typeface="Arial"/>
                        </a:rPr>
                        <a:t>-</a:t>
                      </a:r>
                      <a:r>
                        <a:rPr b="0" lang="en-US" sz="2000" u="none" cap="none" strike="noStrike">
                          <a:solidFill>
                            <a:schemeClr val="lt1"/>
                          </a:solidFill>
                          <a:latin typeface="Arial"/>
                          <a:ea typeface="Arial"/>
                          <a:cs typeface="Arial"/>
                          <a:sym typeface="Arial"/>
                        </a:rPr>
                        <a:t> </a:t>
                      </a:r>
                      <a:r>
                        <a:rPr b="0" lang="en-US" sz="2000" u="none" cap="none" strike="noStrike">
                          <a:solidFill>
                            <a:srgbClr val="D9D9D9"/>
                          </a:solidFill>
                          <a:latin typeface="Arial"/>
                          <a:ea typeface="Arial"/>
                          <a:cs typeface="Arial"/>
                          <a:sym typeface="Arial"/>
                        </a:rPr>
                        <a:t>To add another header, click on edge of the section box so that it is outlined. Copy and paste it. </a:t>
                      </a:r>
                      <a:br>
                        <a:rPr b="0" lang="en-US" sz="2000" u="none" cap="none" strike="noStrike">
                          <a:solidFill>
                            <a:schemeClr val="lt1"/>
                          </a:solidFill>
                          <a:latin typeface="Arial"/>
                          <a:ea typeface="Arial"/>
                          <a:cs typeface="Arial"/>
                          <a:sym typeface="Arial"/>
                        </a:rPr>
                      </a:br>
                      <a:r>
                        <a:rPr b="0" lang="en-US" sz="2000" u="none" cap="none" strike="noStrike">
                          <a:solidFill>
                            <a:srgbClr val="FFC000"/>
                          </a:solidFill>
                          <a:latin typeface="Arial"/>
                          <a:ea typeface="Arial"/>
                          <a:cs typeface="Arial"/>
                          <a:sym typeface="Arial"/>
                        </a:rPr>
                        <a:t>-</a:t>
                      </a:r>
                      <a:r>
                        <a:rPr b="0" lang="en-US" sz="2000" u="none" cap="none" strike="noStrike">
                          <a:solidFill>
                            <a:schemeClr val="lt1"/>
                          </a:solidFill>
                          <a:latin typeface="Arial"/>
                          <a:ea typeface="Arial"/>
                          <a:cs typeface="Arial"/>
                          <a:sym typeface="Arial"/>
                        </a:rPr>
                        <a:t> </a:t>
                      </a:r>
                      <a:r>
                        <a:rPr b="0" lang="en-US" sz="2000" u="none" cap="none" strike="noStrike">
                          <a:solidFill>
                            <a:srgbClr val="D9D9D9"/>
                          </a:solidFill>
                          <a:latin typeface="Arial"/>
                          <a:ea typeface="Arial"/>
                          <a:cs typeface="Arial"/>
                          <a:sym typeface="Arial"/>
                        </a:rPr>
                        <a:t>To increase its size, click on the white circles and expand to the the desired size.</a:t>
                      </a:r>
                      <a:endParaRPr/>
                    </a:p>
                  </a:txBody>
                  <a:tcPr marT="137150" marB="45725" marR="91450" marL="182875">
                    <a:solidFill>
                      <a:srgbClr val="010101"/>
                    </a:solidFill>
                  </a:tcPr>
                </a:tc>
              </a:tr>
              <a:tr h="3519125">
                <a:tc gridSpan="2">
                  <a:txBody>
                    <a:bodyPr/>
                    <a:lstStyle/>
                    <a:p>
                      <a:pPr indent="0" lvl="0" marL="0" marR="0" rtl="0" algn="l">
                        <a:spcBef>
                          <a:spcPts val="0"/>
                        </a:spcBef>
                        <a:spcAft>
                          <a:spcPts val="0"/>
                        </a:spcAft>
                        <a:buNone/>
                      </a:pPr>
                      <a:r>
                        <a:rPr b="1" lang="en-US" sz="2400">
                          <a:solidFill>
                            <a:srgbClr val="FFC000"/>
                          </a:solidFill>
                          <a:latin typeface="Arial"/>
                          <a:ea typeface="Arial"/>
                          <a:cs typeface="Arial"/>
                          <a:sym typeface="Arial"/>
                        </a:rPr>
                        <a:t>Adding content to the poster</a:t>
                      </a:r>
                      <a:endParaRPr/>
                    </a:p>
                    <a:p>
                      <a:pPr indent="0" lvl="0" marL="0" marR="0" rtl="0" algn="l">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indent="-342900" lvl="0" marL="342900" marR="0" rtl="0" algn="l">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T="45725" marB="45725" marR="91450" marL="91450">
                    <a:solidFill>
                      <a:srgbClr val="010101"/>
                    </a:solidFill>
                  </a:tcPr>
                </a:tc>
                <a:tc hMerge="1"/>
              </a:tr>
              <a:tr h="2377650">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Photos</a:t>
                      </a:r>
                      <a:endParaRPr/>
                    </a:p>
                    <a:p>
                      <a:pPr indent="0" lvl="0" marL="0" marR="0" rtl="0" algn="l">
                        <a:lnSpc>
                          <a:spcPct val="100000"/>
                        </a:lnSpc>
                        <a:spcBef>
                          <a:spcPts val="0"/>
                        </a:spcBef>
                        <a:spcAft>
                          <a:spcPts val="0"/>
                        </a:spcAft>
                        <a:buClr>
                          <a:srgbClr val="D9D9D9"/>
                        </a:buClr>
                        <a:buSzPts val="2000"/>
                        <a:buFont typeface="Arial"/>
                        <a:buNone/>
                      </a:pPr>
                      <a:r>
                        <a:rPr b="0" i="0" lang="en-US" sz="2000" u="none" cap="none" strike="noStrik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T="137150" marB="45725" marR="91450" marL="182875">
                    <a:solidFill>
                      <a:srgbClr val="010101"/>
                    </a:solidFill>
                  </a:tcPr>
                </a:tc>
                <a:tc hMerge="1"/>
              </a:tr>
              <a:tr h="2293175">
                <a:tc gridSpan="2">
                  <a:txBody>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a:txBody>
                  <a:tcPr marT="137150" marB="45725" marR="91450" marL="182875"/>
                </a:tc>
                <a:tc hMerge="1"/>
              </a:tr>
              <a:tr h="1280275">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Quality check your graphics</a:t>
                      </a:r>
                      <a:endParaRPr/>
                    </a:p>
                    <a:p>
                      <a:pPr indent="0" lvl="0" marL="0" marR="0" rtl="0" algn="l">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T="137150" marB="45725" marR="91450" marL="182875">
                    <a:solidFill>
                      <a:srgbClr val="010101"/>
                    </a:solidFill>
                  </a:tcPr>
                </a:tc>
                <a:tc hMerge="1"/>
              </a:tr>
              <a:tr h="3187275">
                <a:tc gridSpan="2">
                  <a:txBody>
                    <a:bodyPr/>
                    <a:lstStyle/>
                    <a:p>
                      <a:pPr indent="0" lvl="0" marL="0" marR="0" rtl="0" algn="l">
                        <a:lnSpc>
                          <a:spcPct val="100000"/>
                        </a:lnSpc>
                        <a:spcBef>
                          <a:spcPts val="0"/>
                        </a:spcBef>
                        <a:spcAft>
                          <a:spcPts val="0"/>
                        </a:spcAft>
                        <a:buClr>
                          <a:schemeClr val="dk1"/>
                        </a:buClr>
                        <a:buSzPts val="2000"/>
                        <a:buFont typeface="Calibri"/>
                        <a:buNone/>
                      </a:pPr>
                      <a:r>
                        <a:t/>
                      </a:r>
                      <a:endParaRPr sz="2000">
                        <a:solidFill>
                          <a:schemeClr val="lt1"/>
                        </a:solidFill>
                        <a:latin typeface="Arial"/>
                        <a:ea typeface="Arial"/>
                        <a:cs typeface="Arial"/>
                        <a:sym typeface="Arial"/>
                      </a:endParaRPr>
                    </a:p>
                  </a:txBody>
                  <a:tcPr marT="137150" marB="45725" marR="91450" marL="182875"/>
                </a:tc>
                <a:tc hMerge="1"/>
              </a:tr>
            </a:tbl>
          </a:graphicData>
        </a:graphic>
      </p:graphicFrame>
      <p:graphicFrame>
        <p:nvGraphicFramePr>
          <p:cNvPr id="13" name="Google Shape;13;p2"/>
          <p:cNvGraphicFramePr/>
          <p:nvPr/>
        </p:nvGraphicFramePr>
        <p:xfrm>
          <a:off x="44695229" y="-84749"/>
          <a:ext cx="3000000" cy="3000000"/>
        </p:xfrm>
        <a:graphic>
          <a:graphicData uri="http://schemas.openxmlformats.org/drawingml/2006/table">
            <a:tbl>
              <a:tblPr bandRow="1" firstRow="1">
                <a:noFill/>
                <a:tableStyleId>{3C5D5CC7-609E-4DAD-A1AD-2E274C57FA60}</a:tableStyleId>
              </a:tblPr>
              <a:tblGrid>
                <a:gridCol w="3343825"/>
                <a:gridCol w="1381550"/>
                <a:gridCol w="4704800"/>
              </a:tblGrid>
              <a:tr h="1756425">
                <a:tc gridSpan="3">
                  <a:txBody>
                    <a:bodyPr/>
                    <a:lstStyle/>
                    <a:p>
                      <a:pPr indent="0" lvl="0" marL="0" marR="0" rtl="0" algn="ctr">
                        <a:lnSpc>
                          <a:spcPct val="100000"/>
                        </a:lnSpc>
                        <a:spcBef>
                          <a:spcPts val="0"/>
                        </a:spcBef>
                        <a:spcAft>
                          <a:spcPts val="0"/>
                        </a:spcAft>
                        <a:buClr>
                          <a:srgbClr val="1F3A4E"/>
                        </a:buClr>
                        <a:buSzPts val="4000"/>
                        <a:buFont typeface="Arial Black"/>
                        <a:buNone/>
                      </a:pPr>
                      <a:r>
                        <a:rPr b="0" lang="en-US" sz="4000">
                          <a:solidFill>
                            <a:srgbClr val="1F3A4E"/>
                          </a:solidFill>
                          <a:latin typeface="Arial Black"/>
                          <a:ea typeface="Arial Black"/>
                          <a:cs typeface="Arial Black"/>
                          <a:sym typeface="Arial Black"/>
                        </a:rPr>
                        <a:t>QUICK START GUIDE</a:t>
                      </a:r>
                      <a:br>
                        <a:rPr b="0" lang="en-US" sz="4000">
                          <a:solidFill>
                            <a:srgbClr val="1F3A4E"/>
                          </a:solidFill>
                          <a:latin typeface="Arial Black"/>
                          <a:ea typeface="Arial Black"/>
                          <a:cs typeface="Arial Black"/>
                          <a:sym typeface="Arial Black"/>
                        </a:rPr>
                      </a:br>
                      <a:r>
                        <a:rPr b="1" lang="en-US" sz="3200">
                          <a:solidFill>
                            <a:srgbClr val="FF0000"/>
                          </a:solidFill>
                          <a:latin typeface="Trebuchet MS"/>
                          <a:ea typeface="Trebuchet MS"/>
                          <a:cs typeface="Trebuchet MS"/>
                          <a:sym typeface="Trebuchet MS"/>
                        </a:rPr>
                        <a:t>(THIS SIDEBAR WILL NOT PRINT)</a:t>
                      </a:r>
                      <a:endParaRPr b="1" sz="4000">
                        <a:solidFill>
                          <a:schemeClr val="lt1"/>
                        </a:solidFill>
                        <a:latin typeface="Trebuchet MS"/>
                        <a:ea typeface="Trebuchet MS"/>
                        <a:cs typeface="Trebuchet MS"/>
                        <a:sym typeface="Trebuchet MS"/>
                      </a:endParaRPr>
                    </a:p>
                  </a:txBody>
                  <a:tcPr marT="137150" marB="45725" marR="91450" marL="182875">
                    <a:solidFill>
                      <a:srgbClr val="FFC000"/>
                    </a:solidFill>
                  </a:tcPr>
                </a:tc>
                <a:tc hMerge="1"/>
                <a:tc hMerge="1"/>
              </a:tr>
              <a:tr h="5563100">
                <a:tc gridSpan="3">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 change the template colors</a:t>
                      </a:r>
                      <a:endParaRPr/>
                    </a:p>
                    <a:p>
                      <a:pPr indent="0" lvl="0" marL="0" marR="0" rtl="0" algn="l">
                        <a:spcBef>
                          <a:spcPts val="0"/>
                        </a:spcBef>
                        <a:spcAft>
                          <a:spcPts val="0"/>
                        </a:spcAft>
                        <a:buNone/>
                      </a:pPr>
                      <a:r>
                        <a:rPr b="0" lang="en-US" sz="240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1">
                            <a:extLst>
                              <a:ext uri="{A12FA001-AC4F-418D-AE19-62706E023703}">
                                <ahyp:hlinkClr val="tx"/>
                              </a:ext>
                            </a:extLst>
                          </a:hlinkClick>
                        </a:rPr>
                        <a:t>https://www.posterpresentations.com/how-to-change-the-research-poster-template-colors.html</a:t>
                      </a:r>
                      <a:endParaRPr sz="2400">
                        <a:solidFill>
                          <a:srgbClr val="FFC000"/>
                        </a:solidFill>
                      </a:endParaRPr>
                    </a:p>
                    <a:p>
                      <a:pPr indent="0" lvl="0" marL="0" marR="0" rtl="0" algn="l">
                        <a:spcBef>
                          <a:spcPts val="0"/>
                        </a:spcBef>
                        <a:spcAft>
                          <a:spcPts val="0"/>
                        </a:spcAft>
                        <a:buNone/>
                      </a:pPr>
                      <a:r>
                        <a:t/>
                      </a:r>
                      <a:endParaRPr b="0" sz="2400">
                        <a:solidFill>
                          <a:srgbClr val="D9D9D9"/>
                        </a:solidFill>
                        <a:latin typeface="Arial"/>
                        <a:ea typeface="Arial"/>
                        <a:cs typeface="Arial"/>
                        <a:sym typeface="Arial"/>
                      </a:endParaRPr>
                    </a:p>
                    <a:p>
                      <a:pPr indent="0" lvl="0" marL="0" marR="0" rtl="0" algn="l">
                        <a:spcBef>
                          <a:spcPts val="0"/>
                        </a:spcBef>
                        <a:spcAft>
                          <a:spcPts val="0"/>
                        </a:spcAft>
                        <a:buNone/>
                      </a:pPr>
                      <a:r>
                        <a:rPr b="0" lang="en-US" sz="240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indent="0" lvl="0" marL="0" marR="0" rtl="0" algn="l">
                        <a:spcBef>
                          <a:spcPts val="0"/>
                        </a:spcBef>
                        <a:spcAft>
                          <a:spcPts val="0"/>
                        </a:spcAft>
                        <a:buNone/>
                      </a:pPr>
                      <a:r>
                        <a:t/>
                      </a:r>
                      <a:endParaRPr b="0" sz="2400">
                        <a:solidFill>
                          <a:srgbClr val="D9D9D9"/>
                        </a:solidFill>
                        <a:latin typeface="Arial"/>
                        <a:ea typeface="Arial"/>
                        <a:cs typeface="Arial"/>
                        <a:sym typeface="Arial"/>
                      </a:endParaRPr>
                    </a:p>
                    <a:p>
                      <a:pPr indent="0" lvl="0" marL="0" marR="0" rtl="0" algn="l">
                        <a:spcBef>
                          <a:spcPts val="0"/>
                        </a:spcBef>
                        <a:spcAft>
                          <a:spcPts val="0"/>
                        </a:spcAft>
                        <a:buNone/>
                      </a:pPr>
                      <a:r>
                        <a:rPr b="0" lang="en-US" sz="240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T="137150" marB="45725" marR="91450" marL="182875">
                    <a:solidFill>
                      <a:schemeClr val="dk1"/>
                    </a:solidFill>
                  </a:tcPr>
                </a:tc>
                <a:tc hMerge="1"/>
                <a:tc hMerge="1"/>
              </a:tr>
              <a:tr h="3667725">
                <a:tc gridSpan="3">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 change the column layout configuration</a:t>
                      </a:r>
                      <a:endParaRPr/>
                    </a:p>
                    <a:p>
                      <a:pPr indent="0" lvl="0" marL="0" marR="0" rtl="0" algn="l">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8600" u="sng">
                        <a:solidFill>
                          <a:srgbClr val="FFC000"/>
                        </a:solidFill>
                      </a:endParaRPr>
                    </a:p>
                  </a:txBody>
                  <a:tcPr marT="137150" marB="45725" marR="91450" marL="182875">
                    <a:solidFill>
                      <a:schemeClr val="dk1"/>
                    </a:solidFill>
                  </a:tcPr>
                </a:tc>
                <a:tc hMerge="1"/>
                <a:tc hMerge="1"/>
              </a:tr>
              <a:tr h="5177075">
                <a:tc gridSpan="2">
                  <a:txBody>
                    <a:bodyPr/>
                    <a:lstStyle/>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tc>
                <a:tc hMerge="1"/>
                <a:tc rowSpan="2">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How to hide the QUICK START GUIDE bars from the sides of the template</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a:t>
                      </a:r>
                      <a:r>
                        <a:rPr lang="en-US" sz="2400">
                          <a:solidFill>
                            <a:srgbClr val="D9D9D9"/>
                          </a:solidFill>
                          <a:latin typeface="Arial"/>
                          <a:ea typeface="Arial"/>
                          <a:cs typeface="Arial"/>
                          <a:sym typeface="Arial"/>
                        </a:rPr>
                        <a:t> Guides</a:t>
                      </a:r>
                      <a:r>
                        <a:rPr lang="en-US" sz="2400">
                          <a:solidFill>
                            <a:srgbClr val="D9D9D9"/>
                          </a:solidFill>
                          <a:latin typeface="Arial"/>
                          <a:ea typeface="Arial"/>
                          <a:cs typeface="Arial"/>
                          <a:sym typeface="Arial"/>
                        </a:rPr>
                        <a:t>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a:t>
                      </a:r>
                      <a:r>
                        <a:rPr lang="en-US" sz="2400">
                          <a:solidFill>
                            <a:srgbClr val="D9D9D9"/>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b="1" lang="en-US" sz="2400">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b="1" lang="en-US" sz="240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b="1" lang="en-US" sz="2400">
                          <a:solidFill>
                            <a:srgbClr val="D9D9D9"/>
                          </a:solidFill>
                          <a:latin typeface="Arial"/>
                          <a:ea typeface="Arial"/>
                          <a:cs typeface="Arial"/>
                          <a:sym typeface="Arial"/>
                        </a:rPr>
                        <a:t>Without Guides </a:t>
                      </a:r>
                      <a:r>
                        <a:rPr b="0" lang="en-US" sz="240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solidFill>
                      <a:srgbClr val="010101"/>
                    </a:solidFill>
                  </a:tcPr>
                </a:tc>
              </a:tr>
              <a:tr h="2888325">
                <a:tc gridSpan="2">
                  <a:txBody>
                    <a:bodyPr/>
                    <a:lstStyle/>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solidFill>
                      <a:srgbClr val="010101"/>
                    </a:solidFill>
                  </a:tcPr>
                </a:tc>
                <a:tc hMerge="1"/>
                <a:tc vMerge="1"/>
              </a:tr>
              <a:tr h="3781425">
                <a:tc gridSpan="2">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a:t>
                      </a:r>
                      <a:r>
                        <a:rPr b="1" lang="en-US" sz="2800">
                          <a:solidFill>
                            <a:srgbClr val="FFC000"/>
                          </a:solidFill>
                          <a:latin typeface="Arial"/>
                          <a:ea typeface="Arial"/>
                          <a:cs typeface="Arial"/>
                          <a:sym typeface="Arial"/>
                        </a:rPr>
                        <a:t> preview your poster prior to printing</a:t>
                      </a:r>
                      <a:endParaRPr b="1" sz="2800">
                        <a:solidFill>
                          <a:srgbClr val="FFC000"/>
                        </a:solidFill>
                        <a:latin typeface="Arial"/>
                        <a:ea typeface="Arial"/>
                        <a:cs typeface="Arial"/>
                        <a:sym typeface="Arial"/>
                      </a:endParaRPr>
                    </a:p>
                    <a:p>
                      <a:pPr indent="0" lvl="0" marL="0" marR="0" rtl="0" algn="l">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T="137150" marB="45725" marR="91450" marL="182875">
                    <a:solidFill>
                      <a:srgbClr val="010101"/>
                    </a:solidFill>
                  </a:tcPr>
                </a:tc>
                <a:tc hMerge="1"/>
                <a:tc>
                  <a:txBody>
                    <a:bodyPr/>
                    <a:lstStyle/>
                    <a:p>
                      <a:pPr indent="0" lvl="0" marL="0" marR="0" rtl="0" algn="ctr">
                        <a:spcBef>
                          <a:spcPts val="0"/>
                        </a:spcBef>
                        <a:spcAft>
                          <a:spcPts val="0"/>
                        </a:spcAft>
                        <a:buNone/>
                      </a:pPr>
                      <a:r>
                        <a:rPr b="1" lang="en-US" sz="11500">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8600"/>
                    </a:p>
                  </a:txBody>
                  <a:tcPr marT="137150" marB="45725" marR="91450" marL="182875" anchor="ctr">
                    <a:solidFill>
                      <a:srgbClr val="0C0C0C"/>
                    </a:solidFill>
                  </a:tcPr>
                </a:tc>
              </a:tr>
              <a:tr h="5674000">
                <a:tc gridSpan="3">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How to print your poster</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indent="0" lvl="0" marL="0" marR="0" rtl="0" algn="l">
                        <a:lnSpc>
                          <a:spcPct val="100000"/>
                        </a:lnSpc>
                        <a:spcBef>
                          <a:spcPts val="0"/>
                        </a:spcBef>
                        <a:spcAft>
                          <a:spcPts val="0"/>
                        </a:spcAft>
                        <a:buClr>
                          <a:srgbClr val="D9D9D9"/>
                        </a:buClr>
                        <a:buSzPts val="2400"/>
                        <a:buFont typeface="Arial"/>
                        <a:buNone/>
                      </a:pP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T="137150" marB="45725" marR="91450" marL="182875">
                    <a:solidFill>
                      <a:srgbClr val="010101"/>
                    </a:solidFill>
                  </a:tcPr>
                </a:tc>
                <a:tc hMerge="1"/>
                <a:tc hMerge="1"/>
              </a:tr>
              <a:tr h="1354775">
                <a:tc gridSpan="3">
                  <a:txBody>
                    <a:bodyPr/>
                    <a:lstStyle/>
                    <a:p>
                      <a:pPr indent="0" lvl="0" marL="0" marR="0" rtl="0" algn="l">
                        <a:spcBef>
                          <a:spcPts val="0"/>
                        </a:spcBef>
                        <a:spcAft>
                          <a:spcPts val="0"/>
                        </a:spcAft>
                        <a:buNone/>
                      </a:pPr>
                      <a:r>
                        <a:t/>
                      </a:r>
                      <a:endParaRPr sz="2400">
                        <a:solidFill>
                          <a:srgbClr val="1F3A4E"/>
                        </a:solidFill>
                      </a:endParaRPr>
                    </a:p>
                  </a:txBody>
                  <a:tcPr marT="137150" marB="45725" marR="91450" marL="182875"/>
                </a:tc>
                <a:tc hMerge="1"/>
                <a:tc hMerge="1"/>
              </a:tr>
              <a:tr h="3212200">
                <a:tc>
                  <a:txBody>
                    <a:bodyPr/>
                    <a:lstStyle/>
                    <a:p>
                      <a:pPr indent="0" lvl="0" marL="0" marR="0" rtl="0" algn="l">
                        <a:lnSpc>
                          <a:spcPct val="130000"/>
                        </a:lnSpc>
                        <a:spcBef>
                          <a:spcPts val="0"/>
                        </a:spcBef>
                        <a:spcAft>
                          <a:spcPts val="0"/>
                        </a:spcAft>
                        <a:buNone/>
                      </a:pPr>
                      <a:r>
                        <a:rPr lang="en-US" sz="2000">
                          <a:solidFill>
                            <a:srgbClr val="D8D8D8"/>
                          </a:solidFill>
                          <a:latin typeface="Arial"/>
                          <a:ea typeface="Arial"/>
                          <a:cs typeface="Arial"/>
                          <a:sym typeface="Arial"/>
                        </a:rPr>
                        <a:t>© 2022</a:t>
                      </a:r>
                      <a:r>
                        <a:rPr lang="en-US" sz="2000">
                          <a:solidFill>
                            <a:srgbClr val="D8D8D8"/>
                          </a:solidFill>
                          <a:latin typeface="Arial"/>
                          <a:ea typeface="Arial"/>
                          <a:cs typeface="Arial"/>
                          <a:sym typeface="Arial"/>
                        </a:rPr>
                        <a:t> </a:t>
                      </a:r>
                      <a:r>
                        <a:rPr lang="en-US" sz="2000">
                          <a:solidFill>
                            <a:srgbClr val="D8D8D8"/>
                          </a:solidFill>
                          <a:latin typeface="Arial"/>
                          <a:ea typeface="Arial"/>
                          <a:cs typeface="Arial"/>
                          <a:sym typeface="Arial"/>
                        </a:rPr>
                        <a:t>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a:t>
                      </a:r>
                      <a:r>
                        <a:rPr lang="en-US" sz="2000">
                          <a:solidFill>
                            <a:srgbClr val="D8D8D8"/>
                          </a:solidFill>
                          <a:latin typeface="Arial"/>
                          <a:ea typeface="Arial"/>
                          <a:cs typeface="Arial"/>
                          <a:sym typeface="Arial"/>
                        </a:rPr>
                        <a:t> STE C        </a:t>
                      </a:r>
                      <a:endParaRPr/>
                    </a:p>
                    <a:p>
                      <a:pPr indent="0" lvl="0" marL="0" marR="0" rtl="0" algn="l">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T="137150" marB="45725" marR="91450" marL="182875">
                    <a:solidFill>
                      <a:srgbClr val="010101"/>
                    </a:solidFill>
                  </a:tcPr>
                </a:tc>
                <a:tc gridSpan="2">
                  <a:txBody>
                    <a:bodyPr/>
                    <a:lstStyle/>
                    <a:p>
                      <a:pPr indent="0" lvl="0" marL="0" marR="0" rtl="0" algn="l">
                        <a:lnSpc>
                          <a:spcPct val="100000"/>
                        </a:lnSpc>
                        <a:spcBef>
                          <a:spcPts val="0"/>
                        </a:spcBef>
                        <a:spcAft>
                          <a:spcPts val="0"/>
                        </a:spcAft>
                        <a:buClr>
                          <a:srgbClr val="D0D0D0"/>
                        </a:buClr>
                        <a:buSzPts val="2400"/>
                        <a:buFont typeface="Arial"/>
                        <a:buNone/>
                      </a:pPr>
                      <a:r>
                        <a:rPr b="1" lang="en-US" sz="2400">
                          <a:solidFill>
                            <a:srgbClr val="D0D0D0"/>
                          </a:solidFill>
                          <a:latin typeface="Arial"/>
                          <a:ea typeface="Arial"/>
                          <a:cs typeface="Arial"/>
                          <a:sym typeface="Arial"/>
                        </a:rPr>
                        <a:t>For complete tutorials</a:t>
                      </a:r>
                      <a:r>
                        <a:rPr b="1" lang="en-US" sz="2400">
                          <a:solidFill>
                            <a:srgbClr val="D0D0D0"/>
                          </a:solidFill>
                          <a:latin typeface="Arial"/>
                          <a:ea typeface="Arial"/>
                          <a:cs typeface="Arial"/>
                          <a:sym typeface="Arial"/>
                        </a:rPr>
                        <a:t> visit:</a:t>
                      </a:r>
                      <a:endParaRPr/>
                    </a:p>
                    <a:p>
                      <a:pPr indent="0" lvl="0" marL="0" marR="0" rtl="0" algn="l">
                        <a:lnSpc>
                          <a:spcPct val="100000"/>
                        </a:lnSpc>
                        <a:spcBef>
                          <a:spcPts val="0"/>
                        </a:spcBef>
                        <a:spcAft>
                          <a:spcPts val="0"/>
                        </a:spcAft>
                        <a:buClr>
                          <a:srgbClr val="FFC000"/>
                        </a:buClr>
                        <a:buSzPts val="1800"/>
                        <a:buFont typeface="Arial"/>
                        <a:buNone/>
                      </a:pPr>
                      <a:r>
                        <a:rPr b="1" lang="en-US" sz="1800">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T="137150" marB="45725" marR="91450" marL="182875">
                    <a:solidFill>
                      <a:srgbClr val="010101"/>
                    </a:solidFill>
                  </a:tcPr>
                </a:tc>
                <a:tc hMerge="1"/>
              </a:tr>
            </a:tbl>
          </a:graphicData>
        </a:graphic>
      </p:graphicFrame>
      <p:grpSp>
        <p:nvGrpSpPr>
          <p:cNvPr id="14" name="Google Shape;14;p2"/>
          <p:cNvGrpSpPr/>
          <p:nvPr/>
        </p:nvGrpSpPr>
        <p:grpSpPr>
          <a:xfrm>
            <a:off x="0" y="14098"/>
            <a:ext cx="43929300" cy="4314166"/>
            <a:chOff x="0" y="-1"/>
            <a:chExt cx="12192000" cy="1219223"/>
          </a:xfrm>
        </p:grpSpPr>
        <p:sp>
          <p:nvSpPr>
            <p:cNvPr id="15" name="Google Shape;15;p2"/>
            <p:cNvSpPr/>
            <p:nvPr/>
          </p:nvSpPr>
          <p:spPr>
            <a:xfrm>
              <a:off x="0" y="89065"/>
              <a:ext cx="12192000" cy="1130157"/>
            </a:xfrm>
            <a:prstGeom prst="flowChartDocument">
              <a:avLst/>
            </a:prstGeom>
            <a:gradFill>
              <a:gsLst>
                <a:gs pos="0">
                  <a:srgbClr val="C00000"/>
                </a:gs>
                <a:gs pos="100000">
                  <a:schemeClr val="accent4"/>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6" name="Google Shape;16;p2"/>
            <p:cNvSpPr/>
            <p:nvPr/>
          </p:nvSpPr>
          <p:spPr>
            <a:xfrm>
              <a:off x="0" y="-1"/>
              <a:ext cx="12192000" cy="1130157"/>
            </a:xfrm>
            <a:prstGeom prst="flowChartDocument">
              <a:avLst/>
            </a:pr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7.png"/><Relationship Id="rId13" Type="http://schemas.openxmlformats.org/officeDocument/2006/relationships/image" Target="../media/image11.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8.png"/><Relationship Id="rId15" Type="http://schemas.openxmlformats.org/officeDocument/2006/relationships/image" Target="../media/image13.png"/><Relationship Id="rId1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1"/>
          <p:cNvSpPr txBox="1"/>
          <p:nvPr>
            <p:ph idx="1" type="body"/>
          </p:nvPr>
        </p:nvSpPr>
        <p:spPr>
          <a:xfrm>
            <a:off x="527049" y="6021370"/>
            <a:ext cx="10196513" cy="12575728"/>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400"/>
              <a:buNone/>
            </a:pPr>
            <a:r>
              <a:rPr lang="en-US" sz="2400">
                <a:latin typeface="Times New Roman"/>
                <a:ea typeface="Times New Roman"/>
                <a:cs typeface="Times New Roman"/>
                <a:sym typeface="Times New Roman"/>
              </a:rPr>
              <a:t>Soil respiration, the natural process by which carbon dioxide (CO₂) is released from the soil into the atmosphere, is the largest flux of CO₂ from the Earth’s surface. Despite its significance, accurately predicting CO₂ emissions caused by soil respiration remains challenging, and the influence of environmental variables are not yet fully understood. Early studies using artificial intelligence (AI) to predict soil respirations often relied on linear models or overly simplified datasets which lacked real-world applications. </a:t>
            </a:r>
            <a:endParaRPr/>
          </a:p>
          <a:p>
            <a:pPr indent="0" lvl="0" marL="0" rtl="0" algn="l">
              <a:spcBef>
                <a:spcPts val="480"/>
              </a:spcBef>
              <a:spcAft>
                <a:spcPts val="0"/>
              </a:spcAft>
              <a:buClr>
                <a:srgbClr val="1F3864"/>
              </a:buClr>
              <a:buSzPts val="2400"/>
              <a:buNone/>
            </a:pPr>
            <a:r>
              <a:t/>
            </a:r>
            <a:endParaRPr sz="2400">
              <a:latin typeface="Times New Roman"/>
              <a:ea typeface="Times New Roman"/>
              <a:cs typeface="Times New Roman"/>
              <a:sym typeface="Times New Roman"/>
            </a:endParaRPr>
          </a:p>
          <a:p>
            <a:pPr indent="0" lvl="0" marL="0" rtl="0" algn="l">
              <a:spcBef>
                <a:spcPts val="480"/>
              </a:spcBef>
              <a:spcAft>
                <a:spcPts val="0"/>
              </a:spcAft>
              <a:buClr>
                <a:srgbClr val="1F3864"/>
              </a:buClr>
              <a:buSzPts val="2400"/>
              <a:buNone/>
            </a:pPr>
            <a:r>
              <a:rPr lang="en-US" sz="2400">
                <a:latin typeface="Times New Roman"/>
                <a:ea typeface="Times New Roman"/>
                <a:cs typeface="Times New Roman"/>
                <a:sym typeface="Times New Roman"/>
              </a:rPr>
              <a:t>This study introduces a novel integration of XGBoost and Shapley Additive exPlanations (SHAP) to achieve both high predictive accuracy and detailed feature interpretability. In this study, an innovative ensemble model, XGBoost, is developed to estimate annual soil respiration (Rs) using spatial, temporal, climatic, and other independent variables. Additionally, a deep neural network (DNN) model is explored. Among the machine learning models evaluated, XGBoost shows the best performance, with a 4% reduction in Mean Absolute Error (MAE) and Root Mean Squared Error (RMSE) and a 3.7% increase in R² compared with the Random Forest model, which was so far believed to be the state-of-the-art method. To aid in model explainability, SHAP is used to give feature importance at both the global and individual levels of analysis. Results indicate that Mean Annual Temperature (MAT) and Mean Annual Precipitation (MAP) are the most dominant environmental factors, with geographic variables such as latitude and longitude also significant. Other strong predictors include Study Year, Soil Type, soil composition-related features, Elevation, and Basal Area (BA). This study fills the gap between predictive modeling and interpretability, providing an explainable AI framework that is scalable for real-world environmental research.</a:t>
            </a:r>
            <a:endParaRPr/>
          </a:p>
          <a:p>
            <a:pPr indent="0" lvl="0" marL="0" rtl="0" algn="l">
              <a:spcBef>
                <a:spcPts val="480"/>
              </a:spcBef>
              <a:spcAft>
                <a:spcPts val="0"/>
              </a:spcAft>
              <a:buClr>
                <a:srgbClr val="1F3864"/>
              </a:buClr>
              <a:buSzPts val="2400"/>
              <a:buNone/>
            </a:pPr>
            <a:r>
              <a:t/>
            </a:r>
            <a:endParaRPr sz="2400">
              <a:latin typeface="Times New Roman"/>
              <a:ea typeface="Times New Roman"/>
              <a:cs typeface="Times New Roman"/>
              <a:sym typeface="Times New Roman"/>
            </a:endParaRPr>
          </a:p>
          <a:p>
            <a:pPr indent="0" lvl="0" marL="0" rtl="0" algn="l">
              <a:spcBef>
                <a:spcPts val="560"/>
              </a:spcBef>
              <a:spcAft>
                <a:spcPts val="0"/>
              </a:spcAft>
              <a:buClr>
                <a:srgbClr val="1F3864"/>
              </a:buClr>
              <a:buSzPts val="2800"/>
              <a:buNone/>
            </a:pPr>
            <a:r>
              <a:t/>
            </a:r>
            <a:endParaRPr sz="2800"/>
          </a:p>
          <a:p>
            <a:pPr indent="0" lvl="0" marL="0" rtl="0" algn="l">
              <a:spcBef>
                <a:spcPts val="560"/>
              </a:spcBef>
              <a:spcAft>
                <a:spcPts val="0"/>
              </a:spcAft>
              <a:buClr>
                <a:srgbClr val="1F3864"/>
              </a:buClr>
              <a:buSzPts val="2800"/>
              <a:buNone/>
            </a:pPr>
            <a:r>
              <a:t/>
            </a:r>
            <a:endParaRPr sz="2800"/>
          </a:p>
          <a:p>
            <a:pPr indent="0" lvl="0" marL="0" rtl="0" algn="l">
              <a:spcBef>
                <a:spcPts val="480"/>
              </a:spcBef>
              <a:spcAft>
                <a:spcPts val="0"/>
              </a:spcAft>
              <a:buClr>
                <a:srgbClr val="1F3864"/>
              </a:buClr>
              <a:buSzPts val="2400"/>
              <a:buNone/>
            </a:pPr>
            <a:r>
              <a:t/>
            </a:r>
            <a:endParaRPr sz="2400"/>
          </a:p>
          <a:p>
            <a:pPr indent="0" lvl="0" marL="0" rtl="0" algn="l">
              <a:spcBef>
                <a:spcPts val="560"/>
              </a:spcBef>
              <a:spcAft>
                <a:spcPts val="0"/>
              </a:spcAft>
              <a:buClr>
                <a:srgbClr val="1F3864"/>
              </a:buClr>
              <a:buSzPts val="2800"/>
              <a:buNone/>
            </a:pPr>
            <a:r>
              <a:t/>
            </a:r>
            <a:endParaRPr sz="2800"/>
          </a:p>
        </p:txBody>
      </p:sp>
      <p:sp>
        <p:nvSpPr>
          <p:cNvPr id="40" name="Google Shape;40;p1"/>
          <p:cNvSpPr txBox="1"/>
          <p:nvPr>
            <p:ph idx="2" type="body"/>
          </p:nvPr>
        </p:nvSpPr>
        <p:spPr>
          <a:xfrm>
            <a:off x="527050" y="5267325"/>
            <a:ext cx="10154874" cy="677100"/>
          </a:xfrm>
          <a:prstGeom prst="rect">
            <a:avLst/>
          </a:prstGeom>
          <a:solidFill>
            <a:srgbClr val="1F3864"/>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3200"/>
              <a:buNone/>
            </a:pPr>
            <a:r>
              <a:rPr lang="en-US"/>
              <a:t>ABSTRACT</a:t>
            </a:r>
            <a:endParaRPr/>
          </a:p>
        </p:txBody>
      </p:sp>
      <p:sp>
        <p:nvSpPr>
          <p:cNvPr id="41" name="Google Shape;41;p1"/>
          <p:cNvSpPr txBox="1"/>
          <p:nvPr>
            <p:ph idx="3" type="body"/>
          </p:nvPr>
        </p:nvSpPr>
        <p:spPr>
          <a:xfrm>
            <a:off x="512763" y="16677924"/>
            <a:ext cx="10210799" cy="677100"/>
          </a:xfrm>
          <a:prstGeom prst="rect">
            <a:avLst/>
          </a:prstGeom>
          <a:solidFill>
            <a:srgbClr val="1F3864"/>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3200"/>
              <a:buNone/>
            </a:pPr>
            <a:r>
              <a:rPr lang="en-US"/>
              <a:t>OBJECTIVES</a:t>
            </a:r>
            <a:endParaRPr/>
          </a:p>
        </p:txBody>
      </p:sp>
      <p:sp>
        <p:nvSpPr>
          <p:cNvPr id="42" name="Google Shape;42;p1"/>
          <p:cNvSpPr txBox="1"/>
          <p:nvPr>
            <p:ph idx="4" type="body"/>
          </p:nvPr>
        </p:nvSpPr>
        <p:spPr>
          <a:xfrm>
            <a:off x="11217274" y="6085717"/>
            <a:ext cx="10109100" cy="65310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3200"/>
              <a:buNone/>
            </a:pPr>
            <a:r>
              <a:rPr b="1" lang="en-US" sz="3200">
                <a:latin typeface="Times New Roman"/>
                <a:ea typeface="Times New Roman"/>
                <a:cs typeface="Times New Roman"/>
                <a:sym typeface="Times New Roman"/>
              </a:rPr>
              <a:t>Exploratory Data Analysis</a:t>
            </a:r>
            <a:endParaRPr/>
          </a:p>
          <a:p>
            <a:pPr indent="0" lvl="0" marL="0" rtl="0" algn="l">
              <a:spcBef>
                <a:spcPts val="480"/>
              </a:spcBef>
              <a:spcAft>
                <a:spcPts val="0"/>
              </a:spcAft>
              <a:buClr>
                <a:srgbClr val="1F3864"/>
              </a:buClr>
              <a:buSzPts val="2400"/>
              <a:buNone/>
            </a:pPr>
            <a:r>
              <a:t/>
            </a:r>
            <a:endParaRPr b="1" sz="2400">
              <a:latin typeface="Times New Roman"/>
              <a:ea typeface="Times New Roman"/>
              <a:cs typeface="Times New Roman"/>
              <a:sym typeface="Times New Roman"/>
            </a:endParaRPr>
          </a:p>
          <a:p>
            <a:pPr indent="0" lvl="0" marL="0" rtl="0" algn="l">
              <a:spcBef>
                <a:spcPts val="480"/>
              </a:spcBef>
              <a:spcAft>
                <a:spcPts val="0"/>
              </a:spcAft>
              <a:buClr>
                <a:srgbClr val="1F3864"/>
              </a:buClr>
              <a:buSzPts val="2400"/>
              <a:buNone/>
            </a:pPr>
            <a:r>
              <a:rPr b="1" lang="en-US" sz="2400">
                <a:latin typeface="Times New Roman"/>
                <a:ea typeface="Times New Roman"/>
                <a:cs typeface="Times New Roman"/>
                <a:sym typeface="Times New Roman"/>
              </a:rPr>
              <a:t>Dependent variable: </a:t>
            </a:r>
            <a:r>
              <a:rPr lang="en-US" sz="2400">
                <a:latin typeface="Times New Roman"/>
                <a:ea typeface="Times New Roman"/>
                <a:cs typeface="Times New Roman"/>
                <a:sym typeface="Times New Roman"/>
              </a:rPr>
              <a:t> Rs_annual, the quantity of carbon dioxide emitted in a year by soil respiration. </a:t>
            </a:r>
            <a:endParaRPr/>
          </a:p>
          <a:p>
            <a:pPr indent="0" lvl="0" marL="0" rtl="0" algn="l">
              <a:spcBef>
                <a:spcPts val="480"/>
              </a:spcBef>
              <a:spcAft>
                <a:spcPts val="0"/>
              </a:spcAft>
              <a:buClr>
                <a:srgbClr val="1F3864"/>
              </a:buClr>
              <a:buSzPts val="2400"/>
              <a:buNone/>
            </a:pPr>
            <a:r>
              <a:rPr b="1" lang="en-US" sz="2400">
                <a:latin typeface="Times New Roman"/>
                <a:ea typeface="Times New Roman"/>
                <a:cs typeface="Times New Roman"/>
                <a:sym typeface="Times New Roman"/>
              </a:rPr>
              <a:t>Independent variables (total 29):</a:t>
            </a:r>
            <a:endParaRPr/>
          </a:p>
          <a:p>
            <a:pPr indent="-285750" lvl="0" marL="285750" rtl="0" algn="l">
              <a:spcBef>
                <a:spcPts val="360"/>
              </a:spcBef>
              <a:spcAft>
                <a:spcPts val="0"/>
              </a:spcAft>
              <a:buClr>
                <a:srgbClr val="1F3864"/>
              </a:buClr>
              <a:buSzPts val="1800"/>
              <a:buFont typeface="Arial"/>
              <a:buChar char="•"/>
            </a:pPr>
            <a:r>
              <a:rPr lang="en-US" sz="1800">
                <a:latin typeface="Times New Roman"/>
                <a:ea typeface="Times New Roman"/>
                <a:cs typeface="Times New Roman"/>
                <a:sym typeface="Times New Roman"/>
              </a:rPr>
              <a:t>Spatial/temporal: Study_year, YearsOfData, Latitude, Longitude, Biome, Elevation</a:t>
            </a:r>
            <a:endParaRPr sz="1800">
              <a:latin typeface="Times New Roman"/>
              <a:ea typeface="Times New Roman"/>
              <a:cs typeface="Times New Roman"/>
              <a:sym typeface="Times New Roman"/>
            </a:endParaRPr>
          </a:p>
          <a:p>
            <a:pPr indent="-285750" lvl="0" marL="285750" rtl="0" algn="l">
              <a:spcBef>
                <a:spcPts val="360"/>
              </a:spcBef>
              <a:spcAft>
                <a:spcPts val="0"/>
              </a:spcAft>
              <a:buClr>
                <a:srgbClr val="1F3864"/>
              </a:buClr>
              <a:buSzPts val="1800"/>
              <a:buFont typeface="Arial"/>
              <a:buChar char="•"/>
            </a:pPr>
            <a:r>
              <a:rPr lang="en-US" sz="1800">
                <a:latin typeface="Times New Roman"/>
                <a:ea typeface="Times New Roman"/>
                <a:cs typeface="Times New Roman"/>
                <a:sym typeface="Times New Roman"/>
              </a:rPr>
              <a:t>Climate: MAT, MAP</a:t>
            </a:r>
            <a:endParaRPr/>
          </a:p>
          <a:p>
            <a:pPr indent="-285750" lvl="0" marL="285750" rtl="0" algn="l">
              <a:spcBef>
                <a:spcPts val="360"/>
              </a:spcBef>
              <a:spcAft>
                <a:spcPts val="0"/>
              </a:spcAft>
              <a:buClr>
                <a:srgbClr val="1F3864"/>
              </a:buClr>
              <a:buSzPts val="1800"/>
              <a:buFont typeface="Arial"/>
              <a:buChar char="•"/>
            </a:pPr>
            <a:r>
              <a:rPr lang="en-US" sz="1800">
                <a:latin typeface="Times New Roman"/>
                <a:ea typeface="Times New Roman"/>
                <a:cs typeface="Times New Roman"/>
                <a:sym typeface="Times New Roman"/>
              </a:rPr>
              <a:t>Land use: Ecosystem_type, Ecosystem_state</a:t>
            </a:r>
            <a:endParaRPr sz="1800">
              <a:latin typeface="Times New Roman"/>
              <a:ea typeface="Times New Roman"/>
              <a:cs typeface="Times New Roman"/>
              <a:sym typeface="Times New Roman"/>
            </a:endParaRPr>
          </a:p>
          <a:p>
            <a:pPr indent="-285750" lvl="0" marL="285750" rtl="0" algn="l">
              <a:spcBef>
                <a:spcPts val="360"/>
              </a:spcBef>
              <a:spcAft>
                <a:spcPts val="0"/>
              </a:spcAft>
              <a:buClr>
                <a:srgbClr val="1F3864"/>
              </a:buClr>
              <a:buSzPts val="1800"/>
              <a:buFont typeface="Arial"/>
              <a:buChar char="•"/>
            </a:pPr>
            <a:r>
              <a:rPr lang="en-US" sz="1800">
                <a:latin typeface="Times New Roman"/>
                <a:ea typeface="Times New Roman"/>
                <a:cs typeface="Times New Roman"/>
                <a:sym typeface="Times New Roman"/>
              </a:rPr>
              <a:t>Soil: Soil type, soil drainage, density etc.</a:t>
            </a:r>
            <a:endParaRPr/>
          </a:p>
          <a:p>
            <a:pPr indent="-285750" lvl="0" marL="285750" rtl="0" algn="l">
              <a:spcBef>
                <a:spcPts val="360"/>
              </a:spcBef>
              <a:spcAft>
                <a:spcPts val="0"/>
              </a:spcAft>
              <a:buClr>
                <a:srgbClr val="1F3864"/>
              </a:buClr>
              <a:buSzPts val="1800"/>
              <a:buFont typeface="Arial"/>
              <a:buChar char="•"/>
            </a:pPr>
            <a:r>
              <a:rPr lang="en-US" sz="1800">
                <a:latin typeface="Times New Roman"/>
                <a:ea typeface="Times New Roman"/>
                <a:cs typeface="Times New Roman"/>
                <a:sym typeface="Times New Roman"/>
              </a:rPr>
              <a:t>Vegetation and carbon features: LAI, total carbon in vegetation at site, basal area at site etc..</a:t>
            </a:r>
            <a:endParaRPr>
              <a:latin typeface="Times New Roman"/>
              <a:ea typeface="Times New Roman"/>
              <a:cs typeface="Times New Roman"/>
              <a:sym typeface="Times New Roman"/>
            </a:endParaRPr>
          </a:p>
          <a:p>
            <a:pPr indent="0" lvl="0" marL="0" rtl="0" algn="l">
              <a:spcBef>
                <a:spcPts val="400"/>
              </a:spcBef>
              <a:spcAft>
                <a:spcPts val="0"/>
              </a:spcAft>
              <a:buClr>
                <a:srgbClr val="1F3864"/>
              </a:buClr>
              <a:buSzPts val="2000"/>
              <a:buNone/>
            </a:pPr>
            <a:r>
              <a:t/>
            </a:r>
            <a:endParaRPr/>
          </a:p>
          <a:p>
            <a:pPr indent="0" lvl="0" marL="0" rtl="0" algn="l">
              <a:spcBef>
                <a:spcPts val="400"/>
              </a:spcBef>
              <a:spcAft>
                <a:spcPts val="0"/>
              </a:spcAft>
              <a:buClr>
                <a:srgbClr val="1F3864"/>
              </a:buClr>
              <a:buSzPts val="2000"/>
              <a:buNone/>
            </a:pPr>
            <a:r>
              <a:t/>
            </a:r>
            <a:endParaRPr/>
          </a:p>
          <a:p>
            <a:pPr indent="0" lvl="0" marL="0" rtl="0" algn="l">
              <a:spcBef>
                <a:spcPts val="400"/>
              </a:spcBef>
              <a:spcAft>
                <a:spcPts val="0"/>
              </a:spcAft>
              <a:buClr>
                <a:srgbClr val="1F3864"/>
              </a:buClr>
              <a:buSzPts val="2000"/>
              <a:buNone/>
            </a:pPr>
            <a:r>
              <a:t/>
            </a:r>
            <a:endParaRPr/>
          </a:p>
          <a:p>
            <a:pPr indent="0" lvl="0" marL="0" rtl="0" algn="l">
              <a:spcBef>
                <a:spcPts val="400"/>
              </a:spcBef>
              <a:spcAft>
                <a:spcPts val="0"/>
              </a:spcAft>
              <a:buClr>
                <a:srgbClr val="1F3864"/>
              </a:buClr>
              <a:buSzPts val="2000"/>
              <a:buNone/>
            </a:pPr>
            <a:r>
              <a:t/>
            </a:r>
            <a:endParaRPr/>
          </a:p>
          <a:p>
            <a:pPr indent="0" lvl="0" marL="0" rtl="0" algn="l">
              <a:spcBef>
                <a:spcPts val="400"/>
              </a:spcBef>
              <a:spcAft>
                <a:spcPts val="0"/>
              </a:spcAft>
              <a:buClr>
                <a:srgbClr val="1F3864"/>
              </a:buClr>
              <a:buSzPts val="2000"/>
              <a:buNone/>
            </a:pPr>
            <a:r>
              <a:t/>
            </a:r>
            <a:endParaRPr/>
          </a:p>
          <a:p>
            <a:pPr indent="0" lvl="0" marL="0" rtl="0" algn="l">
              <a:spcBef>
                <a:spcPts val="400"/>
              </a:spcBef>
              <a:spcAft>
                <a:spcPts val="0"/>
              </a:spcAft>
              <a:buClr>
                <a:srgbClr val="1F3864"/>
              </a:buClr>
              <a:buSzPts val="2000"/>
              <a:buNone/>
            </a:pPr>
            <a:r>
              <a:t/>
            </a:r>
            <a:endParaRPr/>
          </a:p>
        </p:txBody>
      </p:sp>
      <p:sp>
        <p:nvSpPr>
          <p:cNvPr id="43" name="Google Shape;43;p1"/>
          <p:cNvSpPr txBox="1"/>
          <p:nvPr>
            <p:ph idx="5" type="body"/>
          </p:nvPr>
        </p:nvSpPr>
        <p:spPr>
          <a:xfrm>
            <a:off x="11242675" y="5267326"/>
            <a:ext cx="21431250" cy="677100"/>
          </a:xfrm>
          <a:prstGeom prst="rect">
            <a:avLst/>
          </a:prstGeom>
          <a:solidFill>
            <a:srgbClr val="1F3864"/>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3200"/>
              <a:buNone/>
            </a:pPr>
            <a:r>
              <a:rPr lang="en-US"/>
              <a:t>METHODOLOGY</a:t>
            </a:r>
            <a:endParaRPr/>
          </a:p>
        </p:txBody>
      </p:sp>
      <p:sp>
        <p:nvSpPr>
          <p:cNvPr id="44" name="Google Shape;44;p1"/>
          <p:cNvSpPr txBox="1"/>
          <p:nvPr>
            <p:ph idx="6" type="body"/>
          </p:nvPr>
        </p:nvSpPr>
        <p:spPr>
          <a:xfrm>
            <a:off x="22444218" y="5985147"/>
            <a:ext cx="10086974" cy="4647404"/>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3200"/>
              <a:buNone/>
            </a:pPr>
            <a:r>
              <a:rPr b="1" lang="en-US" sz="3200">
                <a:latin typeface="Times New Roman"/>
                <a:ea typeface="Times New Roman"/>
                <a:cs typeface="Times New Roman"/>
                <a:sym typeface="Times New Roman"/>
              </a:rPr>
              <a:t>Model Training</a:t>
            </a:r>
            <a:endParaRPr/>
          </a:p>
          <a:p>
            <a:pPr indent="-406400" lvl="0" marL="457200" rtl="0" algn="l">
              <a:spcBef>
                <a:spcPts val="160"/>
              </a:spcBef>
              <a:spcAft>
                <a:spcPts val="0"/>
              </a:spcAft>
              <a:buClr>
                <a:srgbClr val="1F3864"/>
              </a:buClr>
              <a:buSzPts val="800"/>
              <a:buFont typeface="Noto Sans Symbols"/>
              <a:buNone/>
            </a:pPr>
            <a:r>
              <a:t/>
            </a:r>
            <a:endParaRPr b="1" sz="800">
              <a:latin typeface="Times New Roman"/>
              <a:ea typeface="Times New Roman"/>
              <a:cs typeface="Times New Roman"/>
              <a:sym typeface="Times New Roman"/>
            </a:endParaRPr>
          </a:p>
          <a:p>
            <a:pPr indent="0" lvl="0" marL="0" rtl="0" algn="l">
              <a:spcBef>
                <a:spcPts val="480"/>
              </a:spcBef>
              <a:spcAft>
                <a:spcPts val="0"/>
              </a:spcAft>
              <a:buClr>
                <a:srgbClr val="1F3864"/>
              </a:buClr>
              <a:buSzPts val="2400"/>
              <a:buNone/>
            </a:pPr>
            <a:r>
              <a:rPr b="1" lang="en-US" sz="2400">
                <a:latin typeface="Times New Roman"/>
                <a:ea typeface="Times New Roman"/>
                <a:cs typeface="Times New Roman"/>
                <a:sym typeface="Times New Roman"/>
              </a:rPr>
              <a:t>Model selection: </a:t>
            </a:r>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Proposed Model: XGBoost</a:t>
            </a:r>
            <a:endParaRPr sz="2400">
              <a:latin typeface="Times New Roman"/>
              <a:ea typeface="Times New Roman"/>
              <a:cs typeface="Times New Roman"/>
              <a:sym typeface="Times New Roman"/>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Baseline Models: Random Forest (RF), Gradient Boosting (GB)</a:t>
            </a:r>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Model explored: DNN model </a:t>
            </a:r>
            <a:endParaRPr/>
          </a:p>
          <a:p>
            <a:pPr indent="0" lvl="0" marL="0" rtl="0" algn="l">
              <a:spcBef>
                <a:spcPts val="480"/>
              </a:spcBef>
              <a:spcAft>
                <a:spcPts val="0"/>
              </a:spcAft>
              <a:buClr>
                <a:srgbClr val="1F3864"/>
              </a:buClr>
              <a:buSzPts val="2400"/>
              <a:buNone/>
            </a:pPr>
            <a:r>
              <a:rPr b="1" lang="en-US" sz="2400">
                <a:latin typeface="Times New Roman"/>
                <a:ea typeface="Times New Roman"/>
                <a:cs typeface="Times New Roman"/>
                <a:sym typeface="Times New Roman"/>
              </a:rPr>
              <a:t>Hyperparameter optimization:</a:t>
            </a:r>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GridSearchCV with K-fold cross-validation. </a:t>
            </a:r>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XGBoost parameters: number of estimators, tree depth, and learning rate …</a:t>
            </a:r>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DNN: neuron counts, learning rate, and batch size…</a:t>
            </a:r>
            <a:endParaRPr/>
          </a:p>
        </p:txBody>
      </p:sp>
      <p:sp>
        <p:nvSpPr>
          <p:cNvPr id="45" name="Google Shape;45;p1"/>
          <p:cNvSpPr txBox="1"/>
          <p:nvPr>
            <p:ph idx="7" type="body"/>
          </p:nvPr>
        </p:nvSpPr>
        <p:spPr>
          <a:xfrm>
            <a:off x="11145714" y="18525573"/>
            <a:ext cx="21421724" cy="677100"/>
          </a:xfrm>
          <a:prstGeom prst="rect">
            <a:avLst/>
          </a:prstGeom>
          <a:solidFill>
            <a:srgbClr val="1F3864"/>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3200"/>
              <a:buNone/>
            </a:pPr>
            <a:r>
              <a:rPr lang="en-US"/>
              <a:t>RESULTS AND DISCUSSION</a:t>
            </a:r>
            <a:endParaRPr/>
          </a:p>
        </p:txBody>
      </p:sp>
      <p:sp>
        <p:nvSpPr>
          <p:cNvPr id="46" name="Google Shape;46;p1"/>
          <p:cNvSpPr txBox="1"/>
          <p:nvPr>
            <p:ph idx="8" type="body"/>
          </p:nvPr>
        </p:nvSpPr>
        <p:spPr>
          <a:xfrm>
            <a:off x="33185100" y="5267325"/>
            <a:ext cx="10201275" cy="677100"/>
          </a:xfrm>
          <a:prstGeom prst="rect">
            <a:avLst/>
          </a:prstGeom>
          <a:solidFill>
            <a:srgbClr val="1F3864"/>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3200"/>
              <a:buNone/>
            </a:pPr>
            <a:r>
              <a:rPr lang="en-US"/>
              <a:t>CONCLUSION</a:t>
            </a:r>
            <a:endParaRPr/>
          </a:p>
        </p:txBody>
      </p:sp>
      <p:sp>
        <p:nvSpPr>
          <p:cNvPr id="47" name="Google Shape;47;p1"/>
          <p:cNvSpPr txBox="1"/>
          <p:nvPr>
            <p:ph idx="9" type="body"/>
          </p:nvPr>
        </p:nvSpPr>
        <p:spPr>
          <a:xfrm>
            <a:off x="33185099" y="6021369"/>
            <a:ext cx="10201275" cy="9765728"/>
          </a:xfrm>
          <a:prstGeom prst="rect">
            <a:avLst/>
          </a:prstGeom>
          <a:noFill/>
          <a:ln>
            <a:noFill/>
          </a:ln>
        </p:spPr>
        <p:txBody>
          <a:bodyPr anchorCtr="0" anchor="t" bIns="228575" lIns="228575" spcFirstLastPara="1" rIns="228575" wrap="square" tIns="228575">
            <a:spAutoFit/>
          </a:bodyPr>
          <a:lstStyle/>
          <a:p>
            <a:pPr indent="-285750" lvl="0" marL="285750" rtl="0" algn="l">
              <a:spcBef>
                <a:spcPts val="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An innovative ensemble model, XGBoost, is developed to predict annual Rs from spatial, temporal, climate, and other independent variables. In addition, a DNN model is experimented. The models are evaluated against two baseline models, Random Forest (RF) and Gradient Boosting (GB), which are established as benchmarks in previous studies.</a:t>
            </a:r>
            <a:endParaRPr/>
          </a:p>
          <a:p>
            <a:pPr indent="-571471" lvl="1" marL="1485825" rtl="0" algn="l">
              <a:spcBef>
                <a:spcPts val="1200"/>
              </a:spcBef>
              <a:spcAft>
                <a:spcPts val="0"/>
              </a:spcAft>
              <a:buClr>
                <a:srgbClr val="002060"/>
              </a:buClr>
              <a:buSzPts val="2400"/>
              <a:buFont typeface="Noto Sans Symbols"/>
              <a:buChar char="▪"/>
            </a:pPr>
            <a:r>
              <a:rPr lang="en-US" sz="2400">
                <a:solidFill>
                  <a:srgbClr val="002060"/>
                </a:solidFill>
                <a:latin typeface="Times New Roman"/>
                <a:ea typeface="Times New Roman"/>
                <a:cs typeface="Times New Roman"/>
                <a:sym typeface="Times New Roman"/>
              </a:rPr>
              <a:t>The XGBoost model delivers the best performance, achieving a 4% reduction in MAE and RMSE and a 3.7% improvement in R</a:t>
            </a:r>
            <a:r>
              <a:rPr baseline="30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compared to the Random Forest model, previously identified as the top-performing approach. </a:t>
            </a:r>
            <a:endParaRPr/>
          </a:p>
          <a:p>
            <a:pPr indent="-571471" lvl="1" marL="1485825" rtl="0" algn="l">
              <a:spcBef>
                <a:spcPts val="1200"/>
              </a:spcBef>
              <a:spcAft>
                <a:spcPts val="0"/>
              </a:spcAft>
              <a:buClr>
                <a:srgbClr val="002060"/>
              </a:buClr>
              <a:buSzPts val="2400"/>
              <a:buFont typeface="Noto Sans Symbols"/>
              <a:buChar char="▪"/>
            </a:pPr>
            <a:r>
              <a:rPr lang="en-US" sz="2400">
                <a:solidFill>
                  <a:srgbClr val="002060"/>
                </a:solidFill>
                <a:latin typeface="Times New Roman"/>
                <a:ea typeface="Times New Roman"/>
                <a:cs typeface="Times New Roman"/>
                <a:sym typeface="Times New Roman"/>
              </a:rPr>
              <a:t>The DNN model fails to achieve reasonable results, primarily due to the limited sample size. </a:t>
            </a:r>
            <a:endParaRPr/>
          </a:p>
          <a:p>
            <a:pPr indent="-342900" lvl="0" marL="342900" rtl="0" algn="l">
              <a:spcBef>
                <a:spcPts val="120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SHAP (SHapley Additive exPlanations) is employed as a robust method for model explainability, enabling the assessment of feature impacts on predictions both globally and at the individual observation level.</a:t>
            </a:r>
            <a:endParaRPr/>
          </a:p>
          <a:p>
            <a:pPr indent="-571471" lvl="1" marL="1485825" rtl="0" algn="l">
              <a:spcBef>
                <a:spcPts val="1200"/>
              </a:spcBef>
              <a:spcAft>
                <a:spcPts val="0"/>
              </a:spcAft>
              <a:buClr>
                <a:srgbClr val="002060"/>
              </a:buClr>
              <a:buSzPts val="2400"/>
              <a:buFont typeface="Noto Sans Symbols"/>
              <a:buChar char="▪"/>
            </a:pPr>
            <a:r>
              <a:rPr lang="en-US" sz="2400">
                <a:solidFill>
                  <a:srgbClr val="002060"/>
                </a:solidFill>
                <a:latin typeface="Times New Roman"/>
                <a:ea typeface="Times New Roman"/>
                <a:cs typeface="Times New Roman"/>
                <a:sym typeface="Times New Roman"/>
              </a:rPr>
              <a:t>Results reveal that Mean Annual Temperature (MAT) and Mean Annual Precipitation (MAP) are the most influential environmental factors, alongside geographic features such as latitude and longitude, aligning with previous studies. </a:t>
            </a:r>
            <a:endParaRPr/>
          </a:p>
          <a:p>
            <a:pPr indent="-571471" lvl="1" marL="1485825" rtl="0" algn="l">
              <a:spcBef>
                <a:spcPts val="1200"/>
              </a:spcBef>
              <a:spcAft>
                <a:spcPts val="0"/>
              </a:spcAft>
              <a:buClr>
                <a:srgbClr val="002060"/>
              </a:buClr>
              <a:buSzPts val="2400"/>
              <a:buFont typeface="Noto Sans Symbols"/>
              <a:buChar char="▪"/>
            </a:pPr>
            <a:r>
              <a:rPr lang="en-US" sz="2400">
                <a:solidFill>
                  <a:srgbClr val="002060"/>
                </a:solidFill>
                <a:latin typeface="Times New Roman"/>
                <a:ea typeface="Times New Roman"/>
                <a:cs typeface="Times New Roman"/>
                <a:sym typeface="Times New Roman"/>
              </a:rPr>
              <a:t>In addition, the four features, Study Year, Soil Type, soil composition related features, Elevation, and Basal Area (BA) also demonstrate high impact on Rs estimates.</a:t>
            </a:r>
            <a:endParaRPr/>
          </a:p>
          <a:p>
            <a:pPr indent="0" lvl="0" marL="0" rtl="0" algn="l">
              <a:spcBef>
                <a:spcPts val="960"/>
              </a:spcBef>
              <a:spcAft>
                <a:spcPts val="0"/>
              </a:spcAft>
              <a:buClr>
                <a:srgbClr val="1F3864"/>
              </a:buClr>
              <a:buSzPts val="1800"/>
              <a:buNone/>
            </a:pPr>
            <a:r>
              <a:t/>
            </a:r>
            <a:endParaRPr sz="1800">
              <a:latin typeface="Times New Roman"/>
              <a:ea typeface="Times New Roman"/>
              <a:cs typeface="Times New Roman"/>
              <a:sym typeface="Times New Roman"/>
            </a:endParaRPr>
          </a:p>
          <a:p>
            <a:pPr indent="-215900" lvl="0" marL="342900" rtl="0" algn="l">
              <a:spcBef>
                <a:spcPts val="400"/>
              </a:spcBef>
              <a:spcAft>
                <a:spcPts val="0"/>
              </a:spcAft>
              <a:buClr>
                <a:srgbClr val="1F3864"/>
              </a:buClr>
              <a:buSzPts val="2000"/>
              <a:buFont typeface="Arial"/>
              <a:buNone/>
            </a:pPr>
            <a:r>
              <a:t/>
            </a:r>
            <a:endParaRPr/>
          </a:p>
        </p:txBody>
      </p:sp>
      <p:sp>
        <p:nvSpPr>
          <p:cNvPr id="48" name="Google Shape;48;p1"/>
          <p:cNvSpPr txBox="1"/>
          <p:nvPr>
            <p:ph idx="13" type="body"/>
          </p:nvPr>
        </p:nvSpPr>
        <p:spPr>
          <a:xfrm>
            <a:off x="33550359" y="20956860"/>
            <a:ext cx="10201275" cy="677100"/>
          </a:xfrm>
          <a:prstGeom prst="rect">
            <a:avLst/>
          </a:prstGeom>
          <a:solidFill>
            <a:srgbClr val="1F3864"/>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3200"/>
              <a:buNone/>
            </a:pPr>
            <a:r>
              <a:rPr lang="en-US"/>
              <a:t>REFERRENCE</a:t>
            </a:r>
            <a:endParaRPr/>
          </a:p>
        </p:txBody>
      </p:sp>
      <p:sp>
        <p:nvSpPr>
          <p:cNvPr id="49" name="Google Shape;49;p1"/>
          <p:cNvSpPr txBox="1"/>
          <p:nvPr>
            <p:ph idx="17" type="body"/>
          </p:nvPr>
        </p:nvSpPr>
        <p:spPr>
          <a:xfrm>
            <a:off x="411048" y="17749378"/>
            <a:ext cx="9912351" cy="5041358"/>
          </a:xfrm>
          <a:prstGeom prst="rect">
            <a:avLst/>
          </a:prstGeom>
          <a:noFill/>
          <a:ln>
            <a:noFill/>
          </a:ln>
        </p:spPr>
        <p:txBody>
          <a:bodyPr anchorCtr="0" anchor="t" bIns="228575" lIns="228575" spcFirstLastPara="1" rIns="228575" wrap="square" tIns="228575">
            <a:spAutoFit/>
          </a:bodyPr>
          <a:lstStyle/>
          <a:p>
            <a:pPr indent="-342900" lvl="0" marL="342900" rtl="0" algn="l">
              <a:spcBef>
                <a:spcPts val="0"/>
              </a:spcBef>
              <a:spcAft>
                <a:spcPts val="0"/>
              </a:spcAft>
              <a:buClr>
                <a:srgbClr val="1F3864"/>
              </a:buClr>
              <a:buSzPts val="2400"/>
              <a:buFont typeface="Arial"/>
              <a:buChar char="•"/>
            </a:pPr>
            <a:r>
              <a:rPr lang="en-US" sz="2400">
                <a:latin typeface="Times New Roman"/>
                <a:ea typeface="Times New Roman"/>
                <a:cs typeface="Times New Roman"/>
                <a:sym typeface="Times New Roman"/>
              </a:rPr>
              <a:t>Accurately predict CO₂ emissions from soil respiration based on spatial, temporal, climatic, and other observable variables by machine learning models. </a:t>
            </a:r>
            <a:endParaRPr/>
          </a:p>
          <a:p>
            <a:pPr indent="0" lvl="0" marL="0" rtl="0" algn="l">
              <a:spcBef>
                <a:spcPts val="480"/>
              </a:spcBef>
              <a:spcAft>
                <a:spcPts val="0"/>
              </a:spcAft>
              <a:buClr>
                <a:srgbClr val="1F3864"/>
              </a:buClr>
              <a:buSzPts val="2400"/>
              <a:buNone/>
            </a:pPr>
            <a:r>
              <a:t/>
            </a:r>
            <a:endParaRPr sz="2400">
              <a:latin typeface="Times New Roman"/>
              <a:ea typeface="Times New Roman"/>
              <a:cs typeface="Times New Roman"/>
              <a:sym typeface="Times New Roman"/>
            </a:endParaRPr>
          </a:p>
          <a:p>
            <a:pPr indent="-342900" lvl="0" marL="342900" rtl="0" algn="l">
              <a:spcBef>
                <a:spcPts val="480"/>
              </a:spcBef>
              <a:spcAft>
                <a:spcPts val="0"/>
              </a:spcAft>
              <a:buClr>
                <a:srgbClr val="1F3864"/>
              </a:buClr>
              <a:buSzPts val="2400"/>
              <a:buFont typeface="Arial"/>
              <a:buChar char="•"/>
            </a:pPr>
            <a:r>
              <a:rPr lang="en-US" sz="2400">
                <a:latin typeface="Times New Roman"/>
                <a:ea typeface="Times New Roman"/>
                <a:cs typeface="Times New Roman"/>
                <a:sym typeface="Times New Roman"/>
              </a:rPr>
              <a:t>Provide model explainability to understand the environmental drivers behind soil respiration process.</a:t>
            </a:r>
            <a:endParaRPr/>
          </a:p>
          <a:p>
            <a:pPr indent="-190500" lvl="0" marL="342900" rtl="0" algn="l">
              <a:spcBef>
                <a:spcPts val="480"/>
              </a:spcBef>
              <a:spcAft>
                <a:spcPts val="0"/>
              </a:spcAft>
              <a:buClr>
                <a:srgbClr val="1F3864"/>
              </a:buClr>
              <a:buSzPts val="2400"/>
              <a:buFont typeface="Arial"/>
              <a:buNone/>
            </a:pPr>
            <a:r>
              <a:t/>
            </a:r>
            <a:endParaRPr sz="2400"/>
          </a:p>
          <a:p>
            <a:pPr indent="0" lvl="0" marL="0" rtl="0" algn="l">
              <a:spcBef>
                <a:spcPts val="480"/>
              </a:spcBef>
              <a:spcAft>
                <a:spcPts val="0"/>
              </a:spcAft>
              <a:buClr>
                <a:srgbClr val="1F3864"/>
              </a:buClr>
              <a:buSzPts val="2400"/>
              <a:buNone/>
            </a:pPr>
            <a:r>
              <a:t/>
            </a:r>
            <a:endParaRPr sz="2400"/>
          </a:p>
          <a:p>
            <a:pPr indent="0" lvl="0" marL="0" rtl="0" algn="l">
              <a:spcBef>
                <a:spcPts val="480"/>
              </a:spcBef>
              <a:spcAft>
                <a:spcPts val="0"/>
              </a:spcAft>
              <a:buClr>
                <a:srgbClr val="1F3864"/>
              </a:buClr>
              <a:buSzPts val="2400"/>
              <a:buNone/>
            </a:pPr>
            <a:r>
              <a:t/>
            </a:r>
            <a:endParaRPr sz="2400"/>
          </a:p>
          <a:p>
            <a:pPr indent="0" lvl="0" marL="0" rtl="0" algn="l">
              <a:spcBef>
                <a:spcPts val="480"/>
              </a:spcBef>
              <a:spcAft>
                <a:spcPts val="0"/>
              </a:spcAft>
              <a:buClr>
                <a:srgbClr val="1F3864"/>
              </a:buClr>
              <a:buSzPts val="2400"/>
              <a:buNone/>
            </a:pPr>
            <a:r>
              <a:t/>
            </a:r>
            <a:endParaRPr sz="2400"/>
          </a:p>
          <a:p>
            <a:pPr indent="0" lvl="0" marL="0" rtl="0" algn="l">
              <a:spcBef>
                <a:spcPts val="480"/>
              </a:spcBef>
              <a:spcAft>
                <a:spcPts val="0"/>
              </a:spcAft>
              <a:buClr>
                <a:srgbClr val="1F3864"/>
              </a:buClr>
              <a:buSzPts val="2400"/>
              <a:buNone/>
            </a:pPr>
            <a:r>
              <a:t/>
            </a:r>
            <a:endParaRPr sz="2400"/>
          </a:p>
        </p:txBody>
      </p:sp>
      <p:sp>
        <p:nvSpPr>
          <p:cNvPr id="50" name="Google Shape;50;p1"/>
          <p:cNvSpPr txBox="1"/>
          <p:nvPr>
            <p:ph idx="18" type="body"/>
          </p:nvPr>
        </p:nvSpPr>
        <p:spPr>
          <a:xfrm>
            <a:off x="11252201" y="2391994"/>
            <a:ext cx="21421724" cy="584775"/>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3200"/>
              <a:buFont typeface="Century Gothic"/>
              <a:buNone/>
            </a:pPr>
            <a:r>
              <a:rPr b="1" lang="en-US" sz="3200"/>
              <a:t>Vincent Lu</a:t>
            </a:r>
            <a:endParaRPr/>
          </a:p>
        </p:txBody>
      </p:sp>
      <p:sp>
        <p:nvSpPr>
          <p:cNvPr id="51" name="Google Shape;51;p1"/>
          <p:cNvSpPr txBox="1"/>
          <p:nvPr>
            <p:ph idx="19" type="body"/>
          </p:nvPr>
        </p:nvSpPr>
        <p:spPr>
          <a:xfrm>
            <a:off x="11247438" y="2938329"/>
            <a:ext cx="21421724" cy="646331"/>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3600"/>
              <a:buFont typeface="Century Gothic"/>
              <a:buNone/>
            </a:pPr>
            <a:r>
              <a:rPr b="1" lang="en-US"/>
              <a:t>Basis Independent Fremont</a:t>
            </a:r>
            <a:endParaRPr/>
          </a:p>
        </p:txBody>
      </p:sp>
      <p:sp>
        <p:nvSpPr>
          <p:cNvPr id="52" name="Google Shape;52;p1"/>
          <p:cNvSpPr txBox="1"/>
          <p:nvPr>
            <p:ph idx="20" type="body"/>
          </p:nvPr>
        </p:nvSpPr>
        <p:spPr>
          <a:xfrm>
            <a:off x="11252201" y="442117"/>
            <a:ext cx="21056100" cy="1893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5400"/>
              <a:buFont typeface="Century Gothic"/>
              <a:buNone/>
            </a:pPr>
            <a:r>
              <a:rPr lang="en-US" sz="5400"/>
              <a:t>Exploring Innovative Machine Learning Models for </a:t>
            </a:r>
            <a:endParaRPr/>
          </a:p>
          <a:p>
            <a:pPr indent="0" lvl="0" marL="0" rtl="0" algn="ctr">
              <a:spcBef>
                <a:spcPts val="1080"/>
              </a:spcBef>
              <a:spcAft>
                <a:spcPts val="0"/>
              </a:spcAft>
              <a:buClr>
                <a:schemeClr val="lt1"/>
              </a:buClr>
              <a:buSzPts val="5400"/>
              <a:buFont typeface="Century Gothic"/>
              <a:buNone/>
            </a:pPr>
            <a:r>
              <a:rPr lang="en-US" sz="5400"/>
              <a:t>Soil CO</a:t>
            </a:r>
            <a:r>
              <a:rPr lang="en-US" sz="3800"/>
              <a:t>2</a:t>
            </a:r>
            <a:r>
              <a:rPr lang="en-US" sz="5400"/>
              <a:t> Emission Forecasting</a:t>
            </a:r>
            <a:endParaRPr/>
          </a:p>
        </p:txBody>
      </p:sp>
      <p:sp>
        <p:nvSpPr>
          <p:cNvPr id="53" name="Google Shape;53;p1"/>
          <p:cNvSpPr txBox="1"/>
          <p:nvPr/>
        </p:nvSpPr>
        <p:spPr>
          <a:xfrm>
            <a:off x="617173" y="23356346"/>
            <a:ext cx="10106390" cy="677100"/>
          </a:xfrm>
          <a:prstGeom prst="rect">
            <a:avLst/>
          </a:prstGeom>
          <a:solidFill>
            <a:srgbClr val="1F3864"/>
          </a:solidFill>
          <a:ln>
            <a:noFill/>
          </a:ln>
        </p:spPr>
        <p:txBody>
          <a:bodyPr anchorCtr="0" anchor="t" bIns="91425" lIns="91425" spcFirstLastPara="1" rIns="91425" wrap="square" tIns="91425">
            <a:spAutoFit/>
          </a:bodyPr>
          <a:lstStyle/>
          <a:p>
            <a:pPr indent="0" lvl="0" marL="0" marR="0" rtl="0" algn="ctr">
              <a:spcBef>
                <a:spcPts val="0"/>
              </a:spcBef>
              <a:spcAft>
                <a:spcPts val="0"/>
              </a:spcAft>
              <a:buClr>
                <a:schemeClr val="lt1"/>
              </a:buClr>
              <a:buSzPts val="3200"/>
              <a:buFont typeface="Arial"/>
              <a:buNone/>
            </a:pPr>
            <a:r>
              <a:rPr b="1" i="0" lang="en-US" sz="3200" u="none" cap="none" strike="noStrike">
                <a:solidFill>
                  <a:schemeClr val="lt1"/>
                </a:solidFill>
                <a:latin typeface="Century Gothic"/>
                <a:ea typeface="Century Gothic"/>
                <a:cs typeface="Century Gothic"/>
                <a:sym typeface="Century Gothic"/>
              </a:rPr>
              <a:t>DATA COLLECTION AND PREPROCESSING</a:t>
            </a:r>
            <a:endParaRPr/>
          </a:p>
        </p:txBody>
      </p:sp>
      <p:sp>
        <p:nvSpPr>
          <p:cNvPr id="54" name="Google Shape;54;p1"/>
          <p:cNvSpPr txBox="1"/>
          <p:nvPr/>
        </p:nvSpPr>
        <p:spPr>
          <a:xfrm>
            <a:off x="753698" y="24432549"/>
            <a:ext cx="9928225" cy="6377108"/>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2400"/>
              <a:buFont typeface="Arial"/>
              <a:buNone/>
            </a:pPr>
            <a:r>
              <a:rPr b="1" i="0" lang="en-US" sz="2400" u="none" cap="none" strike="noStrike">
                <a:solidFill>
                  <a:srgbClr val="1F3864"/>
                </a:solidFill>
                <a:latin typeface="Times New Roman"/>
                <a:ea typeface="Times New Roman"/>
                <a:cs typeface="Times New Roman"/>
                <a:sym typeface="Times New Roman"/>
              </a:rPr>
              <a:t>Data source</a:t>
            </a:r>
            <a:endParaRPr/>
          </a:p>
          <a:p>
            <a:pPr indent="0" lvl="0" marL="0" marR="0" rtl="0" algn="l">
              <a:spcBef>
                <a:spcPts val="480"/>
              </a:spcBef>
              <a:spcAft>
                <a:spcPts val="0"/>
              </a:spcAft>
              <a:buClr>
                <a:srgbClr val="1F3864"/>
              </a:buClr>
              <a:buSzPts val="2400"/>
              <a:buFont typeface="Arial"/>
              <a:buNone/>
            </a:pPr>
            <a:r>
              <a:t/>
            </a:r>
            <a:endParaRPr b="1" i="0" sz="2400" u="none" cap="none" strike="noStrike">
              <a:solidFill>
                <a:srgbClr val="1F3864"/>
              </a:solidFill>
              <a:latin typeface="Times New Roman"/>
              <a:ea typeface="Times New Roman"/>
              <a:cs typeface="Times New Roman"/>
              <a:sym typeface="Times New Roman"/>
            </a:endParaRPr>
          </a:p>
          <a:p>
            <a:pPr indent="0" lvl="0" marL="0" marR="0" rtl="0" algn="l">
              <a:spcBef>
                <a:spcPts val="480"/>
              </a:spcBef>
              <a:spcAft>
                <a:spcPts val="0"/>
              </a:spcAft>
              <a:buClr>
                <a:srgbClr val="1F3864"/>
              </a:buClr>
              <a:buSzPts val="2400"/>
              <a:buFont typeface="Arial"/>
              <a:buNone/>
            </a:pPr>
            <a:r>
              <a:rPr b="0" i="0" lang="en-US" sz="2400" u="none" cap="none" strike="noStrike">
                <a:solidFill>
                  <a:srgbClr val="1F3864"/>
                </a:solidFill>
                <a:latin typeface="Times New Roman"/>
                <a:ea typeface="Times New Roman"/>
                <a:cs typeface="Times New Roman"/>
                <a:sym typeface="Times New Roman"/>
              </a:rPr>
              <a:t>All data is taken from Soil Respiration Database Version 5 </a:t>
            </a:r>
            <a:endParaRPr/>
          </a:p>
          <a:p>
            <a:pPr indent="0" lvl="0" marL="0" marR="0" rtl="0" algn="l">
              <a:spcBef>
                <a:spcPts val="480"/>
              </a:spcBef>
              <a:spcAft>
                <a:spcPts val="0"/>
              </a:spcAft>
              <a:buClr>
                <a:srgbClr val="1F3864"/>
              </a:buClr>
              <a:buSzPts val="2400"/>
              <a:buFont typeface="Arial"/>
              <a:buNone/>
            </a:pPr>
            <a:r>
              <a:rPr b="1" i="0" lang="en-US" sz="2400" u="none" cap="none" strike="noStrike">
                <a:solidFill>
                  <a:srgbClr val="1F3864"/>
                </a:solidFill>
                <a:latin typeface="Times New Roman"/>
                <a:ea typeface="Times New Roman"/>
                <a:cs typeface="Times New Roman"/>
                <a:sym typeface="Times New Roman"/>
              </a:rPr>
              <a:t>(SRDB-V5)</a:t>
            </a:r>
            <a:r>
              <a:rPr b="0" i="0" lang="en-US" sz="2400" u="none" cap="none" strike="noStrike">
                <a:solidFill>
                  <a:srgbClr val="1F3864"/>
                </a:solidFill>
                <a:latin typeface="Times New Roman"/>
                <a:ea typeface="Times New Roman"/>
                <a:cs typeface="Times New Roman"/>
                <a:sym typeface="Times New Roman"/>
              </a:rPr>
              <a:t>,</a:t>
            </a:r>
            <a:r>
              <a:rPr b="1" i="0" lang="en-US" sz="2400" u="none" cap="none" strike="noStrike">
                <a:solidFill>
                  <a:srgbClr val="1F3864"/>
                </a:solidFill>
                <a:latin typeface="Times New Roman"/>
                <a:ea typeface="Times New Roman"/>
                <a:cs typeface="Times New Roman"/>
                <a:sym typeface="Times New Roman"/>
              </a:rPr>
              <a:t> </a:t>
            </a:r>
            <a:r>
              <a:rPr b="0" i="0" lang="en-US" sz="2400" u="none" cap="none" strike="noStrike">
                <a:solidFill>
                  <a:srgbClr val="1F3864"/>
                </a:solidFill>
                <a:latin typeface="Times New Roman"/>
                <a:ea typeface="Times New Roman"/>
                <a:cs typeface="Times New Roman"/>
                <a:sym typeface="Times New Roman"/>
              </a:rPr>
              <a:t>a comprehensive global archive of published research data on soil respiration.</a:t>
            </a:r>
            <a:endParaRPr/>
          </a:p>
          <a:p>
            <a:pPr indent="-190500" lvl="0" marL="342900" marR="0" rtl="0" algn="l">
              <a:spcBef>
                <a:spcPts val="480"/>
              </a:spcBef>
              <a:spcAft>
                <a:spcPts val="0"/>
              </a:spcAft>
              <a:buClr>
                <a:srgbClr val="1F3864"/>
              </a:buClr>
              <a:buSzPts val="2400"/>
              <a:buFont typeface="Arial"/>
              <a:buNone/>
            </a:pPr>
            <a:r>
              <a:t/>
            </a:r>
            <a:endParaRPr b="0" i="0" sz="2400" u="none" cap="none" strike="noStrike">
              <a:solidFill>
                <a:srgbClr val="1F3864"/>
              </a:solidFill>
              <a:latin typeface="Times New Roman"/>
              <a:ea typeface="Times New Roman"/>
              <a:cs typeface="Times New Roman"/>
              <a:sym typeface="Times New Roman"/>
            </a:endParaRPr>
          </a:p>
          <a:p>
            <a:pPr indent="0" lvl="0" marL="0" marR="0" rtl="0" algn="l">
              <a:spcBef>
                <a:spcPts val="480"/>
              </a:spcBef>
              <a:spcAft>
                <a:spcPts val="0"/>
              </a:spcAft>
              <a:buClr>
                <a:srgbClr val="1F3864"/>
              </a:buClr>
              <a:buSzPts val="2400"/>
              <a:buFont typeface="Arial"/>
              <a:buNone/>
            </a:pPr>
            <a:r>
              <a:rPr b="1" i="0" lang="en-US" sz="2400" u="none" cap="none" strike="noStrike">
                <a:solidFill>
                  <a:srgbClr val="1F3864"/>
                </a:solidFill>
                <a:latin typeface="Times New Roman"/>
                <a:ea typeface="Times New Roman"/>
                <a:cs typeface="Times New Roman"/>
                <a:sym typeface="Times New Roman"/>
              </a:rPr>
              <a:t>Data cleaning and preprocessing</a:t>
            </a:r>
            <a:endParaRPr/>
          </a:p>
          <a:p>
            <a:pPr indent="-342900" lvl="0" marL="342900" marR="0" rtl="0" algn="l">
              <a:spcBef>
                <a:spcPts val="4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Records with entries flagged in the Quality_flag field were excluded from the analysis.</a:t>
            </a:r>
            <a:endParaRPr/>
          </a:p>
          <a:p>
            <a:pPr indent="-342900" lvl="0" marL="342900" marR="0" rtl="0" algn="l">
              <a:spcBef>
                <a:spcPts val="10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Extreme outliers, with Rs_annual values above 5000 gCm⁻², were also removed; this corresponded to 22 records from a total of 12,272 entries (less than 0.2%). </a:t>
            </a:r>
            <a:endParaRPr/>
          </a:p>
          <a:p>
            <a:pPr indent="-342900" lvl="0" marL="342900" marR="0" rtl="0" algn="l">
              <a:spcBef>
                <a:spcPts val="10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Missing values for the independent variables were replaced by the median value of each respective feature.</a:t>
            </a:r>
            <a:endParaRPr b="0" i="0" sz="2000" u="none" cap="none" strike="noStrike">
              <a:solidFill>
                <a:srgbClr val="1F3864"/>
              </a:solidFill>
              <a:latin typeface="Century Gothic"/>
              <a:ea typeface="Century Gothic"/>
              <a:cs typeface="Century Gothic"/>
              <a:sym typeface="Century Gothic"/>
            </a:endParaRPr>
          </a:p>
        </p:txBody>
      </p:sp>
      <p:pic>
        <p:nvPicPr>
          <p:cNvPr descr="A screenshot of a computer screen&#10;&#10;Description automatically generated" id="55" name="Google Shape;55;p1"/>
          <p:cNvPicPr preferRelativeResize="0"/>
          <p:nvPr/>
        </p:nvPicPr>
        <p:blipFill rotWithShape="1">
          <a:blip r:embed="rId3">
            <a:alphaModFix/>
          </a:blip>
          <a:srcRect b="0" l="0" r="0" t="0"/>
          <a:stretch/>
        </p:blipFill>
        <p:spPr>
          <a:xfrm>
            <a:off x="23589488" y="10723329"/>
            <a:ext cx="6218250" cy="3277469"/>
          </a:xfrm>
          <a:prstGeom prst="rect">
            <a:avLst/>
          </a:prstGeom>
          <a:noFill/>
          <a:ln>
            <a:noFill/>
          </a:ln>
        </p:spPr>
      </p:pic>
      <p:sp>
        <p:nvSpPr>
          <p:cNvPr id="56" name="Google Shape;56;p1"/>
          <p:cNvSpPr txBox="1"/>
          <p:nvPr/>
        </p:nvSpPr>
        <p:spPr>
          <a:xfrm>
            <a:off x="22668036" y="13919336"/>
            <a:ext cx="10001126" cy="1107973"/>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1800"/>
              <a:buFont typeface="Arial"/>
              <a:buNone/>
            </a:pPr>
            <a:r>
              <a:rPr b="0" i="0" lang="en-US" sz="1800" u="none" cap="none" strike="noStrike">
                <a:solidFill>
                  <a:srgbClr val="1F3864"/>
                </a:solidFill>
                <a:latin typeface="Times New Roman"/>
                <a:ea typeface="Times New Roman"/>
                <a:cs typeface="Times New Roman"/>
                <a:sym typeface="Times New Roman"/>
              </a:rPr>
              <a:t>Fig. 1. illustrates the model training with hyperparameter optimization and model evaluation process.</a:t>
            </a:r>
            <a:endParaRPr b="0" i="0" sz="1800" u="none" cap="none" strike="noStrike">
              <a:solidFill>
                <a:srgbClr val="1F3864"/>
              </a:solidFill>
              <a:latin typeface="Times New Roman"/>
              <a:ea typeface="Times New Roman"/>
              <a:cs typeface="Times New Roman"/>
              <a:sym typeface="Times New Roman"/>
            </a:endParaRPr>
          </a:p>
          <a:p>
            <a:pPr indent="0" lvl="0" marL="0" marR="0" rtl="0" algn="l">
              <a:spcBef>
                <a:spcPts val="400"/>
              </a:spcBef>
              <a:spcAft>
                <a:spcPts val="0"/>
              </a:spcAft>
              <a:buClr>
                <a:srgbClr val="1F3864"/>
              </a:buClr>
              <a:buSzPts val="2000"/>
              <a:buFont typeface="Arial"/>
              <a:buNone/>
            </a:pPr>
            <a:r>
              <a:t/>
            </a:r>
            <a:endParaRPr b="0" i="0" sz="2000" u="none" cap="none" strike="noStrike">
              <a:solidFill>
                <a:srgbClr val="1F3864"/>
              </a:solidFill>
              <a:latin typeface="Century Gothic"/>
              <a:ea typeface="Century Gothic"/>
              <a:cs typeface="Century Gothic"/>
              <a:sym typeface="Century Gothic"/>
            </a:endParaRPr>
          </a:p>
        </p:txBody>
      </p:sp>
      <p:sp>
        <p:nvSpPr>
          <p:cNvPr id="57" name="Google Shape;57;p1"/>
          <p:cNvSpPr txBox="1"/>
          <p:nvPr/>
        </p:nvSpPr>
        <p:spPr>
          <a:xfrm>
            <a:off x="11041059" y="19296701"/>
            <a:ext cx="21421724" cy="954085"/>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3200"/>
              <a:buFont typeface="Arial"/>
              <a:buNone/>
            </a:pPr>
            <a:r>
              <a:rPr b="1" i="0" lang="en-US" sz="3200" u="none" cap="none" strike="noStrike">
                <a:solidFill>
                  <a:srgbClr val="1F3864"/>
                </a:solidFill>
                <a:latin typeface="Times New Roman"/>
                <a:ea typeface="Times New Roman"/>
                <a:cs typeface="Times New Roman"/>
                <a:sym typeface="Times New Roman"/>
              </a:rPr>
              <a:t>Performance </a:t>
            </a:r>
            <a:endParaRPr/>
          </a:p>
        </p:txBody>
      </p:sp>
      <p:sp>
        <p:nvSpPr>
          <p:cNvPr id="58" name="Google Shape;58;p1"/>
          <p:cNvSpPr txBox="1"/>
          <p:nvPr/>
        </p:nvSpPr>
        <p:spPr>
          <a:xfrm>
            <a:off x="22184880" y="14588540"/>
            <a:ext cx="11000220" cy="3908740"/>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3200"/>
              <a:buFont typeface="Arial"/>
              <a:buNone/>
            </a:pPr>
            <a:r>
              <a:rPr b="1" i="0" lang="en-US" sz="3200" u="none" cap="none" strike="noStrike">
                <a:solidFill>
                  <a:srgbClr val="1F3864"/>
                </a:solidFill>
                <a:latin typeface="Times New Roman"/>
                <a:ea typeface="Times New Roman"/>
                <a:cs typeface="Times New Roman"/>
                <a:sym typeface="Times New Roman"/>
              </a:rPr>
              <a:t>Model Evaluation Metrics</a:t>
            </a:r>
            <a:endParaRPr/>
          </a:p>
          <a:p>
            <a:pPr indent="0" lvl="0" marL="0" marR="0" rtl="0" algn="l">
              <a:spcBef>
                <a:spcPts val="160"/>
              </a:spcBef>
              <a:spcAft>
                <a:spcPts val="0"/>
              </a:spcAft>
              <a:buClr>
                <a:srgbClr val="1F3864"/>
              </a:buClr>
              <a:buSzPts val="800"/>
              <a:buFont typeface="Arial"/>
              <a:buNone/>
            </a:pPr>
            <a:r>
              <a:t/>
            </a:r>
            <a:endParaRPr b="1" i="0" sz="800" u="none" cap="none" strike="noStrike">
              <a:solidFill>
                <a:srgbClr val="1F3864"/>
              </a:solidFill>
              <a:latin typeface="Times New Roman"/>
              <a:ea typeface="Times New Roman"/>
              <a:cs typeface="Times New Roman"/>
              <a:sym typeface="Times New Roman"/>
            </a:endParaRPr>
          </a:p>
          <a:p>
            <a:pPr indent="-342900" lvl="0" marL="342900" marR="0" rtl="0" algn="l">
              <a:spcBef>
                <a:spcPts val="480"/>
              </a:spcBef>
              <a:spcAft>
                <a:spcPts val="0"/>
              </a:spcAft>
              <a:buClr>
                <a:srgbClr val="1F3864"/>
              </a:buClr>
              <a:buSzPts val="2400"/>
              <a:buFont typeface="Arial"/>
              <a:buChar char="•"/>
            </a:pPr>
            <a:r>
              <a:rPr b="1" i="0" lang="en-US" sz="2400" u="none" cap="none" strike="noStrike">
                <a:solidFill>
                  <a:srgbClr val="1F3864"/>
                </a:solidFill>
                <a:latin typeface="Times New Roman"/>
                <a:ea typeface="Times New Roman"/>
                <a:cs typeface="Times New Roman"/>
                <a:sym typeface="Times New Roman"/>
              </a:rPr>
              <a:t>Mean Absolute Error (MAE):</a:t>
            </a:r>
            <a:r>
              <a:rPr b="0" i="0" lang="en-US" sz="2400" u="none" cap="none" strike="noStrike">
                <a:solidFill>
                  <a:srgbClr val="1F3864"/>
                </a:solidFill>
                <a:latin typeface="Times New Roman"/>
                <a:ea typeface="Times New Roman"/>
                <a:cs typeface="Times New Roman"/>
                <a:sym typeface="Times New Roman"/>
              </a:rPr>
              <a:t> Average absolute difference between predicted and real observed values</a:t>
            </a:r>
            <a:endParaRPr/>
          </a:p>
          <a:p>
            <a:pPr indent="-342900" lvl="0" marL="342900" marR="0" rtl="0" algn="l">
              <a:spcBef>
                <a:spcPts val="480"/>
              </a:spcBef>
              <a:spcAft>
                <a:spcPts val="0"/>
              </a:spcAft>
              <a:buClr>
                <a:srgbClr val="1F3864"/>
              </a:buClr>
              <a:buSzPts val="2400"/>
              <a:buFont typeface="Arial"/>
              <a:buChar char="•"/>
            </a:pPr>
            <a:r>
              <a:rPr b="1" i="0" lang="en-US" sz="2400" u="none" cap="none" strike="noStrike">
                <a:solidFill>
                  <a:srgbClr val="1F3864"/>
                </a:solidFill>
                <a:latin typeface="Times New Roman"/>
                <a:ea typeface="Times New Roman"/>
                <a:cs typeface="Times New Roman"/>
                <a:sym typeface="Times New Roman"/>
              </a:rPr>
              <a:t>Root Mean Squared Error (RMSE): S</a:t>
            </a:r>
            <a:r>
              <a:rPr b="0" i="0" lang="en-US" sz="2400" u="none" cap="none" strike="noStrike">
                <a:solidFill>
                  <a:srgbClr val="1F3864"/>
                </a:solidFill>
                <a:latin typeface="Times New Roman"/>
                <a:ea typeface="Times New Roman"/>
                <a:cs typeface="Times New Roman"/>
                <a:sym typeface="Times New Roman"/>
              </a:rPr>
              <a:t>quare root of the mean of the squared differences between the predicted and actual values. </a:t>
            </a:r>
            <a:endParaRPr/>
          </a:p>
          <a:p>
            <a:pPr indent="-342900" lvl="0" marL="342900" marR="0" rtl="0" algn="l">
              <a:spcBef>
                <a:spcPts val="480"/>
              </a:spcBef>
              <a:spcAft>
                <a:spcPts val="0"/>
              </a:spcAft>
              <a:buClr>
                <a:srgbClr val="1F3864"/>
              </a:buClr>
              <a:buSzPts val="2400"/>
              <a:buFont typeface="Arial"/>
              <a:buChar char="•"/>
            </a:pPr>
            <a:r>
              <a:rPr b="1" i="0" lang="en-US" sz="2400" u="none" cap="none" strike="noStrike">
                <a:solidFill>
                  <a:srgbClr val="1F3864"/>
                </a:solidFill>
                <a:latin typeface="Times New Roman"/>
                <a:ea typeface="Times New Roman"/>
                <a:cs typeface="Times New Roman"/>
                <a:sym typeface="Times New Roman"/>
              </a:rPr>
              <a:t>Coefficient of Determination (R²):</a:t>
            </a:r>
            <a:r>
              <a:rPr b="0" i="0" lang="en-US" sz="2400" u="none" cap="none" strike="noStrike">
                <a:solidFill>
                  <a:srgbClr val="1F3864"/>
                </a:solidFill>
                <a:latin typeface="Times New Roman"/>
                <a:ea typeface="Times New Roman"/>
                <a:cs typeface="Times New Roman"/>
                <a:sym typeface="Times New Roman"/>
              </a:rPr>
              <a:t>  The amount of variance in the dependent variable that can be explained by the independent variables in the regression model. </a:t>
            </a:r>
            <a:endParaRPr b="1" i="0" sz="2400" u="none" cap="none" strike="noStrike">
              <a:solidFill>
                <a:srgbClr val="1F3864"/>
              </a:solidFill>
              <a:latin typeface="Times New Roman"/>
              <a:ea typeface="Times New Roman"/>
              <a:cs typeface="Times New Roman"/>
              <a:sym typeface="Times New Roman"/>
            </a:endParaRPr>
          </a:p>
        </p:txBody>
      </p:sp>
      <p:sp>
        <p:nvSpPr>
          <p:cNvPr id="59" name="Google Shape;59;p1"/>
          <p:cNvSpPr txBox="1"/>
          <p:nvPr/>
        </p:nvSpPr>
        <p:spPr>
          <a:xfrm>
            <a:off x="11034209" y="24246601"/>
            <a:ext cx="10086974" cy="954085"/>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3200"/>
              <a:buFont typeface="Arial"/>
              <a:buNone/>
            </a:pPr>
            <a:r>
              <a:rPr b="1" i="0" lang="en-US" sz="3200" u="none" cap="none" strike="noStrike">
                <a:solidFill>
                  <a:srgbClr val="1F3864"/>
                </a:solidFill>
                <a:latin typeface="Times New Roman"/>
                <a:ea typeface="Times New Roman"/>
                <a:cs typeface="Times New Roman"/>
                <a:sym typeface="Times New Roman"/>
              </a:rPr>
              <a:t>Model Explainability</a:t>
            </a:r>
            <a:endParaRPr/>
          </a:p>
        </p:txBody>
      </p:sp>
      <p:pic>
        <p:nvPicPr>
          <p:cNvPr id="60" name="Google Shape;60;p1"/>
          <p:cNvPicPr preferRelativeResize="0"/>
          <p:nvPr/>
        </p:nvPicPr>
        <p:blipFill rotWithShape="1">
          <a:blip r:embed="rId4">
            <a:alphaModFix/>
          </a:blip>
          <a:srcRect b="0" l="0" r="0" t="0"/>
          <a:stretch/>
        </p:blipFill>
        <p:spPr>
          <a:xfrm>
            <a:off x="11176787" y="20035461"/>
            <a:ext cx="6052493" cy="1651461"/>
          </a:xfrm>
          <a:prstGeom prst="rect">
            <a:avLst/>
          </a:prstGeom>
          <a:noFill/>
          <a:ln>
            <a:noFill/>
          </a:ln>
        </p:spPr>
      </p:pic>
      <p:sp>
        <p:nvSpPr>
          <p:cNvPr id="61" name="Google Shape;61;p1"/>
          <p:cNvSpPr txBox="1"/>
          <p:nvPr/>
        </p:nvSpPr>
        <p:spPr>
          <a:xfrm>
            <a:off x="11145714" y="21769518"/>
            <a:ext cx="7492312" cy="2609923"/>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2400"/>
              <a:buFont typeface="Arial"/>
              <a:buNone/>
            </a:pPr>
            <a:r>
              <a:rPr b="0" i="0" lang="en-US" sz="2400" u="none" cap="none" strike="noStrike">
                <a:solidFill>
                  <a:srgbClr val="1F3864"/>
                </a:solidFill>
                <a:latin typeface="Times New Roman"/>
                <a:ea typeface="Times New Roman"/>
                <a:cs typeface="Times New Roman"/>
                <a:sym typeface="Times New Roman"/>
              </a:rPr>
              <a:t>XGBoost model has the best performance in terms of predictive accuracy and error reduction compared with the other three models: </a:t>
            </a:r>
            <a:endParaRPr/>
          </a:p>
          <a:p>
            <a:pPr indent="-342900" lvl="0" marL="342900" marR="0" rtl="0" algn="l">
              <a:spcBef>
                <a:spcPts val="10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Lowest MAE and RMSE</a:t>
            </a:r>
            <a:endParaRPr/>
          </a:p>
          <a:p>
            <a:pPr indent="-342900" lvl="0" marL="342900" marR="0" rtl="0" algn="l">
              <a:spcBef>
                <a:spcPts val="10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Highest R2</a:t>
            </a:r>
            <a:endParaRPr/>
          </a:p>
        </p:txBody>
      </p:sp>
      <p:pic>
        <p:nvPicPr>
          <p:cNvPr descr="A graph with blue squares&#10;&#10;Description automatically generated" id="62" name="Google Shape;62;p1"/>
          <p:cNvPicPr preferRelativeResize="0"/>
          <p:nvPr/>
        </p:nvPicPr>
        <p:blipFill rotWithShape="1">
          <a:blip r:embed="rId5">
            <a:alphaModFix/>
          </a:blip>
          <a:srcRect b="0" l="0" r="0" t="0"/>
          <a:stretch/>
        </p:blipFill>
        <p:spPr>
          <a:xfrm>
            <a:off x="19362549" y="19340249"/>
            <a:ext cx="6688056" cy="3770369"/>
          </a:xfrm>
          <a:prstGeom prst="rect">
            <a:avLst/>
          </a:prstGeom>
          <a:noFill/>
          <a:ln>
            <a:noFill/>
          </a:ln>
        </p:spPr>
      </p:pic>
      <p:pic>
        <p:nvPicPr>
          <p:cNvPr descr="A graph of different colored lines&#10;&#10;Description automatically generated with medium confidence" id="63" name="Google Shape;63;p1"/>
          <p:cNvPicPr preferRelativeResize="0"/>
          <p:nvPr/>
        </p:nvPicPr>
        <p:blipFill rotWithShape="1">
          <a:blip r:embed="rId6">
            <a:alphaModFix/>
          </a:blip>
          <a:srcRect b="0" l="0" r="0" t="0"/>
          <a:stretch/>
        </p:blipFill>
        <p:spPr>
          <a:xfrm>
            <a:off x="26708431" y="19391777"/>
            <a:ext cx="4409413" cy="3563480"/>
          </a:xfrm>
          <a:prstGeom prst="rect">
            <a:avLst/>
          </a:prstGeom>
          <a:noFill/>
          <a:ln>
            <a:noFill/>
          </a:ln>
        </p:spPr>
      </p:pic>
      <p:pic>
        <p:nvPicPr>
          <p:cNvPr descr="A blue dotted graph with white text&#10;&#10;Description automatically generated" id="64" name="Google Shape;64;p1"/>
          <p:cNvPicPr preferRelativeResize="0"/>
          <p:nvPr/>
        </p:nvPicPr>
        <p:blipFill rotWithShape="1">
          <a:blip r:embed="rId7">
            <a:alphaModFix/>
          </a:blip>
          <a:srcRect b="0" l="0" r="0" t="0"/>
          <a:stretch/>
        </p:blipFill>
        <p:spPr>
          <a:xfrm>
            <a:off x="19734826" y="24691172"/>
            <a:ext cx="3729472" cy="3145860"/>
          </a:xfrm>
          <a:prstGeom prst="rect">
            <a:avLst/>
          </a:prstGeom>
          <a:noFill/>
          <a:ln>
            <a:noFill/>
          </a:ln>
        </p:spPr>
      </p:pic>
      <p:pic>
        <p:nvPicPr>
          <p:cNvPr descr="A graph with blue dots&#10;&#10;Description automatically generated" id="65" name="Google Shape;65;p1"/>
          <p:cNvPicPr preferRelativeResize="0"/>
          <p:nvPr/>
        </p:nvPicPr>
        <p:blipFill rotWithShape="1">
          <a:blip r:embed="rId8">
            <a:alphaModFix/>
          </a:blip>
          <a:srcRect b="0" l="0" r="0" t="0"/>
          <a:stretch/>
        </p:blipFill>
        <p:spPr>
          <a:xfrm>
            <a:off x="27750051" y="24609111"/>
            <a:ext cx="3163251" cy="3059051"/>
          </a:xfrm>
          <a:prstGeom prst="rect">
            <a:avLst/>
          </a:prstGeom>
          <a:noFill/>
          <a:ln>
            <a:noFill/>
          </a:ln>
        </p:spPr>
      </p:pic>
      <p:pic>
        <p:nvPicPr>
          <p:cNvPr id="66" name="Google Shape;66;p1"/>
          <p:cNvPicPr preferRelativeResize="0"/>
          <p:nvPr/>
        </p:nvPicPr>
        <p:blipFill rotWithShape="1">
          <a:blip r:embed="rId9">
            <a:alphaModFix/>
          </a:blip>
          <a:srcRect b="0" l="0" r="0" t="0"/>
          <a:stretch/>
        </p:blipFill>
        <p:spPr>
          <a:xfrm>
            <a:off x="27871777" y="28268879"/>
            <a:ext cx="3593406" cy="3022520"/>
          </a:xfrm>
          <a:prstGeom prst="rect">
            <a:avLst/>
          </a:prstGeom>
          <a:noFill/>
          <a:ln>
            <a:noFill/>
          </a:ln>
        </p:spPr>
      </p:pic>
      <p:pic>
        <p:nvPicPr>
          <p:cNvPr descr="A graph with different colored dots&#10;&#10;Description automatically generated" id="67" name="Google Shape;67;p1"/>
          <p:cNvPicPr preferRelativeResize="0"/>
          <p:nvPr/>
        </p:nvPicPr>
        <p:blipFill rotWithShape="1">
          <a:blip r:embed="rId10">
            <a:alphaModFix/>
          </a:blip>
          <a:srcRect b="0" l="0" r="0" t="0"/>
          <a:stretch/>
        </p:blipFill>
        <p:spPr>
          <a:xfrm>
            <a:off x="19804105" y="28484885"/>
            <a:ext cx="3952393" cy="2590508"/>
          </a:xfrm>
          <a:prstGeom prst="rect">
            <a:avLst/>
          </a:prstGeom>
          <a:noFill/>
          <a:ln>
            <a:noFill/>
          </a:ln>
        </p:spPr>
      </p:pic>
      <p:pic>
        <p:nvPicPr>
          <p:cNvPr descr="A blue and white background with text&#10;&#10;Description automatically generated with medium confidence" id="68" name="Google Shape;68;p1"/>
          <p:cNvPicPr preferRelativeResize="0"/>
          <p:nvPr/>
        </p:nvPicPr>
        <p:blipFill rotWithShape="1">
          <a:blip r:embed="rId11">
            <a:alphaModFix/>
          </a:blip>
          <a:srcRect b="0" l="0" r="0" t="0"/>
          <a:stretch/>
        </p:blipFill>
        <p:spPr>
          <a:xfrm>
            <a:off x="11629407" y="29359850"/>
            <a:ext cx="5652777" cy="1762110"/>
          </a:xfrm>
          <a:prstGeom prst="rect">
            <a:avLst/>
          </a:prstGeom>
          <a:noFill/>
          <a:ln>
            <a:noFill/>
          </a:ln>
        </p:spPr>
      </p:pic>
      <p:sp>
        <p:nvSpPr>
          <p:cNvPr id="69" name="Google Shape;69;p1"/>
          <p:cNvSpPr txBox="1"/>
          <p:nvPr/>
        </p:nvSpPr>
        <p:spPr>
          <a:xfrm>
            <a:off x="11060215" y="24861463"/>
            <a:ext cx="8121439" cy="5272190"/>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2400"/>
              <a:buFont typeface="Arial"/>
              <a:buNone/>
            </a:pPr>
            <a:r>
              <a:rPr b="0" i="0" lang="en-US" sz="2400" u="none" cap="none" strike="noStrike">
                <a:solidFill>
                  <a:srgbClr val="1F3864"/>
                </a:solidFill>
                <a:latin typeface="Times New Roman"/>
                <a:ea typeface="Times New Roman"/>
                <a:cs typeface="Times New Roman"/>
                <a:sym typeface="Times New Roman"/>
              </a:rPr>
              <a:t>Machine learning methods are mostly seen as "black boxes."  To overcome this, </a:t>
            </a:r>
            <a:r>
              <a:rPr b="1" i="0" lang="en-US" sz="2400" u="none" cap="none" strike="noStrike">
                <a:solidFill>
                  <a:srgbClr val="1F3864"/>
                </a:solidFill>
                <a:latin typeface="Times New Roman"/>
                <a:ea typeface="Times New Roman"/>
                <a:cs typeface="Times New Roman"/>
                <a:sym typeface="Times New Roman"/>
              </a:rPr>
              <a:t>SHAP</a:t>
            </a:r>
            <a:r>
              <a:rPr b="0" i="0" lang="en-US" sz="2400" u="none" cap="none" strike="noStrike">
                <a:solidFill>
                  <a:srgbClr val="1F3864"/>
                </a:solidFill>
                <a:latin typeface="Times New Roman"/>
                <a:ea typeface="Times New Roman"/>
                <a:cs typeface="Times New Roman"/>
                <a:sym typeface="Times New Roman"/>
              </a:rPr>
              <a:t> is applied together with the XGBoost model to analyze feature importance, feature distribution, partial dependence, and the interactions between different features. A SHAP value quantifies how much each feature contributes to a model’s prediction for a specific instance, compared to the average prediction. </a:t>
            </a:r>
            <a:endParaRPr/>
          </a:p>
          <a:p>
            <a:pPr indent="-342900" lvl="0" marL="342900" marR="0" rtl="0" algn="l">
              <a:spcBef>
                <a:spcPts val="10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Global level: Feature importance (Fig 2) and dispersion plot (Fig 3)</a:t>
            </a:r>
            <a:endParaRPr/>
          </a:p>
          <a:p>
            <a:pPr indent="-342900" lvl="0" marL="342900" marR="0" rtl="0" algn="l">
              <a:spcBef>
                <a:spcPts val="1080"/>
              </a:spcBef>
              <a:spcAft>
                <a:spcPts val="0"/>
              </a:spcAft>
              <a:buClr>
                <a:srgbClr val="1F3864"/>
              </a:buClr>
              <a:buSzPts val="2400"/>
              <a:buFont typeface="Arial"/>
              <a:buChar char="•"/>
            </a:pPr>
            <a:r>
              <a:rPr b="0" i="0" lang="en-US" sz="2400" u="none" cap="none" strike="noStrike">
                <a:solidFill>
                  <a:srgbClr val="1F3864"/>
                </a:solidFill>
                <a:latin typeface="Times New Roman"/>
                <a:ea typeface="Times New Roman"/>
                <a:cs typeface="Times New Roman"/>
                <a:sym typeface="Times New Roman"/>
              </a:rPr>
              <a:t>Individual prediction level: partial plot (Fig 4-7) and force plot (Fig 8)</a:t>
            </a:r>
            <a:endParaRPr/>
          </a:p>
          <a:p>
            <a:pPr indent="0" lvl="0" marL="0" marR="0" rtl="0" algn="l">
              <a:spcBef>
                <a:spcPts val="1000"/>
              </a:spcBef>
              <a:spcAft>
                <a:spcPts val="0"/>
              </a:spcAft>
              <a:buClr>
                <a:srgbClr val="1F3864"/>
              </a:buClr>
              <a:buSzPts val="2000"/>
              <a:buFont typeface="Arial"/>
              <a:buNone/>
            </a:pPr>
            <a:r>
              <a:t/>
            </a:r>
            <a:endParaRPr b="1" i="0" sz="2000" u="none" cap="none" strike="noStrike">
              <a:solidFill>
                <a:srgbClr val="1F3864"/>
              </a:solidFill>
              <a:latin typeface="Century Gothic"/>
              <a:ea typeface="Century Gothic"/>
              <a:cs typeface="Century Gothic"/>
              <a:sym typeface="Century Gothic"/>
            </a:endParaRPr>
          </a:p>
        </p:txBody>
      </p:sp>
      <p:sp>
        <p:nvSpPr>
          <p:cNvPr id="70" name="Google Shape;70;p1"/>
          <p:cNvSpPr txBox="1"/>
          <p:nvPr/>
        </p:nvSpPr>
        <p:spPr>
          <a:xfrm>
            <a:off x="20341997" y="23171680"/>
            <a:ext cx="529310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2C556E"/>
                </a:solidFill>
                <a:latin typeface="Times New Roman"/>
                <a:ea typeface="Times New Roman"/>
                <a:cs typeface="Times New Roman"/>
                <a:sym typeface="Times New Roman"/>
              </a:rPr>
              <a:t>Fig. 2. Diagram of feature importance illustrates average impact from features</a:t>
            </a:r>
            <a:endParaRPr/>
          </a:p>
        </p:txBody>
      </p:sp>
      <p:sp>
        <p:nvSpPr>
          <p:cNvPr id="71" name="Google Shape;71;p1"/>
          <p:cNvSpPr txBox="1"/>
          <p:nvPr/>
        </p:nvSpPr>
        <p:spPr>
          <a:xfrm>
            <a:off x="26411275" y="23011741"/>
            <a:ext cx="681075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C556E"/>
                </a:solidFill>
                <a:latin typeface="Times New Roman"/>
                <a:ea typeface="Times New Roman"/>
                <a:cs typeface="Times New Roman"/>
                <a:sym typeface="Times New Roman"/>
              </a:rPr>
              <a:t>Fig. 3. SHAP dispersion plot visualizes the distribution of SHAP values for a given feature across different instances in a dataset, illustrating the variability of a feature's impact on model predictions.</a:t>
            </a:r>
            <a:endParaRPr/>
          </a:p>
        </p:txBody>
      </p:sp>
      <p:sp>
        <p:nvSpPr>
          <p:cNvPr id="72" name="Google Shape;72;p1"/>
          <p:cNvSpPr txBox="1"/>
          <p:nvPr/>
        </p:nvSpPr>
        <p:spPr>
          <a:xfrm>
            <a:off x="19840121" y="27800120"/>
            <a:ext cx="50713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C556E"/>
                </a:solidFill>
                <a:latin typeface="Times New Roman"/>
                <a:ea typeface="Times New Roman"/>
                <a:cs typeface="Times New Roman"/>
                <a:sym typeface="Times New Roman"/>
              </a:rPr>
              <a:t>Fig. 4. Patial dependence - MAP</a:t>
            </a:r>
            <a:endParaRPr/>
          </a:p>
        </p:txBody>
      </p:sp>
      <p:sp>
        <p:nvSpPr>
          <p:cNvPr id="73" name="Google Shape;73;p1"/>
          <p:cNvSpPr txBox="1"/>
          <p:nvPr/>
        </p:nvSpPr>
        <p:spPr>
          <a:xfrm>
            <a:off x="27303333" y="27758940"/>
            <a:ext cx="50713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C556E"/>
                </a:solidFill>
                <a:latin typeface="Times New Roman"/>
                <a:ea typeface="Times New Roman"/>
                <a:cs typeface="Times New Roman"/>
                <a:sym typeface="Times New Roman"/>
              </a:rPr>
              <a:t>Fig. 5. Patial dependence - MAT</a:t>
            </a:r>
            <a:endParaRPr/>
          </a:p>
        </p:txBody>
      </p:sp>
      <p:sp>
        <p:nvSpPr>
          <p:cNvPr id="74" name="Google Shape;74;p1"/>
          <p:cNvSpPr txBox="1"/>
          <p:nvPr/>
        </p:nvSpPr>
        <p:spPr>
          <a:xfrm>
            <a:off x="19734826" y="31353914"/>
            <a:ext cx="50713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C556E"/>
                </a:solidFill>
                <a:latin typeface="Times New Roman"/>
                <a:ea typeface="Times New Roman"/>
                <a:cs typeface="Times New Roman"/>
                <a:sym typeface="Times New Roman"/>
              </a:rPr>
              <a:t>Fig. 6. Patial dependence – MAP and MAT</a:t>
            </a:r>
            <a:endParaRPr/>
          </a:p>
        </p:txBody>
      </p:sp>
      <p:sp>
        <p:nvSpPr>
          <p:cNvPr id="75" name="Google Shape;75;p1"/>
          <p:cNvSpPr txBox="1"/>
          <p:nvPr/>
        </p:nvSpPr>
        <p:spPr>
          <a:xfrm>
            <a:off x="27366943" y="31406616"/>
            <a:ext cx="50713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Fig. 7. Patial dependence – Study_year</a:t>
            </a:r>
            <a:endParaRPr sz="1800">
              <a:solidFill>
                <a:srgbClr val="002060"/>
              </a:solidFill>
              <a:latin typeface="Times New Roman"/>
              <a:ea typeface="Times New Roman"/>
              <a:cs typeface="Times New Roman"/>
              <a:sym typeface="Times New Roman"/>
            </a:endParaRPr>
          </a:p>
        </p:txBody>
      </p:sp>
      <p:sp>
        <p:nvSpPr>
          <p:cNvPr id="76" name="Google Shape;76;p1"/>
          <p:cNvSpPr txBox="1"/>
          <p:nvPr/>
        </p:nvSpPr>
        <p:spPr>
          <a:xfrm>
            <a:off x="13033891" y="30714009"/>
            <a:ext cx="24552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C556E"/>
                </a:solidFill>
                <a:latin typeface="Times New Roman"/>
                <a:ea typeface="Times New Roman"/>
                <a:cs typeface="Times New Roman"/>
                <a:sym typeface="Times New Roman"/>
              </a:rPr>
              <a:t>Fig. 8. SHAP force plot</a:t>
            </a:r>
            <a:endParaRPr/>
          </a:p>
        </p:txBody>
      </p:sp>
      <p:sp>
        <p:nvSpPr>
          <p:cNvPr id="77" name="Google Shape;77;p1"/>
          <p:cNvSpPr txBox="1"/>
          <p:nvPr/>
        </p:nvSpPr>
        <p:spPr>
          <a:xfrm>
            <a:off x="33689925" y="23128994"/>
            <a:ext cx="10201275" cy="1200306"/>
          </a:xfrm>
          <a:prstGeom prst="rect">
            <a:avLst/>
          </a:prstGeom>
          <a:noFill/>
          <a:ln>
            <a:noFill/>
          </a:ln>
        </p:spPr>
        <p:txBody>
          <a:bodyPr anchorCtr="0" anchor="t" bIns="228575" lIns="228575" spcFirstLastPara="1" rIns="228575" wrap="square" tIns="228575">
            <a:spAutoFit/>
          </a:bodyPr>
          <a:lstStyle/>
          <a:p>
            <a:pPr indent="0" lvl="0" marL="0" marR="0" rtl="0" algn="l">
              <a:spcBef>
                <a:spcPts val="0"/>
              </a:spcBef>
              <a:spcAft>
                <a:spcPts val="0"/>
              </a:spcAft>
              <a:buClr>
                <a:srgbClr val="1F3864"/>
              </a:buClr>
              <a:buSzPts val="2400"/>
              <a:buFont typeface="Arial"/>
              <a:buNone/>
            </a:pPr>
            <a:r>
              <a:t/>
            </a:r>
            <a:endParaRPr b="0" sz="2400" u="none">
              <a:solidFill>
                <a:srgbClr val="1F3864"/>
              </a:solidFill>
              <a:latin typeface="Times New Roman"/>
              <a:ea typeface="Times New Roman"/>
              <a:cs typeface="Times New Roman"/>
              <a:sym typeface="Times New Roman"/>
            </a:endParaRPr>
          </a:p>
          <a:p>
            <a:pPr indent="-215900" lvl="0" marL="342900" marR="0" rtl="0" algn="l">
              <a:spcBef>
                <a:spcPts val="400"/>
              </a:spcBef>
              <a:spcAft>
                <a:spcPts val="0"/>
              </a:spcAft>
              <a:buClr>
                <a:srgbClr val="1F3864"/>
              </a:buClr>
              <a:buSzPts val="2000"/>
              <a:buFont typeface="Arial"/>
              <a:buNone/>
            </a:pPr>
            <a:r>
              <a:t/>
            </a:r>
            <a:endParaRPr b="0" sz="2000" u="none">
              <a:solidFill>
                <a:srgbClr val="1F3864"/>
              </a:solidFill>
              <a:latin typeface="Century Gothic"/>
              <a:ea typeface="Century Gothic"/>
              <a:cs typeface="Century Gothic"/>
              <a:sym typeface="Century Gothic"/>
            </a:endParaRPr>
          </a:p>
        </p:txBody>
      </p:sp>
      <p:sp>
        <p:nvSpPr>
          <p:cNvPr id="78" name="Google Shape;78;p1"/>
          <p:cNvSpPr txBox="1"/>
          <p:nvPr/>
        </p:nvSpPr>
        <p:spPr>
          <a:xfrm>
            <a:off x="33550359" y="15688239"/>
            <a:ext cx="10201275" cy="677100"/>
          </a:xfrm>
          <a:prstGeom prst="rect">
            <a:avLst/>
          </a:prstGeom>
          <a:solidFill>
            <a:srgbClr val="1F3864"/>
          </a:solidFill>
          <a:ln>
            <a:noFill/>
          </a:ln>
        </p:spPr>
        <p:txBody>
          <a:bodyPr anchorCtr="0" anchor="t" bIns="91425" lIns="91425" spcFirstLastPara="1" rIns="91425" wrap="square" tIns="91425">
            <a:spAutoFit/>
          </a:bodyPr>
          <a:lstStyle/>
          <a:p>
            <a:pPr indent="0" lvl="0" marL="0" marR="0" rtl="0" algn="ctr">
              <a:spcBef>
                <a:spcPts val="0"/>
              </a:spcBef>
              <a:spcAft>
                <a:spcPts val="0"/>
              </a:spcAft>
              <a:buClr>
                <a:schemeClr val="lt1"/>
              </a:buClr>
              <a:buSzPts val="3200"/>
              <a:buFont typeface="Arial"/>
              <a:buNone/>
            </a:pPr>
            <a:r>
              <a:rPr b="1" lang="en-US" sz="3200" u="none">
                <a:solidFill>
                  <a:schemeClr val="lt1"/>
                </a:solidFill>
                <a:latin typeface="Century Gothic"/>
                <a:ea typeface="Century Gothic"/>
                <a:cs typeface="Century Gothic"/>
                <a:sym typeface="Century Gothic"/>
              </a:rPr>
              <a:t>FUTURE WORK</a:t>
            </a:r>
            <a:endParaRPr/>
          </a:p>
        </p:txBody>
      </p:sp>
      <p:sp>
        <p:nvSpPr>
          <p:cNvPr id="79" name="Google Shape;79;p1"/>
          <p:cNvSpPr txBox="1"/>
          <p:nvPr/>
        </p:nvSpPr>
        <p:spPr>
          <a:xfrm>
            <a:off x="33550359" y="16892337"/>
            <a:ext cx="9987915" cy="366254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A notable challenge in this study is the significant amount of missing data for vegetation and carbon-related features. As a next step, further exploration of alternative data repositories, such as ERA5, is planned to improve data quality and model performance. </a:t>
            </a:r>
            <a:endParaRPr/>
          </a:p>
          <a:p>
            <a:pPr indent="-342900" lvl="0" marL="342900" marR="0" rtl="0" algn="l">
              <a:spcBef>
                <a:spcPts val="120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Another challenge is the small sample size, especially after excluding records with quality issues. Identifying reliable data sources and addressing data quality issues will be critical areas of focus to improve model robustness and performance. </a:t>
            </a:r>
            <a:endParaRPr/>
          </a:p>
          <a:p>
            <a:pPr indent="0" lvl="0" marL="0" marR="0" rtl="0" algn="l">
              <a:spcBef>
                <a:spcPts val="600"/>
              </a:spcBef>
              <a:spcAft>
                <a:spcPts val="0"/>
              </a:spcAft>
              <a:buNone/>
            </a:pPr>
            <a:r>
              <a:t/>
            </a:r>
            <a:endParaRPr sz="2500">
              <a:solidFill>
                <a:schemeClr val="dk1"/>
              </a:solidFill>
              <a:latin typeface="Times New Roman"/>
              <a:ea typeface="Times New Roman"/>
              <a:cs typeface="Times New Roman"/>
              <a:sym typeface="Times New Roman"/>
            </a:endParaRPr>
          </a:p>
        </p:txBody>
      </p:sp>
      <p:sp>
        <p:nvSpPr>
          <p:cNvPr id="80" name="Google Shape;80;p1"/>
          <p:cNvSpPr txBox="1"/>
          <p:nvPr/>
        </p:nvSpPr>
        <p:spPr>
          <a:xfrm>
            <a:off x="33637535" y="22023034"/>
            <a:ext cx="9296401" cy="609397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D. M. Lawrence et al., "The Community Land Model version 5: Description of new features, benchmarking, and impact of forcing uncertainty," J. Adv. Model. Earth Syst., vol. 11, no. 12, pp. 4245–4287, 2019.</a:t>
            </a:r>
            <a:endParaRPr/>
          </a:p>
          <a:p>
            <a:pPr indent="-342900" lvl="0" marL="342900" marR="0" rtl="0" algn="l">
              <a:spcBef>
                <a:spcPts val="120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J. Liu, J. Hu, H. Liu, et al., "Global soil respiration estimation based on ecological big data and machine learning model," Sci. Rep., vol. 14, 13231, 2024. doi: 10.1038/s41598-024-64235-w.</a:t>
            </a:r>
            <a:endParaRPr/>
          </a:p>
          <a:p>
            <a:pPr indent="-342900" lvl="0" marL="342900" marR="0" rtl="0" algn="l">
              <a:spcBef>
                <a:spcPts val="120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H. Lu, S. Li, M. Ma, et al., "Comparing machine learning-derived global estimates of soil respiration and its components with those from terrestrial ecosystem models," Environ. Res. Lett., vol. 16, no. 5, Art. 054048, 2021. doi: 10.1088/1748-9326/abf526.</a:t>
            </a:r>
            <a:endParaRPr/>
          </a:p>
          <a:p>
            <a:pPr indent="-342900" lvl="0" marL="342900" marR="0" rtl="0" algn="l">
              <a:spcBef>
                <a:spcPts val="1200"/>
              </a:spcBef>
              <a:spcAft>
                <a:spcPts val="0"/>
              </a:spcAft>
              <a:buClr>
                <a:srgbClr val="002060"/>
              </a:buClr>
              <a:buSzPts val="2400"/>
              <a:buFont typeface="Arial"/>
              <a:buChar char="•"/>
            </a:pPr>
            <a:r>
              <a:rPr lang="en-US" sz="2400">
                <a:solidFill>
                  <a:srgbClr val="002060"/>
                </a:solidFill>
                <a:latin typeface="Times New Roman"/>
                <a:ea typeface="Times New Roman"/>
                <a:cs typeface="Times New Roman"/>
                <a:sym typeface="Times New Roman"/>
              </a:rPr>
              <a:t>H. Luo, C. Xiang, L. Zeng, et al., "SHAP-based predictive modeling for 1-year all-cause readmission risk in elderly heart failure patients: Feature selection and model interpretation," Sci. Rep., vol. 14, 17728, 2024. doi: 10.1038/s41598-024-67844-7.</a:t>
            </a:r>
            <a:endParaRPr/>
          </a:p>
        </p:txBody>
      </p:sp>
      <p:pic>
        <p:nvPicPr>
          <p:cNvPr id="81" name="Google Shape;81;p1"/>
          <p:cNvPicPr preferRelativeResize="0"/>
          <p:nvPr/>
        </p:nvPicPr>
        <p:blipFill rotWithShape="1">
          <a:blip r:embed="rId12">
            <a:alphaModFix/>
          </a:blip>
          <a:srcRect b="0" l="0" r="0" t="0"/>
          <a:stretch/>
        </p:blipFill>
        <p:spPr>
          <a:xfrm>
            <a:off x="11435166" y="10375881"/>
            <a:ext cx="4610337" cy="3378374"/>
          </a:xfrm>
          <a:prstGeom prst="rect">
            <a:avLst/>
          </a:prstGeom>
          <a:noFill/>
          <a:ln>
            <a:noFill/>
          </a:ln>
        </p:spPr>
      </p:pic>
      <p:pic>
        <p:nvPicPr>
          <p:cNvPr id="82" name="Google Shape;82;p1"/>
          <p:cNvPicPr preferRelativeResize="0"/>
          <p:nvPr/>
        </p:nvPicPr>
        <p:blipFill rotWithShape="1">
          <a:blip r:embed="rId13">
            <a:alphaModFix/>
          </a:blip>
          <a:srcRect b="0" l="0" r="0" t="0"/>
          <a:stretch/>
        </p:blipFill>
        <p:spPr>
          <a:xfrm>
            <a:off x="16479188" y="10385406"/>
            <a:ext cx="4616687" cy="3359323"/>
          </a:xfrm>
          <a:prstGeom prst="rect">
            <a:avLst/>
          </a:prstGeom>
          <a:noFill/>
          <a:ln>
            <a:noFill/>
          </a:ln>
        </p:spPr>
      </p:pic>
      <p:pic>
        <p:nvPicPr>
          <p:cNvPr id="83" name="Google Shape;83;p1"/>
          <p:cNvPicPr preferRelativeResize="0"/>
          <p:nvPr/>
        </p:nvPicPr>
        <p:blipFill rotWithShape="1">
          <a:blip r:embed="rId14">
            <a:alphaModFix/>
          </a:blip>
          <a:srcRect b="0" l="0" r="0" t="0"/>
          <a:stretch/>
        </p:blipFill>
        <p:spPr>
          <a:xfrm>
            <a:off x="11629407" y="14086994"/>
            <a:ext cx="4515082" cy="3321221"/>
          </a:xfrm>
          <a:prstGeom prst="rect">
            <a:avLst/>
          </a:prstGeom>
          <a:noFill/>
          <a:ln>
            <a:noFill/>
          </a:ln>
        </p:spPr>
      </p:pic>
      <p:pic>
        <p:nvPicPr>
          <p:cNvPr id="84" name="Google Shape;84;p1"/>
          <p:cNvPicPr preferRelativeResize="0"/>
          <p:nvPr/>
        </p:nvPicPr>
        <p:blipFill rotWithShape="1">
          <a:blip r:embed="rId15">
            <a:alphaModFix/>
          </a:blip>
          <a:srcRect b="0" l="0" r="0" t="0"/>
          <a:stretch/>
        </p:blipFill>
        <p:spPr>
          <a:xfrm>
            <a:off x="16021968" y="13668038"/>
            <a:ext cx="5877548" cy="4872775"/>
          </a:xfrm>
          <a:prstGeom prst="rect">
            <a:avLst/>
          </a:prstGeom>
          <a:noFill/>
          <a:ln>
            <a:noFill/>
          </a:ln>
        </p:spPr>
      </p:pic>
      <p:sp>
        <p:nvSpPr>
          <p:cNvPr id="85" name="Google Shape;85;p1"/>
          <p:cNvSpPr txBox="1"/>
          <p:nvPr/>
        </p:nvSpPr>
        <p:spPr>
          <a:xfrm>
            <a:off x="23464298" y="25554650"/>
            <a:ext cx="271002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As MAP increases up to 1000 mm, Rs increases. However, beyond 1000 mm of MAP, the predicted Rs values level off. </a:t>
            </a:r>
            <a:endParaRPr sz="2500">
              <a:solidFill>
                <a:srgbClr val="002060"/>
              </a:solidFill>
              <a:latin typeface="Times New Roman"/>
              <a:ea typeface="Times New Roman"/>
              <a:cs typeface="Times New Roman"/>
              <a:sym typeface="Times New Roman"/>
            </a:endParaRPr>
          </a:p>
        </p:txBody>
      </p:sp>
      <p:sp>
        <p:nvSpPr>
          <p:cNvPr id="86" name="Google Shape;86;p1"/>
          <p:cNvSpPr txBox="1"/>
          <p:nvPr/>
        </p:nvSpPr>
        <p:spPr>
          <a:xfrm>
            <a:off x="30913302" y="25394652"/>
            <a:ext cx="161789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A slight upward trend between MAT and Rs.</a:t>
            </a:r>
            <a:endParaRPr sz="2500">
              <a:solidFill>
                <a:srgbClr val="002060"/>
              </a:solidFill>
              <a:latin typeface="Times New Roman"/>
              <a:ea typeface="Times New Roman"/>
              <a:cs typeface="Times New Roman"/>
              <a:sym typeface="Times New Roman"/>
            </a:endParaRPr>
          </a:p>
        </p:txBody>
      </p:sp>
      <p:sp>
        <p:nvSpPr>
          <p:cNvPr id="87" name="Google Shape;87;p1"/>
          <p:cNvSpPr txBox="1"/>
          <p:nvPr/>
        </p:nvSpPr>
        <p:spPr>
          <a:xfrm>
            <a:off x="23889381" y="28268879"/>
            <a:ext cx="289622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When both MAT and MAP are low, predicted Rs values are also low. High MAT and MAP lead to higher Rs. However, when MAT is moderate, the positive correlation between MAP and predicted Rs becomes less pronounced.</a:t>
            </a:r>
            <a:endParaRPr sz="2500">
              <a:solidFill>
                <a:srgbClr val="002060"/>
              </a:solidFill>
              <a:latin typeface="Times New Roman"/>
              <a:ea typeface="Times New Roman"/>
              <a:cs typeface="Times New Roman"/>
              <a:sym typeface="Times New Roman"/>
            </a:endParaRPr>
          </a:p>
        </p:txBody>
      </p:sp>
      <p:sp>
        <p:nvSpPr>
          <p:cNvPr id="88" name="Google Shape;88;p1"/>
          <p:cNvSpPr txBox="1"/>
          <p:nvPr/>
        </p:nvSpPr>
        <p:spPr>
          <a:xfrm>
            <a:off x="31268514" y="28338993"/>
            <a:ext cx="1610166"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A clear upward trend between study year and predicted Rs, indicating higher Rs in recent years. </a:t>
            </a:r>
            <a:endParaRPr sz="2500">
              <a:solidFill>
                <a:srgbClr val="002060"/>
              </a:solidFill>
              <a:latin typeface="Times New Roman"/>
              <a:ea typeface="Times New Roman"/>
              <a:cs typeface="Times New Roman"/>
              <a:sym typeface="Times New Roman"/>
            </a:endParaRPr>
          </a:p>
        </p:txBody>
      </p:sp>
      <p:sp>
        <p:nvSpPr>
          <p:cNvPr id="89" name="Google Shape;89;p1"/>
          <p:cNvSpPr txBox="1"/>
          <p:nvPr/>
        </p:nvSpPr>
        <p:spPr>
          <a:xfrm>
            <a:off x="11435167" y="31136506"/>
            <a:ext cx="733786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SHAP force plot</a:t>
            </a:r>
            <a:r>
              <a:rPr lang="en-US" sz="1800">
                <a:solidFill>
                  <a:srgbClr val="002060"/>
                </a:solidFill>
                <a:latin typeface="Times New Roman"/>
                <a:ea typeface="Times New Roman"/>
                <a:cs typeface="Times New Roman"/>
                <a:sym typeface="Times New Roman"/>
              </a:rPr>
              <a:t> visualizes how different features influence the model prediction for a specific observation. The features driving the prediction higher are in red and the features decreasing the predicted value are in blue.</a:t>
            </a:r>
            <a:endParaRPr sz="2500">
              <a:solidFill>
                <a:srgbClr val="002060"/>
              </a:solidFill>
              <a:latin typeface="Times New Roman"/>
              <a:ea typeface="Times New Roman"/>
              <a:cs typeface="Times New Roman"/>
              <a:sym typeface="Times New Roman"/>
            </a:endParaRPr>
          </a:p>
        </p:txBody>
      </p:sp>
      <p:sp>
        <p:nvSpPr>
          <p:cNvPr id="90" name="Google Shape;90;p1"/>
          <p:cNvSpPr txBox="1"/>
          <p:nvPr/>
        </p:nvSpPr>
        <p:spPr>
          <a:xfrm>
            <a:off x="20038846" y="24006134"/>
            <a:ext cx="113684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Partial dependence plots </a:t>
            </a:r>
            <a:r>
              <a:rPr lang="en-US" sz="1800">
                <a:solidFill>
                  <a:srgbClr val="002060"/>
                </a:solidFill>
                <a:latin typeface="Times New Roman"/>
                <a:ea typeface="Times New Roman"/>
                <a:cs typeface="Times New Roman"/>
                <a:sym typeface="Times New Roman"/>
              </a:rPr>
              <a:t>from SHAP illustrate how the model outcome changes as a specific feature change, while other features remain unchanged. </a:t>
            </a:r>
            <a:endParaRPr sz="2500">
              <a:solidFill>
                <a:srgbClr val="002060"/>
              </a:solidFill>
              <a:latin typeface="Times New Roman"/>
              <a:ea typeface="Times New Roman"/>
              <a:cs typeface="Times New Roman"/>
              <a:sym typeface="Times New Roman"/>
            </a:endParaRPr>
          </a:p>
        </p:txBody>
      </p:sp>
      <p:sp>
        <p:nvSpPr>
          <p:cNvPr id="91" name="Google Shape;91;p1"/>
          <p:cNvSpPr/>
          <p:nvPr/>
        </p:nvSpPr>
        <p:spPr>
          <a:xfrm>
            <a:off x="527050" y="32344242"/>
            <a:ext cx="2396903" cy="677100"/>
          </a:xfrm>
          <a:prstGeom prst="rect">
            <a:avLst/>
          </a:pr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6x48 Trifold 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2012-02-03T23:30:52Z</dcterms:created>
  <dc:creator>PosterPresentations.com</dc:creator>
</cp:coreProperties>
</file>