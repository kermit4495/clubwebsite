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Nunito"/>
      <p:regular r:id="rId17"/>
      <p:bold r:id="rId18"/>
      <p:italic r:id="rId19"/>
      <p:boldItalic r:id="rId20"/>
    </p:embeddedFont>
    <p:embeddedFont>
      <p:font typeface="Century Gothic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boldItalic.fntdata"/><Relationship Id="rId11" Type="http://schemas.openxmlformats.org/officeDocument/2006/relationships/slide" Target="slides/slide6.xml"/><Relationship Id="rId22" Type="http://schemas.openxmlformats.org/officeDocument/2006/relationships/font" Target="fonts/CenturyGothic-bold.fntdata"/><Relationship Id="rId10" Type="http://schemas.openxmlformats.org/officeDocument/2006/relationships/slide" Target="slides/slide5.xml"/><Relationship Id="rId21" Type="http://schemas.openxmlformats.org/officeDocument/2006/relationships/font" Target="fonts/CenturyGothic-regular.fntdata"/><Relationship Id="rId13" Type="http://schemas.openxmlformats.org/officeDocument/2006/relationships/slide" Target="slides/slide8.xml"/><Relationship Id="rId24" Type="http://schemas.openxmlformats.org/officeDocument/2006/relationships/font" Target="fonts/CenturyGothic-boldItalic.fntdata"/><Relationship Id="rId12" Type="http://schemas.openxmlformats.org/officeDocument/2006/relationships/slide" Target="slides/slide7.xml"/><Relationship Id="rId23" Type="http://schemas.openxmlformats.org/officeDocument/2006/relationships/font" Target="fonts/CenturyGothic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Nunito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Nunito-italic.fntdata"/><Relationship Id="rId6" Type="http://schemas.openxmlformats.org/officeDocument/2006/relationships/slide" Target="slides/slide1.xml"/><Relationship Id="rId18" Type="http://schemas.openxmlformats.org/officeDocument/2006/relationships/font" Target="fonts/Nuni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32e446a2f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32e446a2f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32e1e9d2ff_4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32e1e9d2ff_4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3db6fa93aa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3db6fa93a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32e15bb4d7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32e15bb4d7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32e1e9d2ff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32e1e9d2ff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32e1e9d2ff_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32e1e9d2ff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32e15bb4d7_1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32e15bb4d7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32e446a2f7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32e446a2f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32e1e9d2ff_4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32e1e9d2ff_4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32e15bb4d7_1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32e15bb4d7_1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32e15bb4d7_1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32e15bb4d7_1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title"/>
          </p:nvPr>
        </p:nvSpPr>
        <p:spPr>
          <a:xfrm>
            <a:off x="3113100" y="2488850"/>
            <a:ext cx="2917800" cy="48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Project ID:  HS-GEOC-131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3"/>
          <p:cNvSpPr txBox="1"/>
          <p:nvPr>
            <p:ph idx="1" type="body"/>
          </p:nvPr>
        </p:nvSpPr>
        <p:spPr>
          <a:xfrm>
            <a:off x="819150" y="1159925"/>
            <a:ext cx="7505700" cy="124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3100"/>
              <a:t> Exploring Innovative Machine Learning Models for Soil CO</a:t>
            </a:r>
            <a:r>
              <a:rPr b="1" baseline="-25000" lang="en" sz="3100"/>
              <a:t>2</a:t>
            </a:r>
            <a:r>
              <a:rPr b="1" lang="en" sz="3100"/>
              <a:t> Emission Forecasting</a:t>
            </a:r>
            <a:endParaRPr b="1" sz="3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612000" y="269100"/>
            <a:ext cx="7505700" cy="58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612000" y="853800"/>
            <a:ext cx="7505700" cy="3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400"/>
              <a:buFont typeface="Arial"/>
              <a:buNone/>
            </a:pPr>
            <a:r>
              <a:rPr b="1" lang="en" sz="1400" u="sng">
                <a:solidFill>
                  <a:srgbClr val="073763"/>
                </a:solidFill>
              </a:rPr>
              <a:t>Issue Statement</a:t>
            </a:r>
            <a:endParaRPr b="1" sz="1400" u="sng">
              <a:solidFill>
                <a:srgbClr val="07376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73763"/>
                </a:solidFill>
              </a:rPr>
              <a:t>Currently, the world is experiencing global warming because of large amounts of CO2 emissions. A large contributor to this is a natural process called soil respiration by which CO2 is released from the soil.  Despite its significance, accurately predicting CO₂ emissions caused by soil respiration remains challenging, and the influence of environmental variables are not fully understood. </a:t>
            </a:r>
            <a:endParaRPr sz="1400">
              <a:solidFill>
                <a:srgbClr val="07376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7376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 u="sng">
                <a:solidFill>
                  <a:srgbClr val="073763"/>
                </a:solidFill>
              </a:rPr>
              <a:t>Previous works</a:t>
            </a:r>
            <a:endParaRPr b="1" sz="1400" u="sng">
              <a:solidFill>
                <a:srgbClr val="07376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73763"/>
                </a:solidFill>
              </a:rPr>
              <a:t>Early studies using AI to predict soil respirations often rely on linear models or oversimplified datasets which lacked real-world applications. </a:t>
            </a:r>
            <a:endParaRPr sz="1400">
              <a:solidFill>
                <a:srgbClr val="07376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400"/>
              <a:buFont typeface="Arial"/>
              <a:buNone/>
            </a:pPr>
            <a:r>
              <a:t/>
            </a:r>
            <a:endParaRPr sz="1400">
              <a:solidFill>
                <a:srgbClr val="1C458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 u="sng">
                <a:solidFill>
                  <a:srgbClr val="073763"/>
                </a:solidFill>
              </a:rPr>
              <a:t>Research Objectives</a:t>
            </a:r>
            <a:endParaRPr sz="1400">
              <a:solidFill>
                <a:srgbClr val="073763"/>
              </a:solidFill>
            </a:endParaRPr>
          </a:p>
          <a:p>
            <a:pPr indent="-2794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400"/>
              <a:buFont typeface="Calibri"/>
              <a:buChar char="•"/>
            </a:pPr>
            <a:r>
              <a:rPr lang="en" sz="1400">
                <a:solidFill>
                  <a:srgbClr val="073763"/>
                </a:solidFill>
              </a:rPr>
              <a:t>Accurately predict CO₂ emissions from soil respiration based on spatial, temporal, climatic, and other observable variables by machine learning models. </a:t>
            </a:r>
            <a:endParaRPr sz="1400">
              <a:solidFill>
                <a:srgbClr val="073763"/>
              </a:solidFill>
            </a:endParaRPr>
          </a:p>
          <a:p>
            <a:pPr indent="-2794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73763"/>
              </a:buClr>
              <a:buSzPts val="1400"/>
              <a:buFont typeface="Calibri"/>
              <a:buChar char="•"/>
            </a:pPr>
            <a:r>
              <a:rPr lang="en" sz="1400">
                <a:solidFill>
                  <a:srgbClr val="073763"/>
                </a:solidFill>
              </a:rPr>
              <a:t>Provide model explainability to understand the environmental drivers behind soil respiration process.</a:t>
            </a:r>
            <a:endParaRPr sz="1400">
              <a:solidFill>
                <a:srgbClr val="07376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400"/>
              <a:buFont typeface="Arial"/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/>
          <p:nvPr>
            <p:ph type="title"/>
          </p:nvPr>
        </p:nvSpPr>
        <p:spPr>
          <a:xfrm>
            <a:off x="357148" y="352650"/>
            <a:ext cx="6696900" cy="5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Methodology - Data </a:t>
            </a:r>
            <a:endParaRPr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5"/>
          <p:cNvSpPr txBox="1"/>
          <p:nvPr>
            <p:ph idx="1" type="body"/>
          </p:nvPr>
        </p:nvSpPr>
        <p:spPr>
          <a:xfrm>
            <a:off x="587550" y="1013825"/>
            <a:ext cx="7968900" cy="342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F3864"/>
              </a:buClr>
              <a:buSzPct val="33333"/>
              <a:buFont typeface="Arial"/>
              <a:buNone/>
            </a:pPr>
            <a:r>
              <a:rPr b="1" lang="en" sz="6000" u="sng">
                <a:solidFill>
                  <a:srgbClr val="1F3864"/>
                </a:solidFill>
              </a:rPr>
              <a:t>Data source</a:t>
            </a:r>
            <a:endParaRPr b="1" sz="6000" u="sng">
              <a:solidFill>
                <a:srgbClr val="1F386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F3864"/>
              </a:buClr>
              <a:buSzPct val="33333"/>
              <a:buFont typeface="Arial"/>
              <a:buNone/>
            </a:pPr>
            <a:r>
              <a:t/>
            </a:r>
            <a:endParaRPr b="1" sz="6000">
              <a:solidFill>
                <a:srgbClr val="1F386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F3864"/>
              </a:buClr>
              <a:buSzPct val="33333"/>
              <a:buFont typeface="Arial"/>
              <a:buNone/>
            </a:pPr>
            <a:r>
              <a:rPr lang="en" sz="6000">
                <a:solidFill>
                  <a:srgbClr val="1F3864"/>
                </a:solidFill>
              </a:rPr>
              <a:t>All data is taken from Soil Respiration Database Version 5 </a:t>
            </a:r>
            <a:endParaRPr sz="6000">
              <a:solidFill>
                <a:srgbClr val="1F386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F3864"/>
              </a:buClr>
              <a:buSzPct val="33333"/>
              <a:buFont typeface="Arial"/>
              <a:buNone/>
            </a:pPr>
            <a:r>
              <a:rPr lang="en" sz="6000">
                <a:solidFill>
                  <a:srgbClr val="1F3864"/>
                </a:solidFill>
              </a:rPr>
              <a:t>(SRDB-V5), a comprehensive global archive of published research data on soil respiration.</a:t>
            </a:r>
            <a:endParaRPr sz="6000">
              <a:solidFill>
                <a:srgbClr val="1F386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F3864"/>
              </a:buClr>
              <a:buSzPct val="33333"/>
              <a:buFont typeface="Arial"/>
              <a:buNone/>
            </a:pPr>
            <a:r>
              <a:t/>
            </a:r>
            <a:endParaRPr b="1" sz="6000">
              <a:solidFill>
                <a:srgbClr val="1F386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F3864"/>
              </a:buClr>
              <a:buSzPct val="33333"/>
              <a:buFont typeface="Arial"/>
              <a:buNone/>
            </a:pPr>
            <a:r>
              <a:rPr b="1" lang="en" sz="6000" u="sng">
                <a:solidFill>
                  <a:srgbClr val="1F3864"/>
                </a:solidFill>
              </a:rPr>
              <a:t>Data cleaning and preprocessing</a:t>
            </a:r>
            <a:endParaRPr b="1" sz="6000" u="sng">
              <a:solidFill>
                <a:srgbClr val="1F386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F3864"/>
              </a:buClr>
              <a:buSzPct val="33333"/>
              <a:buFont typeface="Arial"/>
              <a:buNone/>
            </a:pPr>
            <a:r>
              <a:t/>
            </a:r>
            <a:endParaRPr b="1" sz="6000">
              <a:solidFill>
                <a:srgbClr val="1F3864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ct val="100000"/>
              <a:buChar char="●"/>
            </a:pPr>
            <a:r>
              <a:rPr lang="en" sz="6000">
                <a:solidFill>
                  <a:srgbClr val="1F3864"/>
                </a:solidFill>
              </a:rPr>
              <a:t>Records with entries flagged in the Quality_flag field were excluded from the analysis.</a:t>
            </a:r>
            <a:endParaRPr sz="6000">
              <a:solidFill>
                <a:srgbClr val="1F3864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F3864"/>
              </a:buClr>
              <a:buSzPct val="100000"/>
              <a:buChar char="●"/>
            </a:pPr>
            <a:r>
              <a:rPr lang="en" sz="6000">
                <a:solidFill>
                  <a:srgbClr val="1F3864"/>
                </a:solidFill>
              </a:rPr>
              <a:t>Extreme outliers, with Rs_annual values above 5000 gCm⁻², were also removed; this corresponded to 22 records from a total of 12,272 entries (less than 0.2%). </a:t>
            </a:r>
            <a:endParaRPr sz="6000">
              <a:solidFill>
                <a:srgbClr val="1F3864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F3864"/>
              </a:buClr>
              <a:buSzPct val="100000"/>
              <a:buChar char="●"/>
            </a:pPr>
            <a:r>
              <a:rPr lang="en" sz="6000">
                <a:solidFill>
                  <a:srgbClr val="1F3864"/>
                </a:solidFill>
              </a:rPr>
              <a:t>Missing values for the independent variables were replaced by the median value of each respective feature.</a:t>
            </a:r>
            <a:endParaRPr sz="6000">
              <a:solidFill>
                <a:srgbClr val="1F386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F3864"/>
              </a:buClr>
              <a:buSzPct val="33333"/>
              <a:buFont typeface="Arial"/>
              <a:buNone/>
            </a:pPr>
            <a:r>
              <a:t/>
            </a:r>
            <a:endParaRPr b="1" sz="6000">
              <a:solidFill>
                <a:srgbClr val="1F386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F3864"/>
              </a:buClr>
              <a:buSzPct val="100000"/>
              <a:buFont typeface="Arial"/>
              <a:buNone/>
            </a:pPr>
            <a:r>
              <a:t/>
            </a:r>
            <a:endParaRPr sz="2000">
              <a:solidFill>
                <a:srgbClr val="1F3864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F3864"/>
              </a:buClr>
              <a:buSzPct val="100000"/>
              <a:buFont typeface="Arial"/>
              <a:buNone/>
            </a:pPr>
            <a:r>
              <a:t/>
            </a:r>
            <a:endParaRPr sz="2000">
              <a:solidFill>
                <a:srgbClr val="1F3864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F3864"/>
              </a:buClr>
              <a:buSzPct val="100000"/>
              <a:buFont typeface="Arial"/>
              <a:buNone/>
            </a:pPr>
            <a:r>
              <a:t/>
            </a:r>
            <a:endParaRPr sz="2000">
              <a:solidFill>
                <a:srgbClr val="1F3864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"/>
          <p:cNvSpPr txBox="1"/>
          <p:nvPr>
            <p:ph type="title"/>
          </p:nvPr>
        </p:nvSpPr>
        <p:spPr>
          <a:xfrm>
            <a:off x="321123" y="217525"/>
            <a:ext cx="6696900" cy="5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Methodology - Exploratory Data Analysis </a:t>
            </a:r>
            <a:endParaRPr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>
            <p:ph idx="1" type="body"/>
          </p:nvPr>
        </p:nvSpPr>
        <p:spPr>
          <a:xfrm>
            <a:off x="4928475" y="1067875"/>
            <a:ext cx="3626700" cy="25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F3864"/>
              </a:buClr>
              <a:buSzPct val="40000"/>
              <a:buFont typeface="Arial"/>
              <a:buNone/>
            </a:pPr>
            <a:r>
              <a:rPr b="1" lang="en" sz="6000">
                <a:solidFill>
                  <a:srgbClr val="1F3864"/>
                </a:solidFill>
              </a:rPr>
              <a:t>Dependent variable: </a:t>
            </a:r>
            <a:r>
              <a:rPr lang="en" sz="6000">
                <a:solidFill>
                  <a:srgbClr val="1F3864"/>
                </a:solidFill>
              </a:rPr>
              <a:t> Rs_annual, the quantity of carbon dioxide emitted in a year by soil respiration. </a:t>
            </a:r>
            <a:endParaRPr sz="6000">
              <a:solidFill>
                <a:srgbClr val="1F386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F3864"/>
              </a:buClr>
              <a:buSzPct val="40000"/>
              <a:buFont typeface="Arial"/>
              <a:buNone/>
            </a:pPr>
            <a:r>
              <a:t/>
            </a:r>
            <a:endParaRPr sz="6000">
              <a:solidFill>
                <a:srgbClr val="1F386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F3864"/>
              </a:buClr>
              <a:buSzPct val="40000"/>
              <a:buFont typeface="Arial"/>
              <a:buNone/>
            </a:pPr>
            <a:r>
              <a:rPr b="1" lang="en" sz="6000">
                <a:solidFill>
                  <a:srgbClr val="1F3864"/>
                </a:solidFill>
              </a:rPr>
              <a:t>Independent variables (total 29):</a:t>
            </a:r>
            <a:endParaRPr sz="6000">
              <a:solidFill>
                <a:srgbClr val="1F3864"/>
              </a:solidFill>
            </a:endParaRPr>
          </a:p>
          <a:p>
            <a:pPr indent="-266700" lvl="0" marL="2857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F3864"/>
              </a:buClr>
              <a:buSzPct val="100000"/>
              <a:buFont typeface="Calibri"/>
              <a:buChar char="•"/>
            </a:pPr>
            <a:r>
              <a:rPr lang="en" sz="6000">
                <a:solidFill>
                  <a:srgbClr val="1F3864"/>
                </a:solidFill>
              </a:rPr>
              <a:t>Spatial/temporal: Study_year, YearsOfData, Latitude, Longitude, Biome, Elevation</a:t>
            </a:r>
            <a:endParaRPr sz="6000">
              <a:solidFill>
                <a:srgbClr val="1F3864"/>
              </a:solidFill>
            </a:endParaRPr>
          </a:p>
          <a:p>
            <a:pPr indent="-266700" lvl="0" marL="2857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F3864"/>
              </a:buClr>
              <a:buSzPct val="100000"/>
              <a:buFont typeface="Calibri"/>
              <a:buChar char="•"/>
            </a:pPr>
            <a:r>
              <a:rPr lang="en" sz="6000">
                <a:solidFill>
                  <a:srgbClr val="1F3864"/>
                </a:solidFill>
              </a:rPr>
              <a:t>Climate: MAT, MAP</a:t>
            </a:r>
            <a:endParaRPr sz="6000">
              <a:solidFill>
                <a:srgbClr val="1F3864"/>
              </a:solidFill>
            </a:endParaRPr>
          </a:p>
          <a:p>
            <a:pPr indent="-266700" lvl="0" marL="2857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F3864"/>
              </a:buClr>
              <a:buSzPct val="100000"/>
              <a:buFont typeface="Calibri"/>
              <a:buChar char="•"/>
            </a:pPr>
            <a:r>
              <a:rPr lang="en" sz="6000">
                <a:solidFill>
                  <a:srgbClr val="1F3864"/>
                </a:solidFill>
              </a:rPr>
              <a:t>Land use: Ecosystem_type, Ecosystem_state</a:t>
            </a:r>
            <a:endParaRPr sz="6000">
              <a:solidFill>
                <a:srgbClr val="1F3864"/>
              </a:solidFill>
            </a:endParaRPr>
          </a:p>
          <a:p>
            <a:pPr indent="-266700" lvl="0" marL="2857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F3864"/>
              </a:buClr>
              <a:buSzPct val="100000"/>
              <a:buFont typeface="Calibri"/>
              <a:buChar char="•"/>
            </a:pPr>
            <a:r>
              <a:rPr lang="en" sz="6000">
                <a:solidFill>
                  <a:srgbClr val="1F3864"/>
                </a:solidFill>
              </a:rPr>
              <a:t>Soil: Soil type, soil drainage, density etc.</a:t>
            </a:r>
            <a:endParaRPr sz="6000">
              <a:solidFill>
                <a:srgbClr val="1F3864"/>
              </a:solidFill>
            </a:endParaRPr>
          </a:p>
          <a:p>
            <a:pPr indent="-266700" lvl="0" marL="2857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F3864"/>
              </a:buClr>
              <a:buSzPct val="100000"/>
              <a:buFont typeface="Calibri"/>
              <a:buChar char="•"/>
            </a:pPr>
            <a:r>
              <a:rPr lang="en" sz="6000">
                <a:solidFill>
                  <a:srgbClr val="1F3864"/>
                </a:solidFill>
              </a:rPr>
              <a:t>Vegetation and carbon features: LAI, total carbon in vegetation at site, basal area at site etc..</a:t>
            </a:r>
            <a:endParaRPr sz="6000">
              <a:solidFill>
                <a:srgbClr val="1F386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F3864"/>
              </a:buClr>
              <a:buSzPct val="33333"/>
              <a:buFont typeface="Arial"/>
              <a:buNone/>
            </a:pPr>
            <a:r>
              <a:t/>
            </a:r>
            <a:endParaRPr sz="6000">
              <a:solidFill>
                <a:srgbClr val="1F386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F3864"/>
              </a:buClr>
              <a:buSzPct val="33333"/>
              <a:buFont typeface="Arial"/>
              <a:buNone/>
            </a:pPr>
            <a:r>
              <a:t/>
            </a:r>
            <a:endParaRPr sz="6000">
              <a:solidFill>
                <a:srgbClr val="1F386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F3864"/>
              </a:buClr>
              <a:buSzPct val="100000"/>
              <a:buFont typeface="Arial"/>
              <a:buNone/>
            </a:pPr>
            <a:r>
              <a:t/>
            </a:r>
            <a:endParaRPr sz="2000">
              <a:solidFill>
                <a:srgbClr val="1F3864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F3864"/>
              </a:buClr>
              <a:buSzPct val="100000"/>
              <a:buFont typeface="Arial"/>
              <a:buNone/>
            </a:pPr>
            <a:r>
              <a:t/>
            </a:r>
            <a:endParaRPr sz="2000">
              <a:solidFill>
                <a:srgbClr val="1F3864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F3864"/>
              </a:buClr>
              <a:buSzPct val="100000"/>
              <a:buFont typeface="Arial"/>
              <a:buNone/>
            </a:pPr>
            <a:r>
              <a:t/>
            </a:r>
            <a:endParaRPr sz="2000">
              <a:solidFill>
                <a:srgbClr val="1F3864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675" y="1067876"/>
            <a:ext cx="1966524" cy="1441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34200" y="1109651"/>
            <a:ext cx="1905549" cy="138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8325" y="2774844"/>
            <a:ext cx="2085226" cy="15357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93550" y="2711875"/>
            <a:ext cx="2123024" cy="1759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6"/>
          <p:cNvSpPr txBox="1"/>
          <p:nvPr/>
        </p:nvSpPr>
        <p:spPr>
          <a:xfrm>
            <a:off x="467675" y="4590600"/>
            <a:ext cx="28014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All plots were generated by author</a:t>
            </a:r>
            <a:endParaRPr sz="1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/>
          <p:nvPr>
            <p:ph type="title"/>
          </p:nvPr>
        </p:nvSpPr>
        <p:spPr>
          <a:xfrm>
            <a:off x="421400" y="406675"/>
            <a:ext cx="7389300" cy="5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Methodology - Model Training </a:t>
            </a:r>
            <a:endParaRPr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 txBox="1"/>
          <p:nvPr/>
        </p:nvSpPr>
        <p:spPr>
          <a:xfrm>
            <a:off x="4535400" y="902875"/>
            <a:ext cx="4099200" cy="35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F3864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06400" lvl="0" marL="457200" rtl="0" algn="l">
              <a:spcBef>
                <a:spcPts val="160"/>
              </a:spcBef>
              <a:spcAft>
                <a:spcPts val="0"/>
              </a:spcAft>
              <a:buNone/>
            </a:pPr>
            <a:r>
              <a:t/>
            </a:r>
            <a:endParaRPr b="1" sz="100">
              <a:solidFill>
                <a:srgbClr val="1F386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1" lang="en" sz="1500" u="sng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Model selection</a:t>
            </a:r>
            <a:r>
              <a:rPr b="1" lang="en" sz="15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342900" rtl="0" algn="l">
              <a:spcBef>
                <a:spcPts val="480"/>
              </a:spcBef>
              <a:spcAft>
                <a:spcPts val="0"/>
              </a:spcAft>
              <a:buClr>
                <a:srgbClr val="1F3864"/>
              </a:buClr>
              <a:buSzPts val="1500"/>
              <a:buFont typeface="Calibri"/>
              <a:buChar char="•"/>
            </a:pPr>
            <a:r>
              <a:rPr lang="en" sz="15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Proposed Model: XGBoost</a:t>
            </a:r>
            <a:endParaRPr sz="1500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342900" rtl="0" algn="l">
              <a:spcBef>
                <a:spcPts val="480"/>
              </a:spcBef>
              <a:spcAft>
                <a:spcPts val="0"/>
              </a:spcAft>
              <a:buClr>
                <a:srgbClr val="1F3864"/>
              </a:buClr>
              <a:buSzPts val="1500"/>
              <a:buFont typeface="Calibri"/>
              <a:buChar char="•"/>
            </a:pPr>
            <a:r>
              <a:rPr lang="en" sz="15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Baseline Models: Random Forest (RF), Gradient Boosting (GB)</a:t>
            </a:r>
            <a:endParaRPr sz="1500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342900" rtl="0" algn="l">
              <a:spcBef>
                <a:spcPts val="480"/>
              </a:spcBef>
              <a:spcAft>
                <a:spcPts val="0"/>
              </a:spcAft>
              <a:buClr>
                <a:srgbClr val="1F3864"/>
              </a:buClr>
              <a:buSzPts val="1500"/>
              <a:buFont typeface="Calibri"/>
              <a:buChar char="•"/>
            </a:pPr>
            <a:r>
              <a:rPr lang="en" sz="15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Model explored: DNN model </a:t>
            </a:r>
            <a:endParaRPr sz="1500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1" lang="en" sz="1500" u="sng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Hyperparameter optimization</a:t>
            </a:r>
            <a:endParaRPr sz="1500" u="sng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342900" rtl="0" algn="l">
              <a:spcBef>
                <a:spcPts val="480"/>
              </a:spcBef>
              <a:spcAft>
                <a:spcPts val="0"/>
              </a:spcAft>
              <a:buClr>
                <a:srgbClr val="1F3864"/>
              </a:buClr>
              <a:buSzPts val="1500"/>
              <a:buFont typeface="Calibri"/>
              <a:buChar char="•"/>
            </a:pPr>
            <a:r>
              <a:rPr lang="en" sz="15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GridSearchCV with K-fold cross-validation. </a:t>
            </a:r>
            <a:endParaRPr sz="1500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342900" rtl="0" algn="l">
              <a:spcBef>
                <a:spcPts val="480"/>
              </a:spcBef>
              <a:spcAft>
                <a:spcPts val="0"/>
              </a:spcAft>
              <a:buClr>
                <a:srgbClr val="1F3864"/>
              </a:buClr>
              <a:buSzPts val="1500"/>
              <a:buFont typeface="Calibri"/>
              <a:buChar char="•"/>
            </a:pPr>
            <a:r>
              <a:rPr lang="en" sz="15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XGBoost parameters: number of estimators, tree depth, and learning rate …</a:t>
            </a:r>
            <a:endParaRPr sz="1500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342900" rtl="0" algn="l">
              <a:spcBef>
                <a:spcPts val="480"/>
              </a:spcBef>
              <a:spcAft>
                <a:spcPts val="0"/>
              </a:spcAft>
              <a:buClr>
                <a:srgbClr val="1F3864"/>
              </a:buClr>
              <a:buSzPts val="1500"/>
              <a:buFont typeface="Calibri"/>
              <a:buChar char="•"/>
            </a:pPr>
            <a:r>
              <a:rPr lang="en" sz="15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DNN: neuron counts, learning rate, and batch size…</a:t>
            </a:r>
            <a:endParaRPr sz="1500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9" name="Google Shape;15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850" y="1571975"/>
            <a:ext cx="4104475" cy="2164909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/>
        </p:nvSpPr>
        <p:spPr>
          <a:xfrm>
            <a:off x="467675" y="4590600"/>
            <a:ext cx="28014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All plots were generated by author</a:t>
            </a:r>
            <a:endParaRPr sz="1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"/>
          <p:cNvSpPr txBox="1"/>
          <p:nvPr>
            <p:ph type="title"/>
          </p:nvPr>
        </p:nvSpPr>
        <p:spPr>
          <a:xfrm>
            <a:off x="421400" y="406675"/>
            <a:ext cx="5281500" cy="5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Methodology - Model Evaluation</a:t>
            </a:r>
            <a:endParaRPr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 txBox="1"/>
          <p:nvPr/>
        </p:nvSpPr>
        <p:spPr>
          <a:xfrm>
            <a:off x="574500" y="1252900"/>
            <a:ext cx="7900500" cy="23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3200"/>
              <a:buFont typeface="Arial"/>
              <a:buNone/>
            </a:pPr>
            <a:r>
              <a:rPr b="1" lang="en" sz="18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Evaluation Metrics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60"/>
              </a:spcBef>
              <a:spcAft>
                <a:spcPts val="0"/>
              </a:spcAft>
              <a:buClr>
                <a:srgbClr val="1F3864"/>
              </a:buClr>
              <a:buSzPts val="800"/>
              <a:buFont typeface="Arial"/>
              <a:buNone/>
            </a:pPr>
            <a:r>
              <a:t/>
            </a:r>
            <a:endParaRPr b="1" sz="1800">
              <a:solidFill>
                <a:srgbClr val="1F386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342900" rtl="0" algn="l">
              <a:spcBef>
                <a:spcPts val="480"/>
              </a:spcBef>
              <a:spcAft>
                <a:spcPts val="0"/>
              </a:spcAft>
              <a:buClr>
                <a:srgbClr val="1F3864"/>
              </a:buClr>
              <a:buSzPts val="1500"/>
              <a:buChar char="•"/>
            </a:pPr>
            <a:r>
              <a:rPr b="1" lang="en" sz="15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Mean Absolute Error (MAE):</a:t>
            </a:r>
            <a:r>
              <a:rPr lang="en" sz="15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 Average absolute difference between predicted and real observed values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342900" rtl="0" algn="l">
              <a:spcBef>
                <a:spcPts val="480"/>
              </a:spcBef>
              <a:spcAft>
                <a:spcPts val="0"/>
              </a:spcAft>
              <a:buClr>
                <a:srgbClr val="1F3864"/>
              </a:buClr>
              <a:buSzPts val="1500"/>
              <a:buChar char="•"/>
            </a:pPr>
            <a:r>
              <a:rPr b="1" lang="en" sz="15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Root Mean Squared Error (RMSE): S</a:t>
            </a:r>
            <a:r>
              <a:rPr lang="en" sz="15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quare root of the mean of the squared differences between the predicted and actual values. 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342900" rtl="0" algn="l">
              <a:spcBef>
                <a:spcPts val="480"/>
              </a:spcBef>
              <a:spcAft>
                <a:spcPts val="0"/>
              </a:spcAft>
              <a:buClr>
                <a:srgbClr val="1F3864"/>
              </a:buClr>
              <a:buSzPts val="1500"/>
              <a:buChar char="•"/>
            </a:pPr>
            <a:r>
              <a:rPr b="1" lang="en" sz="15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Coefficient of Determination (R²):</a:t>
            </a:r>
            <a:r>
              <a:rPr lang="en" sz="15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  The amount of variance in the dependent variable that can be explained by the independent variables in the regression model. </a:t>
            </a:r>
            <a:endParaRPr sz="1500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"/>
          <p:cNvSpPr txBox="1"/>
          <p:nvPr>
            <p:ph type="title"/>
          </p:nvPr>
        </p:nvSpPr>
        <p:spPr>
          <a:xfrm>
            <a:off x="548900" y="431250"/>
            <a:ext cx="63159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Results - Model Performance Comparison</a:t>
            </a:r>
            <a:endParaRPr sz="2700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9"/>
          <p:cNvSpPr txBox="1"/>
          <p:nvPr>
            <p:ph idx="1" type="body"/>
          </p:nvPr>
        </p:nvSpPr>
        <p:spPr>
          <a:xfrm>
            <a:off x="819150" y="2909525"/>
            <a:ext cx="7505700" cy="14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400"/>
              <a:buFont typeface="Arial"/>
              <a:buChar char="•"/>
            </a:pPr>
            <a:r>
              <a:rPr lang="en" sz="1400">
                <a:solidFill>
                  <a:srgbClr val="1F3864"/>
                </a:solidFill>
              </a:rPr>
              <a:t>XGBoost model has the best performance in terms of predictive accuracy and error reduction compared with the other three models with lowest MAE and RMSE, and highest R2.</a:t>
            </a:r>
            <a:endParaRPr sz="1400">
              <a:solidFill>
                <a:srgbClr val="1F3864"/>
              </a:solidFill>
            </a:endParaRPr>
          </a:p>
          <a:p>
            <a:pPr indent="-3175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F3864"/>
              </a:buClr>
              <a:buSzPts val="1400"/>
              <a:buFont typeface="Arial"/>
              <a:buChar char="•"/>
            </a:pPr>
            <a:r>
              <a:rPr lang="en" sz="1400">
                <a:solidFill>
                  <a:srgbClr val="1F3864"/>
                </a:solidFill>
              </a:rPr>
              <a:t>The DNN model does not provide good results due to small sample size.</a:t>
            </a:r>
            <a:endParaRPr sz="1400">
              <a:solidFill>
                <a:srgbClr val="1F3864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73" name="Google Shape;173;p19"/>
          <p:cNvSpPr txBox="1"/>
          <p:nvPr/>
        </p:nvSpPr>
        <p:spPr>
          <a:xfrm>
            <a:off x="4294925" y="905675"/>
            <a:ext cx="4881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4" name="Google Shape;17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76787" y="20035461"/>
            <a:ext cx="6052493" cy="16514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6085" y="1434874"/>
            <a:ext cx="4281540" cy="116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9"/>
          <p:cNvSpPr/>
          <p:nvPr/>
        </p:nvSpPr>
        <p:spPr>
          <a:xfrm>
            <a:off x="4294925" y="1415325"/>
            <a:ext cx="657600" cy="1168200"/>
          </a:xfrm>
          <a:prstGeom prst="rect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5113900" y="1415325"/>
            <a:ext cx="657600" cy="11682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0"/>
          <p:cNvSpPr txBox="1"/>
          <p:nvPr>
            <p:ph type="title"/>
          </p:nvPr>
        </p:nvSpPr>
        <p:spPr>
          <a:xfrm>
            <a:off x="512900" y="269100"/>
            <a:ext cx="7901400" cy="56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Results - Model Explainability by SHAP Analysis</a:t>
            </a:r>
            <a:endParaRPr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0"/>
          <p:cNvSpPr txBox="1"/>
          <p:nvPr>
            <p:ph idx="1" type="body"/>
          </p:nvPr>
        </p:nvSpPr>
        <p:spPr>
          <a:xfrm>
            <a:off x="5982050" y="1779150"/>
            <a:ext cx="28014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9400" lvl="0" marL="34290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rgbClr val="073763"/>
              </a:buClr>
              <a:buSzPts val="1400"/>
              <a:buFont typeface="Calibri"/>
              <a:buChar char="•"/>
            </a:pPr>
            <a:r>
              <a:rPr lang="en" sz="1400">
                <a:solidFill>
                  <a:srgbClr val="073763"/>
                </a:solidFill>
              </a:rPr>
              <a:t>Mean Annual Temperature (MAT) and Mean Annual Precipitation (MAP) are the most influential environmental factors, alongside geographic features such as latitude and longitude, aligning with previous studies. </a:t>
            </a:r>
            <a:endParaRPr sz="1400">
              <a:solidFill>
                <a:srgbClr val="073763"/>
              </a:solidFill>
            </a:endParaRPr>
          </a:p>
          <a:p>
            <a:pPr indent="-279400" lvl="0" marL="34290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rgbClr val="073763"/>
              </a:buClr>
              <a:buSzPts val="1400"/>
              <a:buFont typeface="Calibri"/>
              <a:buChar char="•"/>
            </a:pPr>
            <a:r>
              <a:rPr lang="en" sz="1400">
                <a:solidFill>
                  <a:srgbClr val="073763"/>
                </a:solidFill>
              </a:rPr>
              <a:t>In addition, the four features, Study Year, Soil Type, soil composition related features, Elevation, and Basal Area (BA) also demonstrate high impact on Rs estimates.</a:t>
            </a:r>
            <a:endParaRPr sz="1400">
              <a:solidFill>
                <a:srgbClr val="073763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184" name="Google Shape;18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76787" y="20035461"/>
            <a:ext cx="6052493" cy="16514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1975" y="1974425"/>
            <a:ext cx="4964726" cy="27969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0"/>
          <p:cNvSpPr txBox="1"/>
          <p:nvPr/>
        </p:nvSpPr>
        <p:spPr>
          <a:xfrm>
            <a:off x="648050" y="884500"/>
            <a:ext cx="76311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Machine learning methods are mostly seen as "black boxes."  To overcome this, </a:t>
            </a:r>
            <a:r>
              <a:rPr b="1" lang="en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SH</a:t>
            </a:r>
            <a:r>
              <a:rPr lang="en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apley </a:t>
            </a:r>
            <a:r>
              <a:rPr b="1" lang="en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dditive ex</a:t>
            </a:r>
            <a:r>
              <a:rPr b="1" lang="en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lanations (</a:t>
            </a:r>
            <a:r>
              <a:rPr b="1" lang="en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SHAP)</a:t>
            </a:r>
            <a:r>
              <a:rPr lang="en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 is applied together with the XGBoost model to analyze feature importance, feature distribution, partial dependence, and the interactions between different features.</a:t>
            </a:r>
            <a:endParaRPr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467675" y="4590600"/>
            <a:ext cx="28014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All plots were generated by author</a:t>
            </a:r>
            <a:endParaRPr sz="1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2009575" y="1713113"/>
            <a:ext cx="20088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Feature</a:t>
            </a:r>
            <a:r>
              <a:rPr lang="en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 Importance Plot</a:t>
            </a:r>
            <a:endParaRPr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e dotted graph with white text&#10;&#10;Description automatically generated" id="193" name="Google Shape;19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7025" y="739700"/>
            <a:ext cx="2428584" cy="204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85775" y="694575"/>
            <a:ext cx="2164575" cy="209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2775" y="2789194"/>
            <a:ext cx="3123436" cy="204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32711" y="2788249"/>
            <a:ext cx="2439044" cy="205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1"/>
          <p:cNvSpPr txBox="1"/>
          <p:nvPr/>
        </p:nvSpPr>
        <p:spPr>
          <a:xfrm>
            <a:off x="280075" y="199100"/>
            <a:ext cx="78762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Partial dependence plots</a:t>
            </a:r>
            <a:r>
              <a:rPr lang="en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from SHAP illustrate how the model outcome changes as a specific feature change, while other features remain unchanged. 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3414800" y="1073575"/>
            <a:ext cx="1792500" cy="6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As MAP increases up to 1000 mm, Rs increases. However, beyond 1000 mm of MAP, the predicted Rs values level off.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1"/>
          <p:cNvSpPr txBox="1"/>
          <p:nvPr/>
        </p:nvSpPr>
        <p:spPr>
          <a:xfrm>
            <a:off x="7630500" y="983575"/>
            <a:ext cx="1035900" cy="8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 slight upward trend between MAT and Rs.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3864900" y="2788250"/>
            <a:ext cx="1414200" cy="10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Interaction effect of MAT and MAP 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1"/>
          <p:cNvSpPr txBox="1"/>
          <p:nvPr/>
        </p:nvSpPr>
        <p:spPr>
          <a:xfrm>
            <a:off x="7702475" y="2875250"/>
            <a:ext cx="1171200" cy="11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 clear upward trend between study year and predicted Rs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3517675" y="4604400"/>
            <a:ext cx="28014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All plots were generated by author</a:t>
            </a:r>
            <a:endParaRPr sz="1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2"/>
          <p:cNvSpPr txBox="1"/>
          <p:nvPr>
            <p:ph type="title"/>
          </p:nvPr>
        </p:nvSpPr>
        <p:spPr>
          <a:xfrm>
            <a:off x="386775" y="22407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F3864"/>
                </a:solidFill>
              </a:rPr>
              <a:t>Conclusion</a:t>
            </a:r>
            <a:endParaRPr>
              <a:solidFill>
                <a:srgbClr val="1F3864"/>
              </a:solidFill>
            </a:endParaRPr>
          </a:p>
        </p:txBody>
      </p:sp>
      <p:sp>
        <p:nvSpPr>
          <p:cNvPr id="208" name="Google Shape;208;p22"/>
          <p:cNvSpPr txBox="1"/>
          <p:nvPr>
            <p:ph idx="1" type="body"/>
          </p:nvPr>
        </p:nvSpPr>
        <p:spPr>
          <a:xfrm>
            <a:off x="458825" y="782325"/>
            <a:ext cx="7505700" cy="407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22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Calibri"/>
              <a:buChar char="•"/>
            </a:pPr>
            <a:r>
              <a:rPr lang="en" sz="1400">
                <a:solidFill>
                  <a:srgbClr val="002060"/>
                </a:solidFill>
              </a:rPr>
              <a:t>An innovative ensemble model, XGBoost, is developed to predict annual Rs from spatial, temporal, climate, and other independent variables. In addition, a DNN model is experimented. The models are evaluated against two baseline models, Random Forest (RF) and Gradient Boosting (GB) from previous studies.</a:t>
            </a:r>
            <a:endParaRPr sz="1400">
              <a:solidFill>
                <a:srgbClr val="1F3864"/>
              </a:solidFill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1400"/>
              <a:buChar char="-"/>
            </a:pPr>
            <a:r>
              <a:rPr lang="en" sz="1400">
                <a:solidFill>
                  <a:srgbClr val="002060"/>
                </a:solidFill>
              </a:rPr>
              <a:t>The XGBoost model delivers the best performance, achieving a 4% reduction in MAE and RMSE and a 3.7% improvement in R</a:t>
            </a:r>
            <a:r>
              <a:rPr baseline="30000" lang="en" sz="1400">
                <a:solidFill>
                  <a:srgbClr val="002060"/>
                </a:solidFill>
              </a:rPr>
              <a:t>2</a:t>
            </a:r>
            <a:r>
              <a:rPr lang="en" sz="1400">
                <a:solidFill>
                  <a:srgbClr val="002060"/>
                </a:solidFill>
              </a:rPr>
              <a:t> compared to the Random Forest model, previously identified as the top-performing approach. 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2060"/>
              </a:buClr>
              <a:buSzPts val="1400"/>
              <a:buChar char="-"/>
            </a:pPr>
            <a:r>
              <a:rPr lang="en" sz="1400">
                <a:solidFill>
                  <a:srgbClr val="002060"/>
                </a:solidFill>
              </a:rPr>
              <a:t>The DNN model fails to achieve reasonable results, primarily due to the limited sample size. </a:t>
            </a:r>
            <a:endParaRPr sz="1400">
              <a:solidFill>
                <a:srgbClr val="002060"/>
              </a:solidFill>
            </a:endParaRPr>
          </a:p>
          <a:p>
            <a:pPr indent="-222250" lvl="0" marL="2857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Calibri"/>
              <a:buChar char="•"/>
            </a:pPr>
            <a:r>
              <a:rPr lang="en" sz="1400">
                <a:solidFill>
                  <a:srgbClr val="002060"/>
                </a:solidFill>
              </a:rPr>
              <a:t>SHAP analysis is a great tool to provide model explainability, highlighting the importance of the impacts of features on predictions provided by the model.</a:t>
            </a:r>
            <a:endParaRPr sz="1400">
              <a:solidFill>
                <a:srgbClr val="002060"/>
              </a:solidFill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2060"/>
              </a:buClr>
              <a:buSzPts val="1400"/>
              <a:buChar char="-"/>
            </a:pPr>
            <a:r>
              <a:rPr lang="en" sz="1400">
                <a:solidFill>
                  <a:srgbClr val="002060"/>
                </a:solidFill>
              </a:rPr>
              <a:t>Results reveal that Mean Annual Temperature (MAT) and Mean Annual Precipitation (MAP) are the most influential environmental factors, alongside geographic features such as latitude and longitude, aligning with previous research.</a:t>
            </a:r>
            <a:endParaRPr sz="1400">
              <a:solidFill>
                <a:srgbClr val="002060"/>
              </a:solidFill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2060"/>
              </a:buClr>
              <a:buSzPts val="1400"/>
              <a:buChar char="-"/>
            </a:pPr>
            <a:r>
              <a:rPr lang="en" sz="1400">
                <a:solidFill>
                  <a:srgbClr val="002060"/>
                </a:solidFill>
              </a:rPr>
              <a:t>In addition, the four features, Study Year, Soil Type, soil composition related features, Elevation, and Basal Area (BA) also demonstrate high impact on Rs estimates.</a:t>
            </a:r>
            <a:endParaRPr sz="1400">
              <a:solidFill>
                <a:srgbClr val="002060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206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F3864"/>
              </a:buClr>
              <a:buSzPts val="1800"/>
              <a:buFont typeface="Arial"/>
              <a:buNone/>
            </a:pPr>
            <a:r>
              <a:t/>
            </a:r>
            <a:endParaRPr sz="1400">
              <a:solidFill>
                <a:srgbClr val="1F386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3"/>
          <p:cNvSpPr txBox="1"/>
          <p:nvPr>
            <p:ph type="title"/>
          </p:nvPr>
        </p:nvSpPr>
        <p:spPr>
          <a:xfrm>
            <a:off x="693025" y="422225"/>
            <a:ext cx="75057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F3864"/>
                </a:solidFill>
              </a:rPr>
              <a:t>References</a:t>
            </a:r>
            <a:endParaRPr>
              <a:solidFill>
                <a:srgbClr val="1F3864"/>
              </a:solidFill>
            </a:endParaRPr>
          </a:p>
        </p:txBody>
      </p:sp>
      <p:sp>
        <p:nvSpPr>
          <p:cNvPr id="214" name="Google Shape;214;p23"/>
          <p:cNvSpPr txBox="1"/>
          <p:nvPr>
            <p:ph idx="1" type="body"/>
          </p:nvPr>
        </p:nvSpPr>
        <p:spPr>
          <a:xfrm>
            <a:off x="693025" y="1061825"/>
            <a:ext cx="7505700" cy="282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94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Calibri"/>
              <a:buChar char="•"/>
            </a:pPr>
            <a:r>
              <a:rPr lang="en" sz="1400">
                <a:solidFill>
                  <a:srgbClr val="002060"/>
                </a:solidFill>
              </a:rPr>
              <a:t>D. M. Lawrence et al., "The Community Land Model version 5: Description of new features, benchmarking, and impact of forcing uncertainty," J. Adv. Model. Earth Syst., vol. 11, no. 12, pp. 4245–4287, 2019.</a:t>
            </a:r>
            <a:endParaRPr sz="1400">
              <a:solidFill>
                <a:srgbClr val="000000"/>
              </a:solidFill>
            </a:endParaRPr>
          </a:p>
          <a:p>
            <a:pPr indent="-279400" lvl="0" marL="3429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Calibri"/>
              <a:buChar char="•"/>
            </a:pPr>
            <a:r>
              <a:rPr lang="en" sz="1400">
                <a:solidFill>
                  <a:srgbClr val="002060"/>
                </a:solidFill>
              </a:rPr>
              <a:t>J. Liu, J. Hu, H. Liu, et al., "Global soil respiration estimation based on ecological big data and machine learning model," Sci. Rep., vol. 14, 13231, 2024. doi: 10.1038/s41598-024-64235-w.</a:t>
            </a:r>
            <a:endParaRPr sz="1400">
              <a:solidFill>
                <a:srgbClr val="000000"/>
              </a:solidFill>
            </a:endParaRPr>
          </a:p>
          <a:p>
            <a:pPr indent="-279400" lvl="0" marL="3429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Calibri"/>
              <a:buChar char="•"/>
            </a:pPr>
            <a:r>
              <a:rPr lang="en" sz="1400">
                <a:solidFill>
                  <a:srgbClr val="002060"/>
                </a:solidFill>
              </a:rPr>
              <a:t>H. Lu, S. Li, M. Ma, et al., "Comparing machine learning-derived global estimates of soil respiration and its components with those from terrestrial ecosystem models," Environ. Res. Lett., vol. 16, no. 5, Art. 054048, 2021. doi: 10.1088/1748-9326/abf526.</a:t>
            </a:r>
            <a:endParaRPr sz="1400">
              <a:solidFill>
                <a:srgbClr val="000000"/>
              </a:solidFill>
            </a:endParaRPr>
          </a:p>
          <a:p>
            <a:pPr indent="-279400" lvl="0" marL="3429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Calibri"/>
              <a:buChar char="•"/>
            </a:pPr>
            <a:r>
              <a:rPr lang="en" sz="1400">
                <a:solidFill>
                  <a:srgbClr val="002060"/>
                </a:solidFill>
              </a:rPr>
              <a:t>H. Luo, C. Xiang, L. Zeng, et al., "SHAP-based predictive modeling for 1-year all-cause readmission risk in elderly heart failure patients: Feature selection and model interpretation," Sci. Rep., vol. 14, 17728, 2024. doi: 10.1038/s41598-024-67844-7.</a:t>
            </a:r>
            <a:endParaRPr sz="1400">
              <a:solidFill>
                <a:srgbClr val="00206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206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2060"/>
                </a:solidFill>
              </a:rPr>
              <a:t>AI was not used in creating this display item</a:t>
            </a:r>
            <a:endParaRPr sz="140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