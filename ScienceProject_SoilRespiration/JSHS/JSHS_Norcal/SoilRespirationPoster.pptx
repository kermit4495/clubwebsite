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3" r:id="rId2"/>
  </p:sldMasterIdLst>
  <p:notesMasterIdLst>
    <p:notesMasterId r:id="rId4"/>
  </p:notesMasterIdLst>
  <p:sldIdLst>
    <p:sldId id="295" r:id="rId3"/>
  </p:sldIdLst>
  <p:sldSz cx="43891200" cy="32918400"/>
  <p:notesSz cx="7315200" cy="96012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6708">
          <p15:clr>
            <a:srgbClr val="A4A3A4"/>
          </p15:clr>
        </p15:guide>
        <p15:guide id="6" pos="20904">
          <p15:clr>
            <a:srgbClr val="A4A3A4"/>
          </p15:clr>
        </p15:guide>
        <p15:guide id="7" pos="7082">
          <p15:clr>
            <a:srgbClr val="A4A3A4"/>
          </p15:clr>
        </p15:guide>
        <p15:guide id="8" pos="20582">
          <p15:clr>
            <a:srgbClr val="A4A3A4"/>
          </p15:clr>
        </p15:guide>
        <p15:guide id="9" pos="27330">
          <p15:clr>
            <a:srgbClr val="A4A3A4"/>
          </p15:clr>
        </p15:guide>
        <p15:guide id="10" pos="326">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56E"/>
    <a:srgbClr val="3B7193"/>
    <a:srgbClr val="F3F5FA"/>
    <a:srgbClr val="CDD2DE"/>
    <a:srgbClr val="E3E9E5"/>
    <a:srgbClr val="E7E7E5"/>
    <a:srgbClr val="E4E7E8"/>
    <a:srgbClr val="EDE8DF"/>
    <a:srgbClr val="E0E9EC"/>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6" autoAdjust="0"/>
    <p:restoredTop sz="94851" autoAdjust="0"/>
  </p:normalViewPr>
  <p:slideViewPr>
    <p:cSldViewPr snapToGrid="0" snapToObjects="1" showGuides="1">
      <p:cViewPr>
        <p:scale>
          <a:sx n="50" d="100"/>
          <a:sy n="50" d="100"/>
        </p:scale>
        <p:origin x="1524" y="-5877"/>
      </p:cViewPr>
      <p:guideLst>
        <p:guide orient="horz" pos="3318"/>
        <p:guide orient="horz" pos="288"/>
        <p:guide orient="horz" pos="20160"/>
        <p:guide orient="horz"/>
        <p:guide pos="6708"/>
        <p:guide pos="20904"/>
        <p:guide pos="7082"/>
        <p:guide pos="20582"/>
        <p:guide pos="27330"/>
        <p:guide pos="326"/>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7" d="100"/>
          <a:sy n="77" d="100"/>
        </p:scale>
        <p:origin x="-3138" y="-10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28" tIns="48314" rIns="96628" bIns="48314"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28" tIns="48314" rIns="96628" bIns="48314" rtlCol="0"/>
          <a:lstStyle>
            <a:lvl1pPr algn="r">
              <a:defRPr sz="1300"/>
            </a:lvl1pPr>
          </a:lstStyle>
          <a:p>
            <a:fld id="{E6CC2317-6751-4CD4-9995-8782DD78E936}" type="datetimeFigureOut">
              <a:rPr lang="en-US" smtClean="0"/>
              <a:pPr/>
              <a:t>2/25/2025</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28" tIns="48314" rIns="96628" bIns="48314"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28" tIns="48314" rIns="96628" bIns="4831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28" tIns="48314" rIns="96628" bIns="48314"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28" tIns="48314" rIns="96628" bIns="48314"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1119091248"/>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6x48 Trifold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27049" y="6021370"/>
            <a:ext cx="10196513"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7049" y="5267325"/>
            <a:ext cx="10196513"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17525" y="14197507"/>
            <a:ext cx="10210799"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252201" y="6021371"/>
            <a:ext cx="21421724"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242675" y="5267326"/>
            <a:ext cx="21431250"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1252201" y="20505756"/>
            <a:ext cx="21421724"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252201" y="19751711"/>
            <a:ext cx="21421724"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3185100" y="5267325"/>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185099" y="6021370"/>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185102" y="19751711"/>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3185101" y="20505756"/>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185099" y="27421962"/>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a:buNone/>
              <a:defRPr sz="3200" b="1" u="none" baseline="0">
                <a:solidFill>
                  <a:schemeClr val="bg1"/>
                </a:solidFill>
                <a:latin typeface="Century Gothic" panose="020B050202020202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185099" y="28268326"/>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27049" y="14951552"/>
            <a:ext cx="10201275" cy="769419"/>
          </a:xfrm>
          <a:prstGeom prst="rect">
            <a:avLst/>
          </a:prstGeom>
        </p:spPr>
        <p:txBody>
          <a:bodyPr wrap="square" lIns="228589" tIns="228589" rIns="228589" bIns="228589" anchor="t" anchorCtr="0">
            <a:spAutoFit/>
          </a:bodyPr>
          <a:lstStyle>
            <a:lvl1pPr marL="0" indent="0">
              <a:buNone/>
              <a:defRPr sz="2000">
                <a:solidFill>
                  <a:schemeClr val="accent5">
                    <a:lumMod val="50000"/>
                  </a:schemeClr>
                </a:solidFill>
                <a:latin typeface="Century Gothic" panose="020B0502020202020204" pitchFamily="34"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11224245" y="1438210"/>
            <a:ext cx="21421724" cy="769441"/>
          </a:xfrm>
          <a:prstGeom prst="rect">
            <a:avLst/>
          </a:prstGeom>
        </p:spPr>
        <p:txBody>
          <a:bodyPr anchor="t" anchorCtr="0">
            <a:spAutoFit/>
          </a:bodyPr>
          <a:lstStyle>
            <a:lvl1pPr marL="0" indent="0" algn="ctr">
              <a:buFontTx/>
              <a:buNone/>
              <a:defRPr sz="44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47" name="Text Placeholder 76"/>
          <p:cNvSpPr>
            <a:spLocks noGrp="1"/>
          </p:cNvSpPr>
          <p:nvPr>
            <p:ph type="body" sz="quarter" idx="184" hasCustomPrompt="1"/>
          </p:nvPr>
        </p:nvSpPr>
        <p:spPr>
          <a:xfrm>
            <a:off x="11224245" y="2504523"/>
            <a:ext cx="21421724" cy="646331"/>
          </a:xfrm>
          <a:prstGeom prst="rect">
            <a:avLst/>
          </a:prstGeom>
        </p:spPr>
        <p:txBody>
          <a:bodyPr anchor="t" anchorCtr="0">
            <a:spAutoFit/>
          </a:bodyPr>
          <a:lstStyle>
            <a:lvl1pPr marL="0" indent="0" algn="ctr">
              <a:buFontTx/>
              <a:buNone/>
              <a:defRPr sz="3600">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48" name="Text Placeholder 76"/>
          <p:cNvSpPr>
            <a:spLocks noGrp="1"/>
          </p:cNvSpPr>
          <p:nvPr>
            <p:ph type="body" sz="quarter" idx="185" hasCustomPrompt="1"/>
          </p:nvPr>
        </p:nvSpPr>
        <p:spPr>
          <a:xfrm>
            <a:off x="11224245" y="282188"/>
            <a:ext cx="21421724" cy="1015663"/>
          </a:xfrm>
          <a:prstGeom prst="rect">
            <a:avLst/>
          </a:prstGeom>
        </p:spPr>
        <p:txBody>
          <a:bodyPr anchor="t" anchorCtr="0">
            <a:spAutoFit/>
          </a:bodyPr>
          <a:lstStyle>
            <a:lvl1pPr marL="0" indent="0" algn="ctr">
              <a:buFontTx/>
              <a:buNone/>
              <a:defRPr sz="6000" b="1">
                <a:solidFill>
                  <a:schemeClr val="bg1"/>
                </a:solidFill>
                <a:latin typeface="Century Gothic" panose="020B050202020202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27049" y="6021370"/>
            <a:ext cx="101965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7049" y="5267325"/>
            <a:ext cx="10196513"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17525" y="14197507"/>
            <a:ext cx="1021079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252201" y="6021371"/>
            <a:ext cx="2142172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242675" y="5267326"/>
            <a:ext cx="214312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1252201" y="20505756"/>
            <a:ext cx="2142172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252201" y="19751711"/>
            <a:ext cx="2142172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185100" y="5267325"/>
            <a:ext cx="102012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185099" y="6021370"/>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185098" y="14257357"/>
            <a:ext cx="102012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185097" y="15011402"/>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185095" y="25679401"/>
            <a:ext cx="102012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185096" y="26433446"/>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27049" y="14951552"/>
            <a:ext cx="10201275"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anose="02020603050405020304" pitchFamily="18" charset="0"/>
                <a:cs typeface="Times New Roman" panose="02020603050405020304"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11224245" y="1785731"/>
            <a:ext cx="21421724" cy="1280160"/>
          </a:xfrm>
          <a:prstGeom prst="rect">
            <a:avLst/>
          </a:prstGeom>
        </p:spPr>
        <p:txBody>
          <a:bodyPr>
            <a:normAutofit/>
          </a:bodyPr>
          <a:lstStyle>
            <a:lvl1pPr marL="0" indent="0" algn="ctr">
              <a:buFontTx/>
              <a:buNone/>
              <a:defRPr sz="66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47" name="Text Placeholder 76"/>
          <p:cNvSpPr>
            <a:spLocks noGrp="1"/>
          </p:cNvSpPr>
          <p:nvPr>
            <p:ph type="body" sz="quarter" idx="184" hasCustomPrompt="1"/>
          </p:nvPr>
        </p:nvSpPr>
        <p:spPr>
          <a:xfrm>
            <a:off x="11224245" y="3117452"/>
            <a:ext cx="21421724" cy="1163782"/>
          </a:xfrm>
          <a:prstGeom prst="rect">
            <a:avLst/>
          </a:prstGeom>
        </p:spPr>
        <p:txBody>
          <a:bodyPr>
            <a:normAutofit/>
          </a:bodyPr>
          <a:lstStyle>
            <a:lvl1pPr marL="0" indent="0" algn="ctr">
              <a:buFontTx/>
              <a:buNone/>
              <a:defRPr sz="5400">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48" name="Text Placeholder 76"/>
          <p:cNvSpPr>
            <a:spLocks noGrp="1"/>
          </p:cNvSpPr>
          <p:nvPr>
            <p:ph type="body" sz="quarter" idx="185" hasCustomPrompt="1"/>
          </p:nvPr>
        </p:nvSpPr>
        <p:spPr>
          <a:xfrm>
            <a:off x="11224245" y="417443"/>
            <a:ext cx="21421724" cy="1280160"/>
          </a:xfrm>
          <a:prstGeom prst="rect">
            <a:avLst/>
          </a:prstGeom>
        </p:spPr>
        <p:txBody>
          <a:bodyPr>
            <a:normAutofit/>
          </a:bodyPr>
          <a:lstStyle>
            <a:lvl1pPr marL="0" indent="0" algn="ctr">
              <a:buFontTx/>
              <a:buNone/>
              <a:defRPr sz="8800" b="1">
                <a:solidFill>
                  <a:schemeClr val="accent5">
                    <a:lumMod val="50000"/>
                  </a:schemeClr>
                </a:solidFill>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685237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D2C49E-C8AE-7506-CECC-550C89597A6D}"/>
              </a:ext>
            </a:extLst>
          </p:cNvPr>
          <p:cNvSpPr/>
          <p:nvPr userDrawn="1"/>
        </p:nvSpPr>
        <p:spPr>
          <a:xfrm>
            <a:off x="0" y="32077025"/>
            <a:ext cx="43929300" cy="1184275"/>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Box 14"/>
          <p:cNvSpPr txBox="1">
            <a:spLocks noChangeArrowheads="1"/>
          </p:cNvSpPr>
          <p:nvPr/>
        </p:nvSpPr>
        <p:spPr bwMode="auto">
          <a:xfrm>
            <a:off x="590553" y="32499697"/>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01653003-AF6A-CE42-AF77-467563BA894E}"/>
              </a:ext>
            </a:extLst>
          </p:cNvPr>
          <p:cNvGraphicFramePr>
            <a:graphicFrameLocks noGrp="1"/>
          </p:cNvGraphicFramePr>
          <p:nvPr userDrawn="1">
            <p:extLst>
              <p:ext uri="{D42A27DB-BD31-4B8C-83A1-F6EECF244321}">
                <p14:modId xmlns:p14="http://schemas.microsoft.com/office/powerpoint/2010/main" val="4250534553"/>
              </p:ext>
            </p:extLst>
          </p:nvPr>
        </p:nvGraphicFramePr>
        <p:xfrm>
          <a:off x="-10611120" y="14098"/>
          <a:ext cx="9776869" cy="32750835"/>
        </p:xfrm>
        <a:graphic>
          <a:graphicData uri="http://schemas.openxmlformats.org/drawingml/2006/table">
            <a:tbl>
              <a:tblPr firstRow="1" bandRow="1">
                <a:tableStyleId>{5C22544A-7EE6-4342-B048-85BDC9FD1C3A}</a:tableStyleId>
              </a:tblPr>
              <a:tblGrid>
                <a:gridCol w="4192245">
                  <a:extLst>
                    <a:ext uri="{9D8B030D-6E8A-4147-A177-3AD203B41FA5}">
                      <a16:colId xmlns:a16="http://schemas.microsoft.com/office/drawing/2014/main" val="20000"/>
                    </a:ext>
                  </a:extLst>
                </a:gridCol>
                <a:gridCol w="5584624">
                  <a:extLst>
                    <a:ext uri="{9D8B030D-6E8A-4147-A177-3AD203B41FA5}">
                      <a16:colId xmlns:a16="http://schemas.microsoft.com/office/drawing/2014/main" val="20001"/>
                    </a:ext>
                  </a:extLst>
                </a:gridCol>
              </a:tblGrid>
              <a:tr h="1329113">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600" b="0" spc="600" dirty="0">
                          <a:solidFill>
                            <a:srgbClr val="1F3A4E"/>
                          </a:solidFill>
                          <a:latin typeface="Arial Black" panose="020B0A04020102020204" pitchFamily="34" charset="0"/>
                        </a:rPr>
                        <a:t>QUICK START GUIDE</a:t>
                      </a:r>
                      <a:br>
                        <a:rPr lang="en-US" sz="3600" b="0" spc="600" dirty="0">
                          <a:solidFill>
                            <a:srgbClr val="1F3A4E"/>
                          </a:solidFill>
                          <a:latin typeface="Arial Black" panose="020B0A04020102020204" pitchFamily="34" charset="0"/>
                        </a:rPr>
                      </a:br>
                      <a:r>
                        <a:rPr lang="en-US" sz="2800" b="1" spc="0" dirty="0">
                          <a:solidFill>
                            <a:srgbClr val="FF0000"/>
                          </a:solidFill>
                          <a:latin typeface="Trebuchet MS" pitchFamily="34" charset="0"/>
                        </a:rPr>
                        <a:t>(THIS SIDEBAR WILL NOT PRINT)</a:t>
                      </a:r>
                      <a:endParaRPr lang="en-US" sz="36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06624">
                <a:tc gridSpan="2">
                  <a:txBody>
                    <a:bodyPr/>
                    <a:lstStyle/>
                    <a:p>
                      <a:pPr defTabSz="3765639"/>
                      <a:r>
                        <a:rPr lang="en-US" sz="2000" i="0" dirty="0">
                          <a:solidFill>
                            <a:srgbClr val="D9D9D9"/>
                          </a:solidFill>
                          <a:latin typeface="Arial"/>
                          <a:cs typeface="Arial"/>
                        </a:rPr>
                        <a:t>This PowerPoint template produces a </a:t>
                      </a:r>
                      <a:r>
                        <a:rPr lang="en-US" sz="2000" b="1" i="0" dirty="0">
                          <a:solidFill>
                            <a:srgbClr val="FFC000"/>
                          </a:solidFill>
                          <a:latin typeface="Arial"/>
                          <a:cs typeface="Arial"/>
                        </a:rPr>
                        <a:t>36"x48” Trifold </a:t>
                      </a:r>
                      <a:r>
                        <a:rPr lang="en-US" sz="2000" i="0" dirty="0">
                          <a:solidFill>
                            <a:srgbClr val="D9D9D9"/>
                          </a:solidFill>
                          <a:latin typeface="Arial"/>
                          <a:cs typeface="Arial"/>
                        </a:rPr>
                        <a:t>presentation poster board. You can use it to create your research poster by placing your title, subtitle, text, tables, charts and photos. </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the  </a:t>
                      </a:r>
                      <a:r>
                        <a:rPr lang="en-US" sz="2000" i="0" dirty="0">
                          <a:solidFill>
                            <a:srgbClr val="FFC000"/>
                          </a:solidFill>
                          <a:latin typeface="Arial"/>
                          <a:cs typeface="Arial"/>
                        </a:rPr>
                        <a:t>HELP DESK</a:t>
                      </a:r>
                      <a:r>
                        <a:rPr lang="en-US" sz="2000" i="0" baseline="0" dirty="0">
                          <a:solidFill>
                            <a:srgbClr val="D9D9D9"/>
                          </a:solidFill>
                          <a:latin typeface="Arial"/>
                          <a:cs typeface="Arial"/>
                        </a:rPr>
                        <a:t> </a:t>
                      </a:r>
                      <a:r>
                        <a:rPr lang="en-US" sz="2000" i="0" dirty="0">
                          <a:solidFill>
                            <a:srgbClr val="D9D9D9"/>
                          </a:solidFill>
                          <a:latin typeface="Arial"/>
                          <a:cs typeface="Arial"/>
                        </a:rPr>
                        <a:t>tab.</a:t>
                      </a:r>
                    </a:p>
                    <a:p>
                      <a:pPr defTabSz="3765639"/>
                      <a:endParaRPr lang="en-US" sz="2000" i="0" dirty="0">
                        <a:solidFill>
                          <a:srgbClr val="D9D9D9"/>
                        </a:solidFill>
                        <a:latin typeface="Arial"/>
                        <a:cs typeface="Arial"/>
                      </a:endParaRPr>
                    </a:p>
                    <a:p>
                      <a:pPr defTabSz="3765639"/>
                      <a:r>
                        <a:rPr lang="en-US" sz="2000" i="0" dirty="0">
                          <a:solidFill>
                            <a:srgbClr val="D9D9D9"/>
                          </a:solidFill>
                          <a:latin typeface="Arial"/>
                          <a:cs typeface="Arial"/>
                        </a:rPr>
                        <a:t>To print your poster using our same-day professional printing service, go online to </a:t>
                      </a:r>
                      <a:r>
                        <a:rPr lang="en-US" sz="2000" i="0" dirty="0" err="1">
                          <a:solidFill>
                            <a:srgbClr val="FFC000"/>
                          </a:solidFill>
                          <a:latin typeface="Arial"/>
                          <a:cs typeface="Arial"/>
                        </a:rPr>
                        <a:t>PosterPresentations.com</a:t>
                      </a:r>
                      <a:r>
                        <a:rPr lang="en-US" sz="2000" i="0" dirty="0">
                          <a:solidFill>
                            <a:srgbClr val="D9D9D9"/>
                          </a:solidFill>
                          <a:latin typeface="Arial"/>
                          <a:cs typeface="Arial"/>
                        </a:rPr>
                        <a:t> and click on "</a:t>
                      </a:r>
                      <a:r>
                        <a:rPr lang="en-US" sz="2000" i="0" dirty="0">
                          <a:solidFill>
                            <a:srgbClr val="FFC000"/>
                          </a:solidFill>
                          <a:latin typeface="Arial"/>
                          <a:cs typeface="Arial"/>
                        </a:rPr>
                        <a:t>Order your poster</a:t>
                      </a:r>
                      <a:r>
                        <a:rPr lang="en-US" sz="2000" i="0" dirty="0">
                          <a:solidFill>
                            <a:srgbClr val="D9D9D9"/>
                          </a:solidFill>
                          <a:latin typeface="Arial"/>
                          <a:cs typeface="Arial"/>
                        </a:rPr>
                        <a:t>".</a:t>
                      </a:r>
                      <a:endParaRPr lang="en-US" sz="20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644032">
                <a:tc>
                  <a:txBody>
                    <a:bodyPr/>
                    <a:lstStyle/>
                    <a:p>
                      <a:pPr algn="ctr"/>
                      <a:endParaRPr lang="en-US" sz="2000" dirty="0">
                        <a:solidFill>
                          <a:srgbClr val="1F3A4E"/>
                        </a:solidFill>
                      </a:endParaRPr>
                    </a:p>
                    <a:p>
                      <a:pPr algn="ctr"/>
                      <a:endParaRPr lang="en-US" sz="2000" dirty="0">
                        <a:solidFill>
                          <a:srgbClr val="1F3A4E"/>
                        </a:solidFill>
                      </a:endParaRPr>
                    </a:p>
                    <a:p>
                      <a:pPr algn="ctr"/>
                      <a:r>
                        <a:rPr lang="en-US" sz="2000" dirty="0">
                          <a:solidFill>
                            <a:schemeClr val="bg1"/>
                          </a:solidFill>
                          <a:latin typeface="Arial" panose="020B0604020202020204" pitchFamily="34" charset="0"/>
                          <a:cs typeface="Arial" panose="020B0604020202020204" pitchFamily="34" charset="0"/>
                        </a:rPr>
                        <a:t>This is a poster template for a </a:t>
                      </a:r>
                      <a:br>
                        <a:rPr lang="en-US" sz="2000" dirty="0">
                          <a:solidFill>
                            <a:schemeClr val="bg1"/>
                          </a:solidFill>
                          <a:latin typeface="Arial" panose="020B0604020202020204" pitchFamily="34" charset="0"/>
                          <a:cs typeface="Arial" panose="020B0604020202020204" pitchFamily="34" charset="0"/>
                        </a:rPr>
                      </a:br>
                      <a:r>
                        <a:rPr lang="en-US" sz="4800" b="1" dirty="0">
                          <a:solidFill>
                            <a:srgbClr val="FFC000"/>
                          </a:solidFill>
                          <a:latin typeface="Arial" panose="020B0604020202020204" pitchFamily="34" charset="0"/>
                          <a:cs typeface="Arial" panose="020B0604020202020204" pitchFamily="34" charset="0"/>
                        </a:rPr>
                        <a:t>TRIFOLD</a:t>
                      </a:r>
                      <a:br>
                        <a:rPr lang="en-US" sz="3600" b="1" dirty="0">
                          <a:solidFill>
                            <a:srgbClr val="FFC000"/>
                          </a:solidFill>
                          <a:latin typeface="Arial" panose="020B0604020202020204" pitchFamily="34" charset="0"/>
                          <a:cs typeface="Arial" panose="020B0604020202020204" pitchFamily="34" charset="0"/>
                        </a:rPr>
                      </a:br>
                      <a:r>
                        <a:rPr lang="en-US" sz="2000" b="1" dirty="0">
                          <a:solidFill>
                            <a:srgbClr val="FFC000"/>
                          </a:solidFill>
                          <a:latin typeface="Arial" panose="020B0604020202020204" pitchFamily="34" charset="0"/>
                          <a:cs typeface="Arial" panose="020B0604020202020204" pitchFamily="34" charset="0"/>
                        </a:rPr>
                        <a:t>(3 feet tall by 4 feet wide)</a:t>
                      </a:r>
                      <a:br>
                        <a:rPr lang="en-US" sz="2000" dirty="0">
                          <a:solidFill>
                            <a:schemeClr val="bg1"/>
                          </a:solidFill>
                          <a:latin typeface="Arial" panose="020B0604020202020204" pitchFamily="34" charset="0"/>
                          <a:cs typeface="Arial" panose="020B0604020202020204" pitchFamily="34" charset="0"/>
                        </a:rPr>
                      </a:br>
                      <a:r>
                        <a:rPr lang="en-US" sz="2000" dirty="0">
                          <a:solidFill>
                            <a:schemeClr val="bg1"/>
                          </a:solidFill>
                          <a:latin typeface="Arial" panose="020B0604020202020204" pitchFamily="34" charset="0"/>
                          <a:cs typeface="Arial" panose="020B0604020202020204" pitchFamily="34" charset="0"/>
                        </a:rPr>
                        <a:t>presentation board</a:t>
                      </a:r>
                    </a:p>
                    <a:p>
                      <a:endParaRPr lang="en-US" sz="20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Important: Check the template size</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you are using the correct size template for your poster presentation.</a:t>
                      </a:r>
                      <a:br>
                        <a:rPr lang="en-US" sz="2000" b="0" baseline="0" dirty="0">
                          <a:solidFill>
                            <a:srgbClr val="D9D9D9"/>
                          </a:solidFill>
                          <a:latin typeface="Arial" panose="020B0604020202020204" pitchFamily="34" charset="0"/>
                          <a:cs typeface="Arial" panose="020B0604020202020204" pitchFamily="34" charset="0"/>
                        </a:rPr>
                      </a:br>
                      <a:endParaRPr lang="en-US" sz="20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4288692">
                <a:tc>
                  <a:txBody>
                    <a:bodyPr/>
                    <a:lstStyle/>
                    <a:p>
                      <a:endParaRPr lang="en-US" sz="2000" dirty="0">
                        <a:solidFill>
                          <a:srgbClr val="1F3A4E"/>
                        </a:solidFill>
                      </a:endParaRPr>
                    </a:p>
                  </a:txBody>
                  <a:tcPr>
                    <a:blipFill rotWithShape="1">
                      <a:blip r:embed="rId3"/>
                      <a:stretch>
                        <a:fillRect/>
                      </a:stretch>
                    </a:blipFill>
                  </a:tcPr>
                </a:tc>
                <a:tc>
                  <a:txBody>
                    <a:bodyPr/>
                    <a:lstStyle/>
                    <a:p>
                      <a:pPr algn="l"/>
                      <a:r>
                        <a:rPr lang="en-US" sz="2400" b="1" baseline="0" dirty="0">
                          <a:solidFill>
                            <a:srgbClr val="FFC000"/>
                          </a:solidFill>
                          <a:latin typeface="Arial" panose="020B0604020202020204" pitchFamily="34" charset="0"/>
                          <a:cs typeface="Arial" panose="020B0604020202020204" pitchFamily="34" charset="0"/>
                        </a:rPr>
                        <a:t>How to </a:t>
                      </a:r>
                      <a:r>
                        <a:rPr lang="en-US" sz="4000" b="1" baseline="0" dirty="0">
                          <a:solidFill>
                            <a:srgbClr val="FFC000"/>
                          </a:solidFill>
                          <a:latin typeface="Arial" panose="020B0604020202020204" pitchFamily="34" charset="0"/>
                          <a:cs typeface="Arial" panose="020B0604020202020204" pitchFamily="34" charset="0"/>
                        </a:rPr>
                        <a:t>Zoom in </a:t>
                      </a:r>
                      <a:r>
                        <a:rPr lang="en-US" sz="2400" b="1" baseline="0" dirty="0">
                          <a:solidFill>
                            <a:srgbClr val="FFC000"/>
                          </a:solidFill>
                          <a:latin typeface="Arial" panose="020B0604020202020204" pitchFamily="34" charset="0"/>
                          <a:cs typeface="Arial" panose="020B0604020202020204" pitchFamily="34" charset="0"/>
                        </a:rPr>
                        <a:t>and </a:t>
                      </a:r>
                      <a:r>
                        <a:rPr lang="en-US" sz="1800" b="1" baseline="0" dirty="0">
                          <a:solidFill>
                            <a:srgbClr val="FFC000"/>
                          </a:solidFill>
                          <a:latin typeface="Arial" panose="020B0604020202020204" pitchFamily="34" charset="0"/>
                          <a:cs typeface="Arial" panose="020B0604020202020204" pitchFamily="34" charset="0"/>
                        </a:rPr>
                        <a:t>out</a:t>
                      </a:r>
                      <a:endParaRPr lang="en-US" sz="2400" b="1" baseline="0" dirty="0">
                        <a:solidFill>
                          <a:srgbClr val="FFC000"/>
                        </a:solidFill>
                        <a:latin typeface="Arial" panose="020B0604020202020204" pitchFamily="34" charset="0"/>
                        <a:cs typeface="Arial" panose="020B0604020202020204" pitchFamily="34" charset="0"/>
                      </a:endParaRPr>
                    </a:p>
                    <a:p>
                      <a:pPr algn="l"/>
                      <a:r>
                        <a:rPr lang="en-US" sz="20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1. </a:t>
                      </a:r>
                      <a:r>
                        <a:rPr lang="en-US" sz="20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000" b="0" baseline="0" dirty="0">
                          <a:solidFill>
                            <a:srgbClr val="D9D9D9"/>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2. </a:t>
                      </a:r>
                      <a:r>
                        <a:rPr lang="en-US" sz="20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800526">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400" b="1" baseline="0" dirty="0">
                          <a:solidFill>
                            <a:srgbClr val="FFC000"/>
                          </a:solidFill>
                          <a:latin typeface="Arial" panose="020B0604020202020204" pitchFamily="34" charset="0"/>
                          <a:cs typeface="Arial" panose="020B0604020202020204" pitchFamily="34" charset="0"/>
                        </a:rPr>
                        <a:t>Ruler and Guides</a:t>
                      </a:r>
                      <a:br>
                        <a:rPr lang="en-US" sz="2000" b="0" baseline="0" dirty="0">
                          <a:solidFill>
                            <a:srgbClr val="FFC000"/>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824339">
                <a:tc>
                  <a:txBody>
                    <a:bodyPr/>
                    <a:lstStyle/>
                    <a:p>
                      <a:endParaRPr lang="en-US" sz="2000" dirty="0">
                        <a:solidFill>
                          <a:srgbClr val="1F3A4E"/>
                        </a:solidFill>
                      </a:endParaRPr>
                    </a:p>
                  </a:txBody>
                  <a:tcPr>
                    <a:blipFill rotWithShape="1">
                      <a:blip r:embed="rId4"/>
                      <a:stretch>
                        <a:fillRect/>
                      </a:stretch>
                    </a:blipFill>
                  </a:tcPr>
                </a:tc>
                <a:tc>
                  <a:txBody>
                    <a:bodyPr/>
                    <a:lstStyle/>
                    <a:p>
                      <a:pPr marL="0" lvl="1" indent="0" algn="l" defTabSz="114300"/>
                      <a:r>
                        <a:rPr lang="en-US" sz="2400" b="1" baseline="0" dirty="0">
                          <a:solidFill>
                            <a:srgbClr val="FFC000"/>
                          </a:solidFill>
                          <a:latin typeface="Arial" panose="020B0604020202020204" pitchFamily="34" charset="0"/>
                          <a:cs typeface="Arial" panose="020B0604020202020204" pitchFamily="34" charset="0"/>
                        </a:rPr>
                        <a:t>Headers and text containers</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000" b="0" baseline="0" dirty="0">
                          <a:solidFill>
                            <a:schemeClr val="bg1"/>
                          </a:solidFill>
                          <a:latin typeface="Arial" panose="020B0604020202020204" pitchFamily="34" charset="0"/>
                          <a:cs typeface="Arial" panose="020B0604020202020204" pitchFamily="34" charset="0"/>
                        </a:rPr>
                      </a:br>
                      <a:r>
                        <a:rPr lang="en-US" sz="2000" b="0" baseline="0" dirty="0">
                          <a:solidFill>
                            <a:srgbClr val="FFC000"/>
                          </a:solidFill>
                          <a:latin typeface="Arial" panose="020B0604020202020204" pitchFamily="34" charset="0"/>
                          <a:cs typeface="Arial" panose="020B0604020202020204" pitchFamily="34" charset="0"/>
                        </a:rPr>
                        <a:t>-</a:t>
                      </a:r>
                      <a:r>
                        <a:rPr lang="en-US" sz="2000" b="0" baseline="0" dirty="0">
                          <a:solidFill>
                            <a:schemeClr val="bg1"/>
                          </a:solidFill>
                          <a:latin typeface="Arial" panose="020B0604020202020204" pitchFamily="34" charset="0"/>
                          <a:cs typeface="Arial" panose="020B0604020202020204" pitchFamily="34" charset="0"/>
                        </a:rPr>
                        <a:t> </a:t>
                      </a:r>
                      <a:r>
                        <a:rPr lang="en-US" sz="20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519135">
                <a:tc gridSpan="2">
                  <a:txBody>
                    <a:bodyPr/>
                    <a:lstStyle/>
                    <a:p>
                      <a:r>
                        <a:rPr lang="en-US" sz="2400" b="1" dirty="0">
                          <a:solidFill>
                            <a:srgbClr val="FFC000"/>
                          </a:solidFill>
                          <a:latin typeface="Arial" panose="020B0604020202020204" pitchFamily="34" charset="0"/>
                          <a:cs typeface="Arial" panose="020B0604020202020204" pitchFamily="34" charset="0"/>
                        </a:rPr>
                        <a:t>Adding content to the poster</a:t>
                      </a:r>
                    </a:p>
                    <a:p>
                      <a:r>
                        <a:rPr lang="en-US" sz="20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0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0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3776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93170">
                <a:tc gridSpan="2">
                  <a:txBody>
                    <a:bodyPr/>
                    <a:lstStyle/>
                    <a:p>
                      <a:endParaRPr lang="en-US" sz="20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28027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0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18727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88BF79A5-2E39-B244-8274-FC9BFF416B62}"/>
              </a:ext>
            </a:extLst>
          </p:cNvPr>
          <p:cNvGraphicFramePr>
            <a:graphicFrameLocks noGrp="1"/>
          </p:cNvGraphicFramePr>
          <p:nvPr userDrawn="1">
            <p:extLst>
              <p:ext uri="{D42A27DB-BD31-4B8C-83A1-F6EECF244321}">
                <p14:modId xmlns:p14="http://schemas.microsoft.com/office/powerpoint/2010/main" val="3505211518"/>
              </p:ext>
            </p:extLst>
          </p:nvPr>
        </p:nvGraphicFramePr>
        <p:xfrm>
          <a:off x="44695229" y="-84749"/>
          <a:ext cx="9430188" cy="33075070"/>
        </p:xfrm>
        <a:graphic>
          <a:graphicData uri="http://schemas.openxmlformats.org/drawingml/2006/table">
            <a:tbl>
              <a:tblPr firstRow="1" bandRow="1">
                <a:tableStyleId>{5C22544A-7EE6-4342-B048-85BDC9FD1C3A}</a:tableStyleId>
              </a:tblPr>
              <a:tblGrid>
                <a:gridCol w="3343835">
                  <a:extLst>
                    <a:ext uri="{9D8B030D-6E8A-4147-A177-3AD203B41FA5}">
                      <a16:colId xmlns:a16="http://schemas.microsoft.com/office/drawing/2014/main" val="20000"/>
                    </a:ext>
                  </a:extLst>
                </a:gridCol>
                <a:gridCol w="1381559">
                  <a:extLst>
                    <a:ext uri="{9D8B030D-6E8A-4147-A177-3AD203B41FA5}">
                      <a16:colId xmlns:a16="http://schemas.microsoft.com/office/drawing/2014/main" val="997673227"/>
                    </a:ext>
                  </a:extLst>
                </a:gridCol>
                <a:gridCol w="4704794">
                  <a:extLst>
                    <a:ext uri="{9D8B030D-6E8A-4147-A177-3AD203B41FA5}">
                      <a16:colId xmlns:a16="http://schemas.microsoft.com/office/drawing/2014/main" val="4164475170"/>
                    </a:ext>
                  </a:extLst>
                </a:gridCol>
              </a:tblGrid>
              <a:tr h="1756432">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63101">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3667719">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u="sng" dirty="0">
                        <a:solidFill>
                          <a:srgbClr val="FFC000"/>
                        </a:solidFill>
                      </a:endParaRPr>
                    </a:p>
                  </a:txBody>
                  <a:tcPr marL="182880" marT="137160">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517707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288832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3781426">
                <a:tc gridSpan="2">
                  <a:txBody>
                    <a:bodyPr/>
                    <a:lstStyle/>
                    <a:p>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hMerge="1">
                  <a:txBody>
                    <a:bodyPr/>
                    <a:lstStyle/>
                    <a:p>
                      <a:endParaRPr lang="en-US"/>
                    </a:p>
                  </a:txBody>
                  <a:tcPr/>
                </a:tc>
                <a:tc>
                  <a:txBody>
                    <a:bodyPr/>
                    <a:lstStyle/>
                    <a:p>
                      <a:pPr algn="ctr"/>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67400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354778">
                <a:tc gridSpan="3">
                  <a:txBody>
                    <a:bodyPr/>
                    <a:lstStyle/>
                    <a:p>
                      <a:endParaRPr lang="en-US" sz="2400" dirty="0">
                        <a:solidFill>
                          <a:srgbClr val="1F3A4E"/>
                        </a:solidFill>
                      </a:endParaRPr>
                    </a:p>
                  </a:txBody>
                  <a:tcPr marL="182880" marT="137160">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3212204">
                <a:tc>
                  <a:txBody>
                    <a:bodyPr/>
                    <a:lstStyle/>
                    <a:p>
                      <a:pPr>
                        <a:lnSpc>
                          <a:spcPts val="2600"/>
                        </a:lnSpc>
                      </a:pPr>
                      <a:r>
                        <a:rPr lang="en-US" sz="2000" dirty="0">
                          <a:solidFill>
                            <a:schemeClr val="bg1">
                              <a:lumMod val="85000"/>
                            </a:schemeClr>
                          </a:solidFill>
                          <a:latin typeface="Arial"/>
                          <a:cs typeface="Arial"/>
                        </a:rPr>
                        <a:t>© 2022</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grpSp>
        <p:nvGrpSpPr>
          <p:cNvPr id="6" name="Group 5">
            <a:extLst>
              <a:ext uri="{FF2B5EF4-FFF2-40B4-BE49-F238E27FC236}">
                <a16:creationId xmlns:a16="http://schemas.microsoft.com/office/drawing/2014/main" id="{398D248F-18FC-8C85-139E-81D60741FD31}"/>
              </a:ext>
            </a:extLst>
          </p:cNvPr>
          <p:cNvGrpSpPr/>
          <p:nvPr userDrawn="1"/>
        </p:nvGrpSpPr>
        <p:grpSpPr>
          <a:xfrm>
            <a:off x="0" y="14098"/>
            <a:ext cx="43929300" cy="4314166"/>
            <a:chOff x="0" y="-1"/>
            <a:chExt cx="12192000" cy="1219223"/>
          </a:xfrm>
        </p:grpSpPr>
        <p:sp>
          <p:nvSpPr>
            <p:cNvPr id="7" name="Document 6">
              <a:extLst>
                <a:ext uri="{FF2B5EF4-FFF2-40B4-BE49-F238E27FC236}">
                  <a16:creationId xmlns:a16="http://schemas.microsoft.com/office/drawing/2014/main" id="{96118CF8-BD77-6C57-C2E7-A6873BCEA09A}"/>
                </a:ext>
              </a:extLst>
            </p:cNvPr>
            <p:cNvSpPr/>
            <p:nvPr/>
          </p:nvSpPr>
          <p:spPr>
            <a:xfrm>
              <a:off x="0" y="89065"/>
              <a:ext cx="12192000" cy="1130157"/>
            </a:xfrm>
            <a:prstGeom prst="flowChartDocument">
              <a:avLst/>
            </a:prstGeom>
            <a:gradFill>
              <a:gsLst>
                <a:gs pos="0">
                  <a:srgbClr val="C00000"/>
                </a:gs>
                <a:gs pos="100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ocument 7">
              <a:extLst>
                <a:ext uri="{FF2B5EF4-FFF2-40B4-BE49-F238E27FC236}">
                  <a16:creationId xmlns:a16="http://schemas.microsoft.com/office/drawing/2014/main" id="{C8AD6CAC-CE5A-8888-96FD-72FE0BB86427}"/>
                </a:ext>
              </a:extLst>
            </p:cNvPr>
            <p:cNvSpPr/>
            <p:nvPr/>
          </p:nvSpPr>
          <p:spPr>
            <a:xfrm>
              <a:off x="0" y="-1"/>
              <a:ext cx="12192000" cy="1130157"/>
            </a:xfrm>
            <a:prstGeom prst="flowChartDocumen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819153" y="32232601"/>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2022</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1226230357"/>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2F638C8-A4F0-499E-560B-19E4341AF168}"/>
              </a:ext>
            </a:extLst>
          </p:cNvPr>
          <p:cNvSpPr>
            <a:spLocks noGrp="1"/>
          </p:cNvSpPr>
          <p:nvPr>
            <p:ph type="body" sz="quarter" idx="10"/>
          </p:nvPr>
        </p:nvSpPr>
        <p:spPr>
          <a:xfrm>
            <a:off x="527049" y="6021370"/>
            <a:ext cx="10196513" cy="12575728"/>
          </a:xfrm>
        </p:spPr>
        <p:txBody>
          <a:bodyPr/>
          <a:lstStyle/>
          <a:p>
            <a:r>
              <a:rPr lang="en-US" sz="2400" dirty="0">
                <a:latin typeface="Times New Roman" panose="02020603050405020304" pitchFamily="18" charset="0"/>
              </a:rPr>
              <a:t>Soil respiration, the natural process by which carbon dioxide (CO₂) is released from the soil into the atmosphere, is the largest flux of CO₂ from the Earth’s surface. Despite its significance, accurately predicting CO₂ emissions caused by soil respiration remains challenging, and the influence of environmental variables are not yet fully understood. Early studies using artificial intelligence (AI) to predict soil respirations often relied on linear models or overly simplified datasets which lacked real-world applications. </a:t>
            </a:r>
          </a:p>
          <a:p>
            <a:endParaRPr lang="en-US" sz="2400" dirty="0">
              <a:latin typeface="Times New Roman" panose="02020603050405020304" pitchFamily="18" charset="0"/>
            </a:endParaRPr>
          </a:p>
          <a:p>
            <a:r>
              <a:rPr lang="en-US" sz="2400" dirty="0">
                <a:latin typeface="Times New Roman" panose="02020603050405020304" pitchFamily="18" charset="0"/>
              </a:rPr>
              <a:t>This study introduces a novel integration of </a:t>
            </a:r>
            <a:r>
              <a:rPr lang="en-US" sz="2400" dirty="0" err="1">
                <a:latin typeface="Times New Roman" panose="02020603050405020304" pitchFamily="18" charset="0"/>
              </a:rPr>
              <a:t>XGBoost</a:t>
            </a:r>
            <a:r>
              <a:rPr lang="en-US" sz="2400" dirty="0">
                <a:latin typeface="Times New Roman" panose="02020603050405020304" pitchFamily="18" charset="0"/>
              </a:rPr>
              <a:t> and Shapley Additive </a:t>
            </a:r>
            <a:r>
              <a:rPr lang="en-US" sz="2400" dirty="0" err="1">
                <a:latin typeface="Times New Roman" panose="02020603050405020304" pitchFamily="18" charset="0"/>
              </a:rPr>
              <a:t>exPlanations</a:t>
            </a:r>
            <a:r>
              <a:rPr lang="en-US" sz="2400" dirty="0">
                <a:latin typeface="Times New Roman" panose="02020603050405020304" pitchFamily="18" charset="0"/>
              </a:rPr>
              <a:t> (SHAP) to achieve both high predictive accuracy and detailed feature interpretability. In this study, an innovative ensemble model, </a:t>
            </a:r>
            <a:r>
              <a:rPr lang="en-US" sz="2400" dirty="0" err="1">
                <a:latin typeface="Times New Roman" panose="02020603050405020304" pitchFamily="18" charset="0"/>
              </a:rPr>
              <a:t>XGBoost</a:t>
            </a:r>
            <a:r>
              <a:rPr lang="en-US" sz="2400" dirty="0">
                <a:latin typeface="Times New Roman" panose="02020603050405020304" pitchFamily="18" charset="0"/>
              </a:rPr>
              <a:t>, is developed to estimate annual soil respiration (Rs) using spatial, temporal, climatic, and other independent variables. Additionally, a deep neural network (DNN) model is explored. Among the machine learning models evaluated, </a:t>
            </a:r>
            <a:r>
              <a:rPr lang="en-US" sz="2400" dirty="0" err="1">
                <a:latin typeface="Times New Roman" panose="02020603050405020304" pitchFamily="18" charset="0"/>
              </a:rPr>
              <a:t>XGBoost</a:t>
            </a:r>
            <a:r>
              <a:rPr lang="en-US" sz="2400" dirty="0">
                <a:latin typeface="Times New Roman" panose="02020603050405020304" pitchFamily="18" charset="0"/>
              </a:rPr>
              <a:t> shows the best performance, with a 4% reduction in Mean Absolute Error (MAE) and Root Mean Squared Error (RMSE) and a 3.7% increase in R² compared with the Random Forest model, which was so far believed to be the state-of-the-art method. To aid in model explainability, SHAP is used to give feature importance at both the global and individual levels of analysis. Results indicate that Mean Annual Temperature (MAT) and Mean Annual Precipitation (MAP) are the most dominant environmental factors, with geographic variables such as latitude and longitude also significant. Other strong predictors include Study Year, Soil Type, soil composition-related features, Elevation, and Basal Area (BA). This study fills the gap between predictive modeling and interpretability, providing an explainable AI framework that is scalable for real-world environmental research.</a:t>
            </a:r>
          </a:p>
          <a:p>
            <a:endParaRPr lang="en-US" sz="2400" dirty="0">
              <a:latin typeface="Times New Roman" panose="02020603050405020304" pitchFamily="18" charset="0"/>
            </a:endParaRPr>
          </a:p>
          <a:p>
            <a:endParaRPr lang="en-US" sz="2800" dirty="0"/>
          </a:p>
          <a:p>
            <a:endParaRPr lang="en-US" sz="2800" dirty="0"/>
          </a:p>
          <a:p>
            <a:endParaRPr lang="en-US" sz="2400" dirty="0"/>
          </a:p>
          <a:p>
            <a:endParaRPr lang="en-US" sz="2800" dirty="0"/>
          </a:p>
        </p:txBody>
      </p:sp>
      <p:sp>
        <p:nvSpPr>
          <p:cNvPr id="3" name="Text Placeholder 2">
            <a:extLst>
              <a:ext uri="{FF2B5EF4-FFF2-40B4-BE49-F238E27FC236}">
                <a16:creationId xmlns:a16="http://schemas.microsoft.com/office/drawing/2014/main" id="{135BE7D2-92E0-694F-0BD2-6B397E62F6F0}"/>
              </a:ext>
            </a:extLst>
          </p:cNvPr>
          <p:cNvSpPr>
            <a:spLocks noGrp="1"/>
          </p:cNvSpPr>
          <p:nvPr>
            <p:ph type="body" sz="quarter" idx="11"/>
          </p:nvPr>
        </p:nvSpPr>
        <p:spPr>
          <a:xfrm>
            <a:off x="527050" y="5267325"/>
            <a:ext cx="10154874" cy="677100"/>
          </a:xfrm>
        </p:spPr>
        <p:txBody>
          <a:bodyPr/>
          <a:lstStyle/>
          <a:p>
            <a:r>
              <a:rPr lang="en-US" dirty="0"/>
              <a:t>ABSTRACT</a:t>
            </a:r>
          </a:p>
        </p:txBody>
      </p:sp>
      <p:sp>
        <p:nvSpPr>
          <p:cNvPr id="4" name="Text Placeholder 3">
            <a:extLst>
              <a:ext uri="{FF2B5EF4-FFF2-40B4-BE49-F238E27FC236}">
                <a16:creationId xmlns:a16="http://schemas.microsoft.com/office/drawing/2014/main" id="{4435E8BD-132B-FA5A-6F65-D116CBC768C6}"/>
              </a:ext>
            </a:extLst>
          </p:cNvPr>
          <p:cNvSpPr>
            <a:spLocks noGrp="1"/>
          </p:cNvSpPr>
          <p:nvPr>
            <p:ph type="body" sz="quarter" idx="20"/>
          </p:nvPr>
        </p:nvSpPr>
        <p:spPr>
          <a:xfrm>
            <a:off x="512763" y="16677924"/>
            <a:ext cx="10210799" cy="677100"/>
          </a:xfrm>
        </p:spPr>
        <p:txBody>
          <a:bodyPr/>
          <a:lstStyle/>
          <a:p>
            <a:r>
              <a:rPr lang="en-US" dirty="0"/>
              <a:t>OBJECTIVES</a:t>
            </a:r>
          </a:p>
        </p:txBody>
      </p:sp>
      <p:sp>
        <p:nvSpPr>
          <p:cNvPr id="5" name="Text Placeholder 4">
            <a:extLst>
              <a:ext uri="{FF2B5EF4-FFF2-40B4-BE49-F238E27FC236}">
                <a16:creationId xmlns:a16="http://schemas.microsoft.com/office/drawing/2014/main" id="{B501D769-FB77-29C3-9FF6-4239A4F7E008}"/>
              </a:ext>
            </a:extLst>
          </p:cNvPr>
          <p:cNvSpPr>
            <a:spLocks noGrp="1"/>
          </p:cNvSpPr>
          <p:nvPr>
            <p:ph type="body" sz="quarter" idx="21"/>
          </p:nvPr>
        </p:nvSpPr>
        <p:spPr>
          <a:xfrm>
            <a:off x="11217274" y="6085717"/>
            <a:ext cx="10109197" cy="6530996"/>
          </a:xfrm>
        </p:spPr>
        <p:txBody>
          <a:bodyPr/>
          <a:lstStyle/>
          <a:p>
            <a:r>
              <a:rPr lang="en-US" sz="3200" b="1" dirty="0">
                <a:latin typeface="Times New Roman" panose="02020603050405020304" pitchFamily="18" charset="0"/>
              </a:rPr>
              <a:t>Exploratory Data Analysis</a:t>
            </a:r>
          </a:p>
          <a:p>
            <a:endParaRPr lang="en-US" sz="2400" b="1" dirty="0">
              <a:latin typeface="Times New Roman" panose="02020603050405020304" pitchFamily="18" charset="0"/>
            </a:endParaRPr>
          </a:p>
          <a:p>
            <a:r>
              <a:rPr lang="en-US" sz="2400" b="1" dirty="0">
                <a:latin typeface="Times New Roman" panose="02020603050405020304" pitchFamily="18" charset="0"/>
              </a:rPr>
              <a:t>Dependent variable: </a:t>
            </a:r>
            <a:r>
              <a:rPr lang="en-US" sz="2400" dirty="0">
                <a:latin typeface="Times New Roman" panose="02020603050405020304" pitchFamily="18" charset="0"/>
              </a:rPr>
              <a:t> </a:t>
            </a:r>
            <a:r>
              <a:rPr lang="en-US" sz="2400" dirty="0" err="1">
                <a:latin typeface="Times New Roman" panose="02020603050405020304" pitchFamily="18" charset="0"/>
              </a:rPr>
              <a:t>Rs_annual</a:t>
            </a:r>
            <a:r>
              <a:rPr lang="en-US" sz="2400" dirty="0">
                <a:latin typeface="Times New Roman" panose="02020603050405020304" pitchFamily="18" charset="0"/>
              </a:rPr>
              <a:t>, the quantity of carbon dioxide emitted in a year by soil respiration. </a:t>
            </a:r>
          </a:p>
          <a:p>
            <a:r>
              <a:rPr lang="en-US" sz="2400" b="1" dirty="0">
                <a:latin typeface="Times New Roman" panose="02020603050405020304" pitchFamily="18" charset="0"/>
              </a:rPr>
              <a:t>Independent variables (total 29):</a:t>
            </a:r>
          </a:p>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Spatial/temporal: </a:t>
            </a:r>
            <a:r>
              <a:rPr lang="en-US" sz="1800" dirty="0" err="1">
                <a:effectLst/>
                <a:latin typeface="Times New Roman" panose="02020603050405020304" pitchFamily="18" charset="0"/>
                <a:ea typeface="Times New Roman" panose="02020603050405020304" pitchFamily="18" charset="0"/>
              </a:rPr>
              <a:t>Study_year</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YearsOfData</a:t>
            </a:r>
            <a:r>
              <a:rPr lang="en-US" sz="1800" dirty="0">
                <a:effectLst/>
                <a:latin typeface="Times New Roman" panose="02020603050405020304" pitchFamily="18" charset="0"/>
                <a:ea typeface="Times New Roman" panose="02020603050405020304" pitchFamily="18" charset="0"/>
              </a:rPr>
              <a:t>, Latitude, Longitude, Biome, Elevation</a:t>
            </a:r>
            <a:endParaRPr lang="en-US" sz="1800" dirty="0">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Climate: MAT, MAP</a:t>
            </a:r>
          </a:p>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Land use: </a:t>
            </a:r>
            <a:r>
              <a:rPr lang="en-US" sz="1800" dirty="0" err="1">
                <a:effectLst/>
                <a:latin typeface="Times New Roman" panose="02020603050405020304" pitchFamily="18" charset="0"/>
                <a:ea typeface="Times New Roman" panose="02020603050405020304" pitchFamily="18" charset="0"/>
              </a:rPr>
              <a:t>Ecosystem_type</a:t>
            </a:r>
            <a:r>
              <a:rPr lang="en-US" sz="1800" dirty="0">
                <a:effectLst/>
                <a:latin typeface="Times New Roman" panose="02020603050405020304" pitchFamily="18" charset="0"/>
                <a:ea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rPr>
              <a:t>Ecosystem_state</a:t>
            </a:r>
            <a:endParaRPr lang="en-US" sz="1800" dirty="0">
              <a:latin typeface="Times New Roman" panose="02020603050405020304" pitchFamily="18" charset="0"/>
              <a:ea typeface="Times New Roman" panose="02020603050405020304" pitchFamily="18" charset="0"/>
            </a:endParaRPr>
          </a:p>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Soil: Soil</a:t>
            </a: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type, soil</a:t>
            </a:r>
            <a:r>
              <a:rPr lang="en-US" sz="1800"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drainage, density etc.</a:t>
            </a:r>
          </a:p>
          <a:p>
            <a:pPr marL="285750" indent="-285750">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Vegetation and carbon features: LAI, total carbon in vegetation at site, basal area at site etc..</a:t>
            </a:r>
            <a:endParaRPr lang="en-US" dirty="0">
              <a:latin typeface="Times New Roman" panose="02020603050405020304" pitchFamily="18" charset="0"/>
            </a:endParaRPr>
          </a:p>
          <a:p>
            <a:endParaRPr lang="en-US" dirty="0"/>
          </a:p>
          <a:p>
            <a:endParaRPr lang="en-US" dirty="0"/>
          </a:p>
          <a:p>
            <a:endParaRPr lang="en-US" dirty="0"/>
          </a:p>
          <a:p>
            <a:endParaRPr lang="en-US" dirty="0"/>
          </a:p>
          <a:p>
            <a:endParaRPr lang="en-US" dirty="0"/>
          </a:p>
          <a:p>
            <a:endParaRPr lang="en-US" dirty="0"/>
          </a:p>
        </p:txBody>
      </p:sp>
      <p:sp>
        <p:nvSpPr>
          <p:cNvPr id="6" name="Text Placeholder 5">
            <a:extLst>
              <a:ext uri="{FF2B5EF4-FFF2-40B4-BE49-F238E27FC236}">
                <a16:creationId xmlns:a16="http://schemas.microsoft.com/office/drawing/2014/main" id="{E7785B9E-966A-DF72-876A-B73EBA282C5D}"/>
              </a:ext>
            </a:extLst>
          </p:cNvPr>
          <p:cNvSpPr>
            <a:spLocks noGrp="1"/>
          </p:cNvSpPr>
          <p:nvPr>
            <p:ph type="body" sz="quarter" idx="22"/>
          </p:nvPr>
        </p:nvSpPr>
        <p:spPr/>
        <p:txBody>
          <a:bodyPr/>
          <a:lstStyle/>
          <a:p>
            <a:r>
              <a:rPr lang="en-US" dirty="0"/>
              <a:t>METHODOLOGY</a:t>
            </a:r>
          </a:p>
        </p:txBody>
      </p:sp>
      <p:sp>
        <p:nvSpPr>
          <p:cNvPr id="7" name="Text Placeholder 6">
            <a:extLst>
              <a:ext uri="{FF2B5EF4-FFF2-40B4-BE49-F238E27FC236}">
                <a16:creationId xmlns:a16="http://schemas.microsoft.com/office/drawing/2014/main" id="{7D0CFA51-D1EC-DC66-0B00-6E9D6269955E}"/>
              </a:ext>
            </a:extLst>
          </p:cNvPr>
          <p:cNvSpPr>
            <a:spLocks noGrp="1"/>
          </p:cNvSpPr>
          <p:nvPr>
            <p:ph type="body" sz="quarter" idx="23"/>
          </p:nvPr>
        </p:nvSpPr>
        <p:spPr>
          <a:xfrm>
            <a:off x="22444218" y="5985147"/>
            <a:ext cx="10086974" cy="4647404"/>
          </a:xfrm>
        </p:spPr>
        <p:txBody>
          <a:bodyPr/>
          <a:lstStyle/>
          <a:p>
            <a:r>
              <a:rPr lang="en-US" sz="3200" b="1" dirty="0">
                <a:latin typeface="Times New Roman" panose="02020603050405020304" pitchFamily="18" charset="0"/>
              </a:rPr>
              <a:t>Model Training</a:t>
            </a:r>
          </a:p>
          <a:p>
            <a:pPr marL="457200" indent="-457200">
              <a:buFont typeface="Wingdings" panose="05000000000000000000" pitchFamily="2" charset="2"/>
              <a:buChar char="v"/>
            </a:pPr>
            <a:endParaRPr lang="en-US" sz="800" b="1" dirty="0">
              <a:latin typeface="Times New Roman" panose="02020603050405020304" pitchFamily="18" charset="0"/>
            </a:endParaRPr>
          </a:p>
          <a:p>
            <a:r>
              <a:rPr lang="en-US" sz="2400" b="1" dirty="0">
                <a:latin typeface="Times New Roman" panose="02020603050405020304" pitchFamily="18" charset="0"/>
              </a:rPr>
              <a:t>Model selection: </a:t>
            </a:r>
          </a:p>
          <a:p>
            <a:pPr marL="342900" indent="-342900">
              <a:buFont typeface="Arial" panose="020B0604020202020204" pitchFamily="34" charset="0"/>
              <a:buChar char="•"/>
            </a:pPr>
            <a:r>
              <a:rPr lang="en-US" sz="2400" dirty="0">
                <a:latin typeface="Times New Roman" panose="02020603050405020304" pitchFamily="18" charset="0"/>
              </a:rPr>
              <a:t>Proposed Model: </a:t>
            </a:r>
            <a:r>
              <a:rPr lang="en-US" sz="2400" dirty="0" err="1">
                <a:latin typeface="Times New Roman" panose="02020603050405020304" pitchFamily="18" charset="0"/>
              </a:rPr>
              <a:t>XGBoost</a:t>
            </a:r>
            <a:endParaRPr lang="en-US" sz="2400" dirty="0">
              <a:latin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rPr>
              <a:t>Baseline Models: Random Forest (RF), Gradient Boosting (GB)</a:t>
            </a:r>
          </a:p>
          <a:p>
            <a:pPr marL="342900" indent="-342900">
              <a:buFont typeface="Arial" panose="020B0604020202020204" pitchFamily="34" charset="0"/>
              <a:buChar char="•"/>
            </a:pPr>
            <a:r>
              <a:rPr lang="en-US" sz="2400" dirty="0">
                <a:latin typeface="Times New Roman" panose="02020603050405020304" pitchFamily="18" charset="0"/>
              </a:rPr>
              <a:t>Model explored: DNN model </a:t>
            </a:r>
          </a:p>
          <a:p>
            <a:r>
              <a:rPr lang="en-US" sz="2400" b="1" dirty="0">
                <a:latin typeface="Times New Roman" panose="02020603050405020304" pitchFamily="18" charset="0"/>
              </a:rPr>
              <a:t>Hyperparameter optimization:</a:t>
            </a:r>
          </a:p>
          <a:p>
            <a:pPr marL="342900" indent="-342900">
              <a:buFont typeface="Arial" panose="020B0604020202020204" pitchFamily="34" charset="0"/>
              <a:buChar char="•"/>
            </a:pPr>
            <a:r>
              <a:rPr lang="en-US" sz="2400" dirty="0" err="1">
                <a:latin typeface="Times New Roman" panose="02020603050405020304" pitchFamily="18" charset="0"/>
              </a:rPr>
              <a:t>GridSearchCV</a:t>
            </a:r>
            <a:r>
              <a:rPr lang="en-US" sz="2400" dirty="0">
                <a:latin typeface="Times New Roman" panose="02020603050405020304" pitchFamily="18" charset="0"/>
              </a:rPr>
              <a:t> with K-fold cross-validation. </a:t>
            </a:r>
          </a:p>
          <a:p>
            <a:pPr marL="342900" indent="-342900">
              <a:buFont typeface="Arial" panose="020B0604020202020204" pitchFamily="34" charset="0"/>
              <a:buChar char="•"/>
            </a:pPr>
            <a:r>
              <a:rPr lang="en-US" sz="2400" dirty="0" err="1">
                <a:latin typeface="Times New Roman" panose="02020603050405020304" pitchFamily="18" charset="0"/>
              </a:rPr>
              <a:t>XGBoost</a:t>
            </a:r>
            <a:r>
              <a:rPr lang="en-US" sz="2400" dirty="0">
                <a:latin typeface="Times New Roman" panose="02020603050405020304" pitchFamily="18" charset="0"/>
              </a:rPr>
              <a:t> parameters: number of estimators, tree depth, and learning rate …</a:t>
            </a:r>
          </a:p>
          <a:p>
            <a:pPr marL="342900" indent="-342900">
              <a:buFont typeface="Arial" panose="020B0604020202020204" pitchFamily="34" charset="0"/>
              <a:buChar char="•"/>
            </a:pPr>
            <a:r>
              <a:rPr lang="en-US" sz="2400" dirty="0">
                <a:latin typeface="Times New Roman" panose="02020603050405020304" pitchFamily="18" charset="0"/>
              </a:rPr>
              <a:t>DNN: neuron counts, learning rate, and batch size…</a:t>
            </a:r>
          </a:p>
        </p:txBody>
      </p:sp>
      <p:sp>
        <p:nvSpPr>
          <p:cNvPr id="8" name="Text Placeholder 7">
            <a:extLst>
              <a:ext uri="{FF2B5EF4-FFF2-40B4-BE49-F238E27FC236}">
                <a16:creationId xmlns:a16="http://schemas.microsoft.com/office/drawing/2014/main" id="{2CAB9DD7-14D3-EF23-EE87-817E86023D65}"/>
              </a:ext>
            </a:extLst>
          </p:cNvPr>
          <p:cNvSpPr>
            <a:spLocks noGrp="1"/>
          </p:cNvSpPr>
          <p:nvPr>
            <p:ph type="body" sz="quarter" idx="24"/>
          </p:nvPr>
        </p:nvSpPr>
        <p:spPr>
          <a:xfrm>
            <a:off x="11145714" y="18525573"/>
            <a:ext cx="21421724" cy="677100"/>
          </a:xfrm>
        </p:spPr>
        <p:txBody>
          <a:bodyPr/>
          <a:lstStyle/>
          <a:p>
            <a:r>
              <a:rPr lang="en-US" dirty="0"/>
              <a:t>RESULTS AND DISCUSSION</a:t>
            </a:r>
          </a:p>
        </p:txBody>
      </p:sp>
      <p:sp>
        <p:nvSpPr>
          <p:cNvPr id="9" name="Text Placeholder 8">
            <a:extLst>
              <a:ext uri="{FF2B5EF4-FFF2-40B4-BE49-F238E27FC236}">
                <a16:creationId xmlns:a16="http://schemas.microsoft.com/office/drawing/2014/main" id="{DAC8A52F-A897-0D36-F185-C3C3C7728E1F}"/>
              </a:ext>
            </a:extLst>
          </p:cNvPr>
          <p:cNvSpPr>
            <a:spLocks noGrp="1"/>
          </p:cNvSpPr>
          <p:nvPr>
            <p:ph type="body" sz="quarter" idx="25"/>
          </p:nvPr>
        </p:nvSpPr>
        <p:spPr/>
        <p:txBody>
          <a:bodyPr/>
          <a:lstStyle/>
          <a:p>
            <a:r>
              <a:rPr lang="en-US" dirty="0"/>
              <a:t>CONCLUSION</a:t>
            </a:r>
          </a:p>
        </p:txBody>
      </p:sp>
      <p:sp>
        <p:nvSpPr>
          <p:cNvPr id="10" name="Text Placeholder 9">
            <a:extLst>
              <a:ext uri="{FF2B5EF4-FFF2-40B4-BE49-F238E27FC236}">
                <a16:creationId xmlns:a16="http://schemas.microsoft.com/office/drawing/2014/main" id="{B9C74C3D-B344-EF09-DDF5-C76EB7DCC370}"/>
              </a:ext>
            </a:extLst>
          </p:cNvPr>
          <p:cNvSpPr>
            <a:spLocks noGrp="1"/>
          </p:cNvSpPr>
          <p:nvPr>
            <p:ph type="body" sz="quarter" idx="26"/>
          </p:nvPr>
        </p:nvSpPr>
        <p:spPr>
          <a:xfrm>
            <a:off x="33185099" y="6021369"/>
            <a:ext cx="10201275" cy="9765728"/>
          </a:xfrm>
        </p:spPr>
        <p:txBody>
          <a:bodyPr/>
          <a:lstStyle/>
          <a:p>
            <a:pPr marL="285750" indent="-285750">
              <a:spcBef>
                <a:spcPts val="600"/>
              </a:spcBef>
              <a:spcAft>
                <a:spcPts val="600"/>
              </a:spcAft>
              <a:buFont typeface="Arial" panose="020B0604020202020204" pitchFamily="34" charset="0"/>
              <a:buChar char="•"/>
            </a:pPr>
            <a:r>
              <a:rPr lang="en-US" sz="2400" dirty="0">
                <a:solidFill>
                  <a:srgbClr val="002060"/>
                </a:solidFill>
                <a:effectLst/>
                <a:latin typeface="Times New Roman" panose="02020603050405020304" pitchFamily="18" charset="0"/>
                <a:ea typeface="Times New Roman" panose="02020603050405020304" pitchFamily="18" charset="0"/>
              </a:rPr>
              <a:t>An innovative ensemble model, </a:t>
            </a:r>
            <a:r>
              <a:rPr lang="en-US" sz="2400" dirty="0" err="1">
                <a:solidFill>
                  <a:srgbClr val="002060"/>
                </a:solidFill>
                <a:effectLst/>
                <a:latin typeface="Times New Roman" panose="02020603050405020304" pitchFamily="18" charset="0"/>
                <a:ea typeface="Times New Roman" panose="02020603050405020304" pitchFamily="18" charset="0"/>
              </a:rPr>
              <a:t>XGBoost</a:t>
            </a:r>
            <a:r>
              <a:rPr lang="en-US" sz="2400" dirty="0">
                <a:solidFill>
                  <a:srgbClr val="002060"/>
                </a:solidFill>
                <a:effectLst/>
                <a:latin typeface="Times New Roman" panose="02020603050405020304" pitchFamily="18" charset="0"/>
                <a:ea typeface="Times New Roman" panose="02020603050405020304" pitchFamily="18" charset="0"/>
              </a:rPr>
              <a:t>, is developed to predict annual Rs from spatial, temporal, climate, and other independent variables. In addition, a DNN model is experimented. The models are evaluated against two baseline models, Random Forest (RF) and Gradient Boosting (GB), which are established as benchmarks in previous studies.</a:t>
            </a:r>
          </a:p>
          <a:p>
            <a:pPr lvl="1">
              <a:spcBef>
                <a:spcPts val="600"/>
              </a:spcBef>
              <a:spcAft>
                <a:spcPts val="600"/>
              </a:spcAft>
              <a:buFont typeface="Wingdings" panose="05000000000000000000" pitchFamily="2" charset="2"/>
              <a:buChar char="§"/>
            </a:pPr>
            <a:r>
              <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2400" dirty="0" err="1">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XGBoost</a:t>
            </a:r>
            <a:r>
              <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model delivers the best performance, achieving a 4% reduction in MAE and RMSE and a 3.7% improvement in R</a:t>
            </a:r>
            <a:r>
              <a:rPr lang="en-US" sz="2400" baseline="300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compared to the Random Forest model, previously identified as the top-performing approach. </a:t>
            </a:r>
          </a:p>
          <a:p>
            <a:pPr lvl="1">
              <a:spcBef>
                <a:spcPts val="600"/>
              </a:spcBef>
              <a:spcAft>
                <a:spcPts val="600"/>
              </a:spcAft>
              <a:buFont typeface="Wingdings" panose="05000000000000000000" pitchFamily="2" charset="2"/>
              <a:buChar char="§"/>
            </a:pPr>
            <a:r>
              <a:rPr lang="en-US" sz="2400" dirty="0">
                <a:solidFill>
                  <a:srgbClr val="002060"/>
                </a:solidFill>
                <a:latin typeface="Times New Roman" panose="02020603050405020304" pitchFamily="18" charset="0"/>
                <a:cs typeface="Times New Roman" panose="02020603050405020304" pitchFamily="18" charset="0"/>
              </a:rPr>
              <a:t>The</a:t>
            </a:r>
            <a:r>
              <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DNN model fails to achieve reasonable results, primarily due to the limited sample size. </a:t>
            </a:r>
          </a:p>
          <a:p>
            <a:pPr marL="342900" indent="-342900">
              <a:spcBef>
                <a:spcPts val="600"/>
              </a:spcBef>
              <a:spcAft>
                <a:spcPts val="600"/>
              </a:spcAft>
              <a:buFont typeface="Arial" panose="020B0604020202020204" pitchFamily="34" charset="0"/>
              <a:buChar char="•"/>
            </a:pPr>
            <a:r>
              <a:rPr lang="en-US" sz="2400" dirty="0">
                <a:solidFill>
                  <a:srgbClr val="002060"/>
                </a:solidFill>
                <a:effectLst/>
                <a:latin typeface="Times New Roman" panose="02020603050405020304" pitchFamily="18" charset="0"/>
                <a:ea typeface="Times New Roman" panose="02020603050405020304" pitchFamily="18" charset="0"/>
              </a:rPr>
              <a:t>SHAP (</a:t>
            </a:r>
            <a:r>
              <a:rPr lang="en-US" sz="2400" dirty="0" err="1">
                <a:solidFill>
                  <a:srgbClr val="002060"/>
                </a:solidFill>
                <a:effectLst/>
                <a:latin typeface="Times New Roman" panose="02020603050405020304" pitchFamily="18" charset="0"/>
                <a:ea typeface="Times New Roman" panose="02020603050405020304" pitchFamily="18" charset="0"/>
              </a:rPr>
              <a:t>SHapley</a:t>
            </a:r>
            <a:r>
              <a:rPr lang="en-US" sz="2400" dirty="0">
                <a:solidFill>
                  <a:srgbClr val="002060"/>
                </a:solidFill>
                <a:effectLst/>
                <a:latin typeface="Times New Roman" panose="02020603050405020304" pitchFamily="18" charset="0"/>
                <a:ea typeface="Times New Roman" panose="02020603050405020304" pitchFamily="18" charset="0"/>
              </a:rPr>
              <a:t> Additive </a:t>
            </a:r>
            <a:r>
              <a:rPr lang="en-US" sz="2400" dirty="0" err="1">
                <a:solidFill>
                  <a:srgbClr val="002060"/>
                </a:solidFill>
                <a:effectLst/>
                <a:latin typeface="Times New Roman" panose="02020603050405020304" pitchFamily="18" charset="0"/>
                <a:ea typeface="Times New Roman" panose="02020603050405020304" pitchFamily="18" charset="0"/>
              </a:rPr>
              <a:t>exPlanations</a:t>
            </a:r>
            <a:r>
              <a:rPr lang="en-US" sz="2400" dirty="0">
                <a:solidFill>
                  <a:srgbClr val="002060"/>
                </a:solidFill>
                <a:effectLst/>
                <a:latin typeface="Times New Roman" panose="02020603050405020304" pitchFamily="18" charset="0"/>
                <a:ea typeface="Times New Roman" panose="02020603050405020304" pitchFamily="18" charset="0"/>
              </a:rPr>
              <a:t>) is employed as a robust method for model explainability, enabling the assessment of feature impacts on predictions both globally and at the individual observation level.</a:t>
            </a:r>
          </a:p>
          <a:p>
            <a:pPr lvl="1">
              <a:spcBef>
                <a:spcPts val="600"/>
              </a:spcBef>
              <a:spcAft>
                <a:spcPts val="600"/>
              </a:spcAft>
              <a:buFont typeface="Wingdings" panose="05000000000000000000" pitchFamily="2" charset="2"/>
              <a:buChar char="§"/>
            </a:pPr>
            <a:r>
              <a:rPr lang="en-US" sz="2400" dirty="0">
                <a:solidFill>
                  <a:srgbClr val="002060"/>
                </a:solidFill>
                <a:latin typeface="Times New Roman" panose="02020603050405020304" pitchFamily="18" charset="0"/>
                <a:cs typeface="Times New Roman" panose="02020603050405020304" pitchFamily="18" charset="0"/>
              </a:rPr>
              <a:t>Results</a:t>
            </a:r>
            <a:r>
              <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reveal that Mean Annual Temperature (MAT) and Mean Annual Precipitation (MAP) are the most influential environmental factors, alongside geographic features such as latitude and longitude, aligning with previous studies. </a:t>
            </a:r>
          </a:p>
          <a:p>
            <a:pPr lvl="1">
              <a:spcBef>
                <a:spcPts val="600"/>
              </a:spcBef>
              <a:spcAft>
                <a:spcPts val="600"/>
              </a:spcAft>
              <a:buFont typeface="Wingdings" panose="05000000000000000000" pitchFamily="2" charset="2"/>
              <a:buChar char="§"/>
            </a:pPr>
            <a:r>
              <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In addition, the four features, Study Year, Soil Type, soil composition related features, Elevation, and Basal Area (BA) also demonstrate high impact on Rs estimates.</a:t>
            </a:r>
          </a:p>
          <a:p>
            <a:endParaRPr lang="en-US" sz="1800"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endParaRPr lang="en-US" dirty="0"/>
          </a:p>
        </p:txBody>
      </p:sp>
      <p:sp>
        <p:nvSpPr>
          <p:cNvPr id="11" name="Text Placeholder 10">
            <a:extLst>
              <a:ext uri="{FF2B5EF4-FFF2-40B4-BE49-F238E27FC236}">
                <a16:creationId xmlns:a16="http://schemas.microsoft.com/office/drawing/2014/main" id="{1B359AF9-C36C-BCF4-17D2-B45B2D04160C}"/>
              </a:ext>
            </a:extLst>
          </p:cNvPr>
          <p:cNvSpPr>
            <a:spLocks noGrp="1"/>
          </p:cNvSpPr>
          <p:nvPr>
            <p:ph type="body" sz="quarter" idx="27"/>
          </p:nvPr>
        </p:nvSpPr>
        <p:spPr>
          <a:xfrm>
            <a:off x="33550359" y="20956860"/>
            <a:ext cx="10201275" cy="677100"/>
          </a:xfrm>
        </p:spPr>
        <p:txBody>
          <a:bodyPr/>
          <a:lstStyle/>
          <a:p>
            <a:r>
              <a:rPr lang="en-US" dirty="0"/>
              <a:t>REFERRENCE</a:t>
            </a:r>
          </a:p>
        </p:txBody>
      </p:sp>
      <p:sp>
        <p:nvSpPr>
          <p:cNvPr id="15" name="Text Placeholder 14">
            <a:extLst>
              <a:ext uri="{FF2B5EF4-FFF2-40B4-BE49-F238E27FC236}">
                <a16:creationId xmlns:a16="http://schemas.microsoft.com/office/drawing/2014/main" id="{796A898C-94D0-522A-42B9-C1F4E2032AEA}"/>
              </a:ext>
            </a:extLst>
          </p:cNvPr>
          <p:cNvSpPr>
            <a:spLocks noGrp="1"/>
          </p:cNvSpPr>
          <p:nvPr>
            <p:ph type="body" sz="quarter" idx="96"/>
          </p:nvPr>
        </p:nvSpPr>
        <p:spPr>
          <a:xfrm>
            <a:off x="411048" y="17749378"/>
            <a:ext cx="9912351" cy="5041358"/>
          </a:xfrm>
        </p:spPr>
        <p:txBody>
          <a:bodyPr/>
          <a:lstStyle/>
          <a:p>
            <a:pPr marL="342900" indent="-342900">
              <a:buFont typeface="Arial" panose="020B0604020202020204" pitchFamily="34" charset="0"/>
              <a:buChar char="•"/>
            </a:pPr>
            <a:r>
              <a:rPr lang="en-US" sz="2400" dirty="0">
                <a:latin typeface="Times New Roman" panose="02020603050405020304" pitchFamily="18" charset="0"/>
              </a:rPr>
              <a:t>Accurately predict CO₂ emissions from soil respiration based on spatial, temporal, climatic, and other observable variables by machine learning models. </a:t>
            </a:r>
          </a:p>
          <a:p>
            <a:endParaRPr lang="en-US" sz="2400" dirty="0">
              <a:latin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rPr>
              <a:t>Provide model explainability to understand the environmental drivers behind soil respiration process.</a:t>
            </a:r>
          </a:p>
          <a:p>
            <a:pPr marL="342900" indent="-342900">
              <a:buFont typeface="Arial" panose="020B0604020202020204" pitchFamily="34" charset="0"/>
              <a:buChar char="•"/>
            </a:pPr>
            <a:endParaRPr lang="en-US" sz="2400" dirty="0"/>
          </a:p>
          <a:p>
            <a:endParaRPr lang="en-US" sz="2400" dirty="0"/>
          </a:p>
          <a:p>
            <a:endParaRPr lang="en-US" sz="2400" dirty="0"/>
          </a:p>
          <a:p>
            <a:endParaRPr lang="en-US" sz="2400" dirty="0"/>
          </a:p>
          <a:p>
            <a:endParaRPr lang="en-US" sz="2400" dirty="0"/>
          </a:p>
        </p:txBody>
      </p:sp>
      <p:sp>
        <p:nvSpPr>
          <p:cNvPr id="16" name="Text Placeholder 15">
            <a:extLst>
              <a:ext uri="{FF2B5EF4-FFF2-40B4-BE49-F238E27FC236}">
                <a16:creationId xmlns:a16="http://schemas.microsoft.com/office/drawing/2014/main" id="{FD873BD2-BC51-D4CF-6227-BD70D8993BCE}"/>
              </a:ext>
            </a:extLst>
          </p:cNvPr>
          <p:cNvSpPr>
            <a:spLocks noGrp="1"/>
          </p:cNvSpPr>
          <p:nvPr>
            <p:ph type="body" sz="quarter" idx="150"/>
          </p:nvPr>
        </p:nvSpPr>
        <p:spPr>
          <a:xfrm>
            <a:off x="11252201" y="2391994"/>
            <a:ext cx="21421724" cy="584775"/>
          </a:xfrm>
        </p:spPr>
        <p:txBody>
          <a:bodyPr/>
          <a:lstStyle/>
          <a:p>
            <a:r>
              <a:rPr lang="en-US" sz="3200" b="1" dirty="0"/>
              <a:t>Vincent Lu</a:t>
            </a:r>
          </a:p>
        </p:txBody>
      </p:sp>
      <p:sp>
        <p:nvSpPr>
          <p:cNvPr id="17" name="Text Placeholder 16">
            <a:extLst>
              <a:ext uri="{FF2B5EF4-FFF2-40B4-BE49-F238E27FC236}">
                <a16:creationId xmlns:a16="http://schemas.microsoft.com/office/drawing/2014/main" id="{3A079DE5-440D-9350-4281-DFC69F4D8AC5}"/>
              </a:ext>
            </a:extLst>
          </p:cNvPr>
          <p:cNvSpPr>
            <a:spLocks noGrp="1"/>
          </p:cNvSpPr>
          <p:nvPr>
            <p:ph type="body" sz="quarter" idx="184"/>
          </p:nvPr>
        </p:nvSpPr>
        <p:spPr>
          <a:xfrm>
            <a:off x="11247438" y="2938329"/>
            <a:ext cx="21421724" cy="646331"/>
          </a:xfrm>
        </p:spPr>
        <p:txBody>
          <a:bodyPr/>
          <a:lstStyle/>
          <a:p>
            <a:r>
              <a:rPr lang="en-US" b="1" dirty="0"/>
              <a:t>Basis Independent Fremont</a:t>
            </a:r>
          </a:p>
        </p:txBody>
      </p:sp>
      <p:sp>
        <p:nvSpPr>
          <p:cNvPr id="18" name="Text Placeholder 17">
            <a:extLst>
              <a:ext uri="{FF2B5EF4-FFF2-40B4-BE49-F238E27FC236}">
                <a16:creationId xmlns:a16="http://schemas.microsoft.com/office/drawing/2014/main" id="{F75C82C1-64D6-BAB4-77A1-5E3EE237B55D}"/>
              </a:ext>
            </a:extLst>
          </p:cNvPr>
          <p:cNvSpPr>
            <a:spLocks noGrp="1"/>
          </p:cNvSpPr>
          <p:nvPr>
            <p:ph type="body" sz="quarter" idx="185"/>
          </p:nvPr>
        </p:nvSpPr>
        <p:spPr>
          <a:xfrm>
            <a:off x="11252201" y="442117"/>
            <a:ext cx="21056202" cy="1920526"/>
          </a:xfrm>
        </p:spPr>
        <p:txBody>
          <a:bodyPr/>
          <a:lstStyle/>
          <a:p>
            <a:r>
              <a:rPr lang="en-US" sz="5400" dirty="0"/>
              <a:t>Exploring Innovative Machine Learning Models for </a:t>
            </a:r>
          </a:p>
          <a:p>
            <a:r>
              <a:rPr lang="en-US" sz="5400" dirty="0"/>
              <a:t>Soil CO</a:t>
            </a:r>
            <a:r>
              <a:rPr lang="en-US" sz="5400" baseline="30000" dirty="0"/>
              <a:t>2</a:t>
            </a:r>
            <a:r>
              <a:rPr lang="en-US" sz="5400" dirty="0"/>
              <a:t> Emission Forecasting</a:t>
            </a:r>
          </a:p>
        </p:txBody>
      </p:sp>
      <p:sp>
        <p:nvSpPr>
          <p:cNvPr id="19" name="Text Placeholder 10">
            <a:extLst>
              <a:ext uri="{FF2B5EF4-FFF2-40B4-BE49-F238E27FC236}">
                <a16:creationId xmlns:a16="http://schemas.microsoft.com/office/drawing/2014/main" id="{4CBBE498-03AC-A497-0597-6DE79EB52488}"/>
              </a:ext>
            </a:extLst>
          </p:cNvPr>
          <p:cNvSpPr txBox="1">
            <a:spLocks/>
          </p:cNvSpPr>
          <p:nvPr/>
        </p:nvSpPr>
        <p:spPr>
          <a:xfrm>
            <a:off x="617173" y="23356346"/>
            <a:ext cx="10106390" cy="677100"/>
          </a:xfrm>
          <a:prstGeom prst="rect">
            <a:avLst/>
          </a:prstGeom>
          <a:solidFill>
            <a:schemeClr val="accent5">
              <a:lumMod val="50000"/>
            </a:schemeClr>
          </a:solidFill>
        </p:spPr>
        <p:txBody>
          <a:bodyPr wrap="square" lIns="91436" tIns="91436" rIns="91436" bIns="91436" anchor="t" anchorCtr="0">
            <a:spAutoFit/>
          </a:bodyPr>
          <a:lstStyle>
            <a:lvl1pPr marL="0" indent="0" algn="ctr" defTabSz="4388900" rtl="0" eaLnBrk="1" latinLnBrk="0" hangingPunct="1">
              <a:spcBef>
                <a:spcPct val="20000"/>
              </a:spcBef>
              <a:buFont typeface="Arial" pitchFamily="34" charset="0"/>
              <a:buNone/>
              <a:defRPr sz="3200" b="1" u="none" kern="1200" baseline="0">
                <a:solidFill>
                  <a:schemeClr val="bg1"/>
                </a:solidFill>
                <a:latin typeface="Century Gothic" panose="020B0502020202020204" pitchFamily="34"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t>DATA COLLECTION AND PREPROCESSING</a:t>
            </a:r>
          </a:p>
        </p:txBody>
      </p:sp>
      <p:sp>
        <p:nvSpPr>
          <p:cNvPr id="22" name="Text Placeholder 14">
            <a:extLst>
              <a:ext uri="{FF2B5EF4-FFF2-40B4-BE49-F238E27FC236}">
                <a16:creationId xmlns:a16="http://schemas.microsoft.com/office/drawing/2014/main" id="{30227C90-24A5-95FD-F2BA-EF94A2FAFE7B}"/>
              </a:ext>
            </a:extLst>
          </p:cNvPr>
          <p:cNvSpPr txBox="1">
            <a:spLocks/>
          </p:cNvSpPr>
          <p:nvPr/>
        </p:nvSpPr>
        <p:spPr>
          <a:xfrm>
            <a:off x="753698" y="24432549"/>
            <a:ext cx="9928225" cy="6377108"/>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fr-FR" sz="2400" b="1" dirty="0">
                <a:latin typeface="Times New Roman" panose="02020603050405020304" pitchFamily="18" charset="0"/>
              </a:rPr>
              <a:t>Data source</a:t>
            </a:r>
          </a:p>
          <a:p>
            <a:endParaRPr lang="fr-FR" sz="2400" b="1" dirty="0">
              <a:latin typeface="Times New Roman" panose="02020603050405020304" pitchFamily="18" charset="0"/>
            </a:endParaRPr>
          </a:p>
          <a:p>
            <a:r>
              <a:rPr lang="fr-FR" sz="2400" dirty="0">
                <a:latin typeface="Times New Roman" panose="02020603050405020304" pitchFamily="18" charset="0"/>
              </a:rPr>
              <a:t>All data </a:t>
            </a:r>
            <a:r>
              <a:rPr lang="fr-FR" sz="2400" dirty="0" err="1">
                <a:latin typeface="Times New Roman" panose="02020603050405020304" pitchFamily="18" charset="0"/>
              </a:rPr>
              <a:t>is</a:t>
            </a:r>
            <a:r>
              <a:rPr lang="fr-FR" sz="2400" dirty="0">
                <a:latin typeface="Times New Roman" panose="02020603050405020304" pitchFamily="18" charset="0"/>
              </a:rPr>
              <a:t> </a:t>
            </a:r>
            <a:r>
              <a:rPr lang="fr-FR" sz="2400" dirty="0" err="1">
                <a:latin typeface="Times New Roman" panose="02020603050405020304" pitchFamily="18" charset="0"/>
              </a:rPr>
              <a:t>taken</a:t>
            </a:r>
            <a:r>
              <a:rPr lang="fr-FR" sz="2400" dirty="0">
                <a:latin typeface="Times New Roman" panose="02020603050405020304" pitchFamily="18" charset="0"/>
              </a:rPr>
              <a:t> </a:t>
            </a:r>
            <a:r>
              <a:rPr lang="fr-FR" sz="2400" dirty="0" err="1">
                <a:latin typeface="Times New Roman" panose="02020603050405020304" pitchFamily="18" charset="0"/>
              </a:rPr>
              <a:t>from</a:t>
            </a:r>
            <a:r>
              <a:rPr lang="fr-FR" sz="2400" dirty="0">
                <a:latin typeface="Times New Roman" panose="02020603050405020304" pitchFamily="18" charset="0"/>
              </a:rPr>
              <a:t> </a:t>
            </a:r>
            <a:r>
              <a:rPr lang="fr-FR" sz="2400" dirty="0" err="1">
                <a:latin typeface="Times New Roman" panose="02020603050405020304" pitchFamily="18" charset="0"/>
              </a:rPr>
              <a:t>Soil</a:t>
            </a:r>
            <a:r>
              <a:rPr lang="fr-FR" sz="2400" dirty="0">
                <a:latin typeface="Times New Roman" panose="02020603050405020304" pitchFamily="18" charset="0"/>
              </a:rPr>
              <a:t> Respiration </a:t>
            </a:r>
            <a:r>
              <a:rPr lang="fr-FR" sz="2400" dirty="0" err="1">
                <a:latin typeface="Times New Roman" panose="02020603050405020304" pitchFamily="18" charset="0"/>
              </a:rPr>
              <a:t>Database</a:t>
            </a:r>
            <a:r>
              <a:rPr lang="fr-FR" sz="2400" dirty="0">
                <a:latin typeface="Times New Roman" panose="02020603050405020304" pitchFamily="18" charset="0"/>
              </a:rPr>
              <a:t> Version 5 </a:t>
            </a:r>
          </a:p>
          <a:p>
            <a:r>
              <a:rPr lang="fr-FR" sz="2400" b="1" dirty="0">
                <a:latin typeface="Times New Roman" panose="02020603050405020304" pitchFamily="18" charset="0"/>
              </a:rPr>
              <a:t>(SRDB-V5)</a:t>
            </a:r>
            <a:r>
              <a:rPr lang="fr-FR" sz="2400" dirty="0">
                <a:latin typeface="Times New Roman" panose="02020603050405020304" pitchFamily="18" charset="0"/>
              </a:rPr>
              <a:t>,</a:t>
            </a:r>
            <a:r>
              <a:rPr lang="fr-FR" sz="2400" b="1" dirty="0">
                <a:latin typeface="Times New Roman" panose="02020603050405020304" pitchFamily="18" charset="0"/>
              </a:rPr>
              <a:t> </a:t>
            </a:r>
            <a:r>
              <a:rPr lang="en-US" sz="2400" dirty="0">
                <a:latin typeface="Times New Roman" panose="02020603050405020304" pitchFamily="18" charset="0"/>
              </a:rPr>
              <a:t>a comprehensive global archive of published research data on soil respiration.</a:t>
            </a:r>
          </a:p>
          <a:p>
            <a:pPr marL="342900" indent="-342900">
              <a:buFont typeface="Arial" panose="020B0604020202020204" pitchFamily="34" charset="0"/>
              <a:buChar char="•"/>
            </a:pPr>
            <a:endParaRPr lang="en-US" sz="2400" dirty="0">
              <a:latin typeface="Times New Roman" panose="02020603050405020304" pitchFamily="18" charset="0"/>
            </a:endParaRPr>
          </a:p>
          <a:p>
            <a:r>
              <a:rPr lang="en-US" sz="2400" b="1" dirty="0">
                <a:latin typeface="Times New Roman" panose="02020603050405020304" pitchFamily="18" charset="0"/>
              </a:rPr>
              <a:t>Data cleaning and preprocessing</a:t>
            </a:r>
          </a:p>
          <a:p>
            <a:pPr marL="342900" indent="-342900">
              <a:spcAft>
                <a:spcPts val="600"/>
              </a:spcAft>
              <a:buFont typeface="Arial" panose="020B0604020202020204" pitchFamily="34" charset="0"/>
              <a:buChar char="•"/>
            </a:pPr>
            <a:r>
              <a:rPr lang="en-US" sz="2400" dirty="0">
                <a:solidFill>
                  <a:schemeClr val="accent5">
                    <a:lumMod val="50000"/>
                  </a:schemeClr>
                </a:solidFill>
                <a:latin typeface="Times New Roman" panose="02020603050405020304" pitchFamily="18" charset="0"/>
              </a:rPr>
              <a:t>Records with entries flagged in the </a:t>
            </a:r>
            <a:r>
              <a:rPr lang="en-US" sz="2400" dirty="0" err="1">
                <a:solidFill>
                  <a:schemeClr val="accent5">
                    <a:lumMod val="50000"/>
                  </a:schemeClr>
                </a:solidFill>
                <a:latin typeface="Times New Roman" panose="02020603050405020304" pitchFamily="18" charset="0"/>
              </a:rPr>
              <a:t>Quality_flag</a:t>
            </a:r>
            <a:r>
              <a:rPr lang="en-US" sz="2400" dirty="0">
                <a:solidFill>
                  <a:schemeClr val="accent5">
                    <a:lumMod val="50000"/>
                  </a:schemeClr>
                </a:solidFill>
                <a:latin typeface="Times New Roman" panose="02020603050405020304" pitchFamily="18" charset="0"/>
              </a:rPr>
              <a:t> field were excluded from the analysis.</a:t>
            </a:r>
          </a:p>
          <a:p>
            <a:pPr marL="342900" indent="-342900">
              <a:spcAft>
                <a:spcPts val="600"/>
              </a:spcAft>
              <a:buFont typeface="Arial" panose="020B0604020202020204" pitchFamily="34" charset="0"/>
              <a:buChar char="•"/>
            </a:pPr>
            <a:r>
              <a:rPr lang="en-US" sz="2400" dirty="0">
                <a:solidFill>
                  <a:schemeClr val="accent5">
                    <a:lumMod val="50000"/>
                  </a:schemeClr>
                </a:solidFill>
                <a:latin typeface="Times New Roman" panose="02020603050405020304" pitchFamily="18" charset="0"/>
              </a:rPr>
              <a:t>Extreme outliers, with </a:t>
            </a:r>
            <a:r>
              <a:rPr lang="en-US" sz="2400" dirty="0" err="1">
                <a:solidFill>
                  <a:schemeClr val="accent5">
                    <a:lumMod val="50000"/>
                  </a:schemeClr>
                </a:solidFill>
                <a:latin typeface="Times New Roman" panose="02020603050405020304" pitchFamily="18" charset="0"/>
              </a:rPr>
              <a:t>Rs_annual</a:t>
            </a:r>
            <a:r>
              <a:rPr lang="en-US" sz="2400" dirty="0">
                <a:solidFill>
                  <a:schemeClr val="accent5">
                    <a:lumMod val="50000"/>
                  </a:schemeClr>
                </a:solidFill>
                <a:latin typeface="Times New Roman" panose="02020603050405020304" pitchFamily="18" charset="0"/>
              </a:rPr>
              <a:t> values above 5000 gCm⁻², were also removed; this corresponded to 22 records from a total of 12,272 entries (less than 0.2%). </a:t>
            </a:r>
          </a:p>
          <a:p>
            <a:pPr marL="342900" indent="-342900">
              <a:spcAft>
                <a:spcPts val="600"/>
              </a:spcAft>
              <a:buFont typeface="Arial" panose="020B0604020202020204" pitchFamily="34" charset="0"/>
              <a:buChar char="•"/>
            </a:pPr>
            <a:r>
              <a:rPr lang="en-US" sz="2400" dirty="0">
                <a:solidFill>
                  <a:schemeClr val="accent5">
                    <a:lumMod val="50000"/>
                  </a:schemeClr>
                </a:solidFill>
                <a:latin typeface="Times New Roman" panose="02020603050405020304" pitchFamily="18" charset="0"/>
              </a:rPr>
              <a:t>Missing values for the independent variables were replaced by the median value of each respective feature.</a:t>
            </a:r>
            <a:endParaRPr lang="en-US" dirty="0"/>
          </a:p>
        </p:txBody>
      </p:sp>
      <p:pic>
        <p:nvPicPr>
          <p:cNvPr id="28" name="Picture 27" descr="A screenshot of a computer screen&#10;&#10;Description automatically generated">
            <a:extLst>
              <a:ext uri="{FF2B5EF4-FFF2-40B4-BE49-F238E27FC236}">
                <a16:creationId xmlns:a16="http://schemas.microsoft.com/office/drawing/2014/main" id="{AF1BA2B1-B32E-5341-0FBD-12956BA2D543}"/>
              </a:ext>
            </a:extLst>
          </p:cNvPr>
          <p:cNvPicPr>
            <a:picLocks noChangeAspect="1"/>
          </p:cNvPicPr>
          <p:nvPr/>
        </p:nvPicPr>
        <p:blipFill>
          <a:blip r:embed="rId2"/>
          <a:stretch>
            <a:fillRect/>
          </a:stretch>
        </p:blipFill>
        <p:spPr>
          <a:xfrm>
            <a:off x="23589488" y="10723329"/>
            <a:ext cx="6218250" cy="3277469"/>
          </a:xfrm>
          <a:prstGeom prst="rect">
            <a:avLst/>
          </a:prstGeom>
        </p:spPr>
      </p:pic>
      <p:sp>
        <p:nvSpPr>
          <p:cNvPr id="29" name="Text Placeholder 9">
            <a:extLst>
              <a:ext uri="{FF2B5EF4-FFF2-40B4-BE49-F238E27FC236}">
                <a16:creationId xmlns:a16="http://schemas.microsoft.com/office/drawing/2014/main" id="{AB7EC2BA-A885-E884-BBAD-66FE127145A7}"/>
              </a:ext>
            </a:extLst>
          </p:cNvPr>
          <p:cNvSpPr txBox="1">
            <a:spLocks/>
          </p:cNvSpPr>
          <p:nvPr/>
        </p:nvSpPr>
        <p:spPr>
          <a:xfrm>
            <a:off x="22668036" y="13919336"/>
            <a:ext cx="10001126" cy="1107973"/>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1800" dirty="0">
                <a:latin typeface="Times New Roman" panose="02020603050405020304" pitchFamily="18" charset="0"/>
                <a:ea typeface="Times New Roman" panose="02020603050405020304" pitchFamily="18" charset="0"/>
              </a:rPr>
              <a:t>Fig. 1. illustrates the model training with hyperparameter optimization and model evaluation process.</a:t>
            </a:r>
            <a:endParaRPr lang="en-US" sz="1800" dirty="0">
              <a:latin typeface="Times New Roman" panose="02020603050405020304" pitchFamily="18" charset="0"/>
              <a:ea typeface="SimSun" panose="02010600030101010101" pitchFamily="2" charset="-122"/>
            </a:endParaRPr>
          </a:p>
          <a:p>
            <a:endParaRPr lang="en-US" dirty="0"/>
          </a:p>
        </p:txBody>
      </p:sp>
      <p:sp>
        <p:nvSpPr>
          <p:cNvPr id="30" name="Text Placeholder 6">
            <a:extLst>
              <a:ext uri="{FF2B5EF4-FFF2-40B4-BE49-F238E27FC236}">
                <a16:creationId xmlns:a16="http://schemas.microsoft.com/office/drawing/2014/main" id="{A20AA8DC-D118-9C59-1A84-F35859FA94C5}"/>
              </a:ext>
            </a:extLst>
          </p:cNvPr>
          <p:cNvSpPr txBox="1">
            <a:spLocks/>
          </p:cNvSpPr>
          <p:nvPr/>
        </p:nvSpPr>
        <p:spPr>
          <a:xfrm>
            <a:off x="11041059" y="19296701"/>
            <a:ext cx="21421724" cy="954085"/>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200" b="1" dirty="0">
                <a:latin typeface="Times New Roman" panose="02020603050405020304" pitchFamily="18" charset="0"/>
              </a:rPr>
              <a:t>Performance </a:t>
            </a:r>
          </a:p>
        </p:txBody>
      </p:sp>
      <p:sp>
        <p:nvSpPr>
          <p:cNvPr id="33" name="Text Placeholder 6">
            <a:extLst>
              <a:ext uri="{FF2B5EF4-FFF2-40B4-BE49-F238E27FC236}">
                <a16:creationId xmlns:a16="http://schemas.microsoft.com/office/drawing/2014/main" id="{477BE209-7736-F032-4D5D-C61881DDB6C4}"/>
              </a:ext>
            </a:extLst>
          </p:cNvPr>
          <p:cNvSpPr txBox="1">
            <a:spLocks/>
          </p:cNvSpPr>
          <p:nvPr/>
        </p:nvSpPr>
        <p:spPr>
          <a:xfrm>
            <a:off x="22184880" y="14588540"/>
            <a:ext cx="11000220" cy="3908740"/>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200" b="1" dirty="0">
                <a:latin typeface="Times New Roman" panose="02020603050405020304" pitchFamily="18" charset="0"/>
              </a:rPr>
              <a:t>Model Evaluation Metrics</a:t>
            </a:r>
          </a:p>
          <a:p>
            <a:endParaRPr lang="en-US" sz="800" b="1" dirty="0">
              <a:latin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rPr>
              <a:t>Mean Absolute Error (MAE):</a:t>
            </a:r>
            <a:r>
              <a:rPr lang="en-US" sz="2400" dirty="0">
                <a:latin typeface="Times New Roman" panose="02020603050405020304" pitchFamily="18" charset="0"/>
              </a:rPr>
              <a:t> Average absolute difference between predicted and real observed values</a:t>
            </a:r>
          </a:p>
          <a:p>
            <a:pPr marL="342900" indent="-342900">
              <a:buFont typeface="Arial" panose="020B0604020202020204" pitchFamily="34" charset="0"/>
              <a:buChar char="•"/>
            </a:pPr>
            <a:r>
              <a:rPr lang="en-US" sz="2400" b="1" dirty="0">
                <a:latin typeface="Times New Roman" panose="02020603050405020304" pitchFamily="18" charset="0"/>
              </a:rPr>
              <a:t>Root Mean Squared Error (RMSE): S</a:t>
            </a:r>
            <a:r>
              <a:rPr lang="en-US" sz="2400" dirty="0">
                <a:latin typeface="Times New Roman" panose="02020603050405020304" pitchFamily="18" charset="0"/>
              </a:rPr>
              <a:t>quare root of the mean of the squared differences between the predicted and actual values. </a:t>
            </a:r>
          </a:p>
          <a:p>
            <a:pPr marL="342900" indent="-342900">
              <a:buFont typeface="Arial" panose="020B0604020202020204" pitchFamily="34" charset="0"/>
              <a:buChar char="•"/>
            </a:pPr>
            <a:r>
              <a:rPr lang="en-US" sz="2400" b="1" dirty="0">
                <a:latin typeface="Times New Roman" panose="02020603050405020304" pitchFamily="18" charset="0"/>
              </a:rPr>
              <a:t>Coefficient of Determination (R²):</a:t>
            </a:r>
            <a:r>
              <a:rPr lang="en-US" sz="2400" dirty="0">
                <a:latin typeface="Times New Roman" panose="02020603050405020304" pitchFamily="18" charset="0"/>
              </a:rPr>
              <a:t>  The amount of variance in the dependent variable that can be explained by the independent variables in the regression model. </a:t>
            </a:r>
            <a:endParaRPr lang="en-US" sz="2400" b="1" dirty="0">
              <a:latin typeface="Times New Roman" panose="02020603050405020304" pitchFamily="18" charset="0"/>
            </a:endParaRPr>
          </a:p>
        </p:txBody>
      </p:sp>
      <p:sp>
        <p:nvSpPr>
          <p:cNvPr id="34" name="Text Placeholder 6">
            <a:extLst>
              <a:ext uri="{FF2B5EF4-FFF2-40B4-BE49-F238E27FC236}">
                <a16:creationId xmlns:a16="http://schemas.microsoft.com/office/drawing/2014/main" id="{72E51279-8206-103D-1258-3F68B5DFDB5B}"/>
              </a:ext>
            </a:extLst>
          </p:cNvPr>
          <p:cNvSpPr txBox="1">
            <a:spLocks/>
          </p:cNvSpPr>
          <p:nvPr/>
        </p:nvSpPr>
        <p:spPr>
          <a:xfrm>
            <a:off x="11034209" y="24246601"/>
            <a:ext cx="10086974" cy="954085"/>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sz="3200" b="1" dirty="0">
                <a:latin typeface="Times New Roman" panose="02020603050405020304" pitchFamily="18" charset="0"/>
              </a:rPr>
              <a:t>Model Explainability</a:t>
            </a:r>
          </a:p>
        </p:txBody>
      </p:sp>
      <p:pic>
        <p:nvPicPr>
          <p:cNvPr id="37" name="Picture 36">
            <a:extLst>
              <a:ext uri="{FF2B5EF4-FFF2-40B4-BE49-F238E27FC236}">
                <a16:creationId xmlns:a16="http://schemas.microsoft.com/office/drawing/2014/main" id="{AFA3086E-F2F0-7FC3-2305-C671005571B8}"/>
              </a:ext>
            </a:extLst>
          </p:cNvPr>
          <p:cNvPicPr>
            <a:picLocks noChangeAspect="1"/>
          </p:cNvPicPr>
          <p:nvPr/>
        </p:nvPicPr>
        <p:blipFill>
          <a:blip r:embed="rId3"/>
          <a:stretch>
            <a:fillRect/>
          </a:stretch>
        </p:blipFill>
        <p:spPr>
          <a:xfrm>
            <a:off x="11176787" y="20035461"/>
            <a:ext cx="6052493" cy="1651461"/>
          </a:xfrm>
          <a:prstGeom prst="rect">
            <a:avLst/>
          </a:prstGeom>
        </p:spPr>
      </p:pic>
      <p:sp>
        <p:nvSpPr>
          <p:cNvPr id="38" name="Text Placeholder 6">
            <a:extLst>
              <a:ext uri="{FF2B5EF4-FFF2-40B4-BE49-F238E27FC236}">
                <a16:creationId xmlns:a16="http://schemas.microsoft.com/office/drawing/2014/main" id="{0CFC37A1-430A-5DAE-AF8B-BF25679C799E}"/>
              </a:ext>
            </a:extLst>
          </p:cNvPr>
          <p:cNvSpPr txBox="1">
            <a:spLocks/>
          </p:cNvSpPr>
          <p:nvPr/>
        </p:nvSpPr>
        <p:spPr>
          <a:xfrm>
            <a:off x="11145714" y="21769518"/>
            <a:ext cx="7492312" cy="2609923"/>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spcAft>
                <a:spcPts val="600"/>
              </a:spcAft>
            </a:pPr>
            <a:r>
              <a:rPr lang="en-US" sz="2400" dirty="0" err="1">
                <a:latin typeface="Times New Roman" panose="02020603050405020304" pitchFamily="18" charset="0"/>
              </a:rPr>
              <a:t>XGBoost</a:t>
            </a:r>
            <a:r>
              <a:rPr lang="en-US" sz="2400" dirty="0">
                <a:latin typeface="Times New Roman" panose="02020603050405020304" pitchFamily="18" charset="0"/>
              </a:rPr>
              <a:t> model has the best performance in terms of predictive accuracy and error reduction compared with the other three models: </a:t>
            </a:r>
          </a:p>
          <a:p>
            <a:pPr marL="342900" indent="-342900">
              <a:spcAft>
                <a:spcPts val="600"/>
              </a:spcAft>
              <a:buFont typeface="Arial" panose="020B0604020202020204" pitchFamily="34" charset="0"/>
              <a:buChar char="•"/>
            </a:pPr>
            <a:r>
              <a:rPr lang="en-US" sz="2400" dirty="0">
                <a:latin typeface="Times New Roman" panose="02020603050405020304" pitchFamily="18" charset="0"/>
              </a:rPr>
              <a:t>Lowest MAE and RMSE</a:t>
            </a:r>
          </a:p>
          <a:p>
            <a:pPr marL="342900" indent="-342900">
              <a:spcAft>
                <a:spcPts val="600"/>
              </a:spcAft>
              <a:buFont typeface="Arial" panose="020B0604020202020204" pitchFamily="34" charset="0"/>
              <a:buChar char="•"/>
            </a:pPr>
            <a:r>
              <a:rPr lang="en-US" sz="2400" dirty="0">
                <a:latin typeface="Times New Roman" panose="02020603050405020304" pitchFamily="18" charset="0"/>
              </a:rPr>
              <a:t>Highest R2</a:t>
            </a:r>
          </a:p>
        </p:txBody>
      </p:sp>
      <p:pic>
        <p:nvPicPr>
          <p:cNvPr id="40" name="image8.png" descr="A graph with blue squares&#10;&#10;Description automatically generated">
            <a:extLst>
              <a:ext uri="{FF2B5EF4-FFF2-40B4-BE49-F238E27FC236}">
                <a16:creationId xmlns:a16="http://schemas.microsoft.com/office/drawing/2014/main" id="{4C58611B-C325-ED08-0814-D23696778FEC}"/>
              </a:ext>
            </a:extLst>
          </p:cNvPr>
          <p:cNvPicPr/>
          <p:nvPr/>
        </p:nvPicPr>
        <p:blipFill>
          <a:blip r:embed="rId4"/>
          <a:srcRect/>
          <a:stretch>
            <a:fillRect/>
          </a:stretch>
        </p:blipFill>
        <p:spPr>
          <a:xfrm>
            <a:off x="19362549" y="19340249"/>
            <a:ext cx="6688056" cy="3770369"/>
          </a:xfrm>
          <a:prstGeom prst="rect">
            <a:avLst/>
          </a:prstGeom>
          <a:ln/>
        </p:spPr>
      </p:pic>
      <p:pic>
        <p:nvPicPr>
          <p:cNvPr id="41" name="image10.png" descr="A graph of different colored lines&#10;&#10;Description automatically generated with medium confidence">
            <a:extLst>
              <a:ext uri="{FF2B5EF4-FFF2-40B4-BE49-F238E27FC236}">
                <a16:creationId xmlns:a16="http://schemas.microsoft.com/office/drawing/2014/main" id="{2FBF5FB8-8C95-7A7B-CED0-0F00E5435108}"/>
              </a:ext>
            </a:extLst>
          </p:cNvPr>
          <p:cNvPicPr/>
          <p:nvPr/>
        </p:nvPicPr>
        <p:blipFill>
          <a:blip r:embed="rId5"/>
          <a:srcRect/>
          <a:stretch>
            <a:fillRect/>
          </a:stretch>
        </p:blipFill>
        <p:spPr>
          <a:xfrm>
            <a:off x="26708431" y="19391777"/>
            <a:ext cx="4409413" cy="3563480"/>
          </a:xfrm>
          <a:prstGeom prst="rect">
            <a:avLst/>
          </a:prstGeom>
          <a:ln/>
        </p:spPr>
      </p:pic>
      <p:pic>
        <p:nvPicPr>
          <p:cNvPr id="42" name="image9.png" descr="A blue dotted graph with white text&#10;&#10;Description automatically generated">
            <a:extLst>
              <a:ext uri="{FF2B5EF4-FFF2-40B4-BE49-F238E27FC236}">
                <a16:creationId xmlns:a16="http://schemas.microsoft.com/office/drawing/2014/main" id="{BA62DF41-EC5E-E1B4-B318-BF9D0BC317A4}"/>
              </a:ext>
            </a:extLst>
          </p:cNvPr>
          <p:cNvPicPr/>
          <p:nvPr/>
        </p:nvPicPr>
        <p:blipFill>
          <a:blip r:embed="rId6"/>
          <a:srcRect/>
          <a:stretch>
            <a:fillRect/>
          </a:stretch>
        </p:blipFill>
        <p:spPr>
          <a:xfrm>
            <a:off x="19734826" y="24691172"/>
            <a:ext cx="3729472" cy="3145860"/>
          </a:xfrm>
          <a:prstGeom prst="rect">
            <a:avLst/>
          </a:prstGeom>
          <a:ln/>
        </p:spPr>
      </p:pic>
      <p:pic>
        <p:nvPicPr>
          <p:cNvPr id="43" name="image1.png" descr="A graph with blue dots&#10;&#10;Description automatically generated">
            <a:extLst>
              <a:ext uri="{FF2B5EF4-FFF2-40B4-BE49-F238E27FC236}">
                <a16:creationId xmlns:a16="http://schemas.microsoft.com/office/drawing/2014/main" id="{2F81351D-8DCD-322A-B5A3-460854D091C5}"/>
              </a:ext>
            </a:extLst>
          </p:cNvPr>
          <p:cNvPicPr/>
          <p:nvPr/>
        </p:nvPicPr>
        <p:blipFill>
          <a:blip r:embed="rId7"/>
          <a:srcRect/>
          <a:stretch>
            <a:fillRect/>
          </a:stretch>
        </p:blipFill>
        <p:spPr>
          <a:xfrm>
            <a:off x="27750051" y="24609111"/>
            <a:ext cx="3163251" cy="3059051"/>
          </a:xfrm>
          <a:prstGeom prst="rect">
            <a:avLst/>
          </a:prstGeom>
          <a:ln/>
        </p:spPr>
      </p:pic>
      <p:pic>
        <p:nvPicPr>
          <p:cNvPr id="44" name="image6.png">
            <a:extLst>
              <a:ext uri="{FF2B5EF4-FFF2-40B4-BE49-F238E27FC236}">
                <a16:creationId xmlns:a16="http://schemas.microsoft.com/office/drawing/2014/main" id="{29E3BCE4-BB52-8971-CA68-1B93D5E7DADB}"/>
              </a:ext>
            </a:extLst>
          </p:cNvPr>
          <p:cNvPicPr/>
          <p:nvPr/>
        </p:nvPicPr>
        <p:blipFill>
          <a:blip r:embed="rId8"/>
          <a:srcRect/>
          <a:stretch>
            <a:fillRect/>
          </a:stretch>
        </p:blipFill>
        <p:spPr>
          <a:xfrm>
            <a:off x="27871777" y="28268879"/>
            <a:ext cx="3593406" cy="3022520"/>
          </a:xfrm>
          <a:prstGeom prst="rect">
            <a:avLst/>
          </a:prstGeom>
          <a:ln/>
        </p:spPr>
      </p:pic>
      <p:pic>
        <p:nvPicPr>
          <p:cNvPr id="45" name="image3.png" descr="A graph with different colored dots&#10;&#10;Description automatically generated">
            <a:extLst>
              <a:ext uri="{FF2B5EF4-FFF2-40B4-BE49-F238E27FC236}">
                <a16:creationId xmlns:a16="http://schemas.microsoft.com/office/drawing/2014/main" id="{E188066A-87E5-8816-DC45-C51E94B6C7D0}"/>
              </a:ext>
            </a:extLst>
          </p:cNvPr>
          <p:cNvPicPr/>
          <p:nvPr/>
        </p:nvPicPr>
        <p:blipFill>
          <a:blip r:embed="rId9"/>
          <a:srcRect/>
          <a:stretch>
            <a:fillRect/>
          </a:stretch>
        </p:blipFill>
        <p:spPr>
          <a:xfrm>
            <a:off x="19804105" y="28484885"/>
            <a:ext cx="3952393" cy="2590508"/>
          </a:xfrm>
          <a:prstGeom prst="rect">
            <a:avLst/>
          </a:prstGeom>
          <a:ln/>
        </p:spPr>
      </p:pic>
      <p:pic>
        <p:nvPicPr>
          <p:cNvPr id="46" name="image4.png" descr="A blue and white background with text&#10;&#10;Description automatically generated with medium confidence">
            <a:extLst>
              <a:ext uri="{FF2B5EF4-FFF2-40B4-BE49-F238E27FC236}">
                <a16:creationId xmlns:a16="http://schemas.microsoft.com/office/drawing/2014/main" id="{3C68324A-2518-494F-5E59-7BE791E968B9}"/>
              </a:ext>
            </a:extLst>
          </p:cNvPr>
          <p:cNvPicPr/>
          <p:nvPr/>
        </p:nvPicPr>
        <p:blipFill>
          <a:blip r:embed="rId10"/>
          <a:srcRect/>
          <a:stretch>
            <a:fillRect/>
          </a:stretch>
        </p:blipFill>
        <p:spPr>
          <a:xfrm>
            <a:off x="11629407" y="29359850"/>
            <a:ext cx="5652777" cy="1762110"/>
          </a:xfrm>
          <a:prstGeom prst="rect">
            <a:avLst/>
          </a:prstGeom>
          <a:ln/>
        </p:spPr>
      </p:pic>
      <p:sp>
        <p:nvSpPr>
          <p:cNvPr id="47" name="Text Placeholder 6">
            <a:extLst>
              <a:ext uri="{FF2B5EF4-FFF2-40B4-BE49-F238E27FC236}">
                <a16:creationId xmlns:a16="http://schemas.microsoft.com/office/drawing/2014/main" id="{8E4BD167-A75E-2576-A089-4E228E4E0A0D}"/>
              </a:ext>
            </a:extLst>
          </p:cNvPr>
          <p:cNvSpPr txBox="1">
            <a:spLocks/>
          </p:cNvSpPr>
          <p:nvPr/>
        </p:nvSpPr>
        <p:spPr>
          <a:xfrm>
            <a:off x="11060215" y="24861463"/>
            <a:ext cx="8121439" cy="5272190"/>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spcAft>
                <a:spcPts val="600"/>
              </a:spcAft>
            </a:pPr>
            <a:r>
              <a:rPr lang="en-US" sz="2400" dirty="0">
                <a:latin typeface="Times New Roman" panose="02020603050405020304" pitchFamily="18" charset="0"/>
              </a:rPr>
              <a:t>Machine learning methods are mostly seen as "black boxes."  To overcome this, </a:t>
            </a:r>
            <a:r>
              <a:rPr lang="en-US" sz="2400" b="1" dirty="0">
                <a:latin typeface="Times New Roman" panose="02020603050405020304" pitchFamily="18" charset="0"/>
              </a:rPr>
              <a:t>SHAP</a:t>
            </a:r>
            <a:r>
              <a:rPr lang="en-US" sz="2400" dirty="0">
                <a:latin typeface="Times New Roman" panose="02020603050405020304" pitchFamily="18" charset="0"/>
              </a:rPr>
              <a:t> is applied together with the </a:t>
            </a:r>
            <a:r>
              <a:rPr lang="en-US" sz="2400" dirty="0" err="1">
                <a:latin typeface="Times New Roman" panose="02020603050405020304" pitchFamily="18" charset="0"/>
              </a:rPr>
              <a:t>XGBoost</a:t>
            </a:r>
            <a:r>
              <a:rPr lang="en-US" sz="2400" dirty="0">
                <a:latin typeface="Times New Roman" panose="02020603050405020304" pitchFamily="18" charset="0"/>
              </a:rPr>
              <a:t> model to analyze feature importance, feature distribution, partial dependence, and the interactions between different features. A SHAP value quantifies how much each feature contributes to a model’s prediction for a specific instance, compared to the average prediction. </a:t>
            </a:r>
          </a:p>
          <a:p>
            <a:pPr marL="342900" indent="-342900">
              <a:spcAft>
                <a:spcPts val="600"/>
              </a:spcAft>
              <a:buFont typeface="Arial" panose="020B0604020202020204" pitchFamily="34" charset="0"/>
              <a:buChar char="•"/>
            </a:pPr>
            <a:r>
              <a:rPr lang="en-US" sz="2400" dirty="0">
                <a:solidFill>
                  <a:schemeClr val="accent5">
                    <a:lumMod val="50000"/>
                  </a:schemeClr>
                </a:solidFill>
                <a:latin typeface="Times New Roman" panose="02020603050405020304" pitchFamily="18" charset="0"/>
              </a:rPr>
              <a:t>Global level: Feature importance (Fig 2) and dispersion plot (Fig 3)</a:t>
            </a:r>
          </a:p>
          <a:p>
            <a:pPr marL="342900" indent="-342900">
              <a:spcAft>
                <a:spcPts val="600"/>
              </a:spcAft>
              <a:buFont typeface="Arial" panose="020B0604020202020204" pitchFamily="34" charset="0"/>
              <a:buChar char="•"/>
            </a:pPr>
            <a:r>
              <a:rPr lang="en-US" sz="2400" dirty="0">
                <a:solidFill>
                  <a:schemeClr val="accent5">
                    <a:lumMod val="50000"/>
                  </a:schemeClr>
                </a:solidFill>
                <a:latin typeface="Times New Roman" panose="02020603050405020304" pitchFamily="18" charset="0"/>
              </a:rPr>
              <a:t>Individual prediction level: partial plot (Fig 4-7) and force plot (Fig 8)</a:t>
            </a:r>
          </a:p>
          <a:p>
            <a:endParaRPr lang="en-US" b="1" dirty="0"/>
          </a:p>
        </p:txBody>
      </p:sp>
      <p:sp>
        <p:nvSpPr>
          <p:cNvPr id="48" name="TextBox 47">
            <a:extLst>
              <a:ext uri="{FF2B5EF4-FFF2-40B4-BE49-F238E27FC236}">
                <a16:creationId xmlns:a16="http://schemas.microsoft.com/office/drawing/2014/main" id="{A0A2CF9D-F1B7-5E33-51FC-F14A6A65A284}"/>
              </a:ext>
            </a:extLst>
          </p:cNvPr>
          <p:cNvSpPr txBox="1"/>
          <p:nvPr/>
        </p:nvSpPr>
        <p:spPr>
          <a:xfrm>
            <a:off x="20341997" y="23171680"/>
            <a:ext cx="5293101" cy="646331"/>
          </a:xfrm>
          <a:prstGeom prst="rect">
            <a:avLst/>
          </a:prstGeom>
          <a:noFill/>
        </p:spPr>
        <p:txBody>
          <a:bodyPr wrap="square" rtlCol="0">
            <a:spAutoFit/>
          </a:bodyPr>
          <a:lstStyle/>
          <a:p>
            <a:r>
              <a:rPr lang="en-US" sz="1800" dirty="0">
                <a:solidFill>
                  <a:srgbClr val="2C556E"/>
                </a:solidFill>
                <a:latin typeface="Times New Roman" panose="02020603050405020304" pitchFamily="18" charset="0"/>
                <a:cs typeface="Times New Roman" panose="02020603050405020304" pitchFamily="18" charset="0"/>
              </a:rPr>
              <a:t>Fig. 2. Diagram of feature importance illustrates average impact from features</a:t>
            </a:r>
          </a:p>
        </p:txBody>
      </p:sp>
      <p:sp>
        <p:nvSpPr>
          <p:cNvPr id="49" name="TextBox 48">
            <a:extLst>
              <a:ext uri="{FF2B5EF4-FFF2-40B4-BE49-F238E27FC236}">
                <a16:creationId xmlns:a16="http://schemas.microsoft.com/office/drawing/2014/main" id="{12C28BF7-0210-529C-1311-73AC6FA3E4BB}"/>
              </a:ext>
            </a:extLst>
          </p:cNvPr>
          <p:cNvSpPr txBox="1"/>
          <p:nvPr/>
        </p:nvSpPr>
        <p:spPr>
          <a:xfrm>
            <a:off x="26411275" y="23011741"/>
            <a:ext cx="6810754" cy="923330"/>
          </a:xfrm>
          <a:prstGeom prst="rect">
            <a:avLst/>
          </a:prstGeom>
          <a:noFill/>
        </p:spPr>
        <p:txBody>
          <a:bodyPr wrap="square" rtlCol="0">
            <a:spAutoFit/>
          </a:bodyPr>
          <a:lstStyle/>
          <a:p>
            <a:r>
              <a:rPr lang="en-US" sz="1800" dirty="0">
                <a:solidFill>
                  <a:srgbClr val="2C556E"/>
                </a:solidFill>
                <a:latin typeface="Times New Roman" panose="02020603050405020304" pitchFamily="18" charset="0"/>
                <a:cs typeface="Times New Roman" panose="02020603050405020304" pitchFamily="18" charset="0"/>
              </a:rPr>
              <a:t>Fig. 3. SHAP dispersion plot visualizes the distribution of SHAP values for a given feature across different instances in a dataset, illustrating the variability of a feature's impact on model predictions.</a:t>
            </a:r>
          </a:p>
        </p:txBody>
      </p:sp>
      <p:sp>
        <p:nvSpPr>
          <p:cNvPr id="50" name="TextBox 49">
            <a:extLst>
              <a:ext uri="{FF2B5EF4-FFF2-40B4-BE49-F238E27FC236}">
                <a16:creationId xmlns:a16="http://schemas.microsoft.com/office/drawing/2014/main" id="{DA73D832-24D0-E19A-EAC2-2445ED7955CB}"/>
              </a:ext>
            </a:extLst>
          </p:cNvPr>
          <p:cNvSpPr txBox="1"/>
          <p:nvPr/>
        </p:nvSpPr>
        <p:spPr>
          <a:xfrm>
            <a:off x="19840121" y="27800120"/>
            <a:ext cx="5071375" cy="369332"/>
          </a:xfrm>
          <a:prstGeom prst="rect">
            <a:avLst/>
          </a:prstGeom>
          <a:noFill/>
        </p:spPr>
        <p:txBody>
          <a:bodyPr wrap="square" rtlCol="0">
            <a:spAutoFit/>
          </a:bodyPr>
          <a:lstStyle/>
          <a:p>
            <a:r>
              <a:rPr lang="en-US" sz="1800" dirty="0">
                <a:solidFill>
                  <a:srgbClr val="2C556E"/>
                </a:solidFill>
                <a:latin typeface="Times New Roman" panose="02020603050405020304" pitchFamily="18" charset="0"/>
                <a:cs typeface="Times New Roman" panose="02020603050405020304" pitchFamily="18" charset="0"/>
              </a:rPr>
              <a:t>Fig. 4. Patial dependence - MAP</a:t>
            </a:r>
          </a:p>
        </p:txBody>
      </p:sp>
      <p:sp>
        <p:nvSpPr>
          <p:cNvPr id="51" name="TextBox 50">
            <a:extLst>
              <a:ext uri="{FF2B5EF4-FFF2-40B4-BE49-F238E27FC236}">
                <a16:creationId xmlns:a16="http://schemas.microsoft.com/office/drawing/2014/main" id="{86D26D05-62DA-E042-A1A7-27B5ECF7E1AF}"/>
              </a:ext>
            </a:extLst>
          </p:cNvPr>
          <p:cNvSpPr txBox="1"/>
          <p:nvPr/>
        </p:nvSpPr>
        <p:spPr>
          <a:xfrm>
            <a:off x="27303333" y="27758940"/>
            <a:ext cx="5071375" cy="369332"/>
          </a:xfrm>
          <a:prstGeom prst="rect">
            <a:avLst/>
          </a:prstGeom>
          <a:noFill/>
        </p:spPr>
        <p:txBody>
          <a:bodyPr wrap="square" rtlCol="0">
            <a:spAutoFit/>
          </a:bodyPr>
          <a:lstStyle/>
          <a:p>
            <a:r>
              <a:rPr lang="en-US" sz="1800" dirty="0">
                <a:solidFill>
                  <a:srgbClr val="2C556E"/>
                </a:solidFill>
                <a:latin typeface="Times New Roman" panose="02020603050405020304" pitchFamily="18" charset="0"/>
                <a:cs typeface="Times New Roman" panose="02020603050405020304" pitchFamily="18" charset="0"/>
              </a:rPr>
              <a:t>Fig. 5. Patial dependence - MAT</a:t>
            </a:r>
          </a:p>
        </p:txBody>
      </p:sp>
      <p:sp>
        <p:nvSpPr>
          <p:cNvPr id="52" name="TextBox 51">
            <a:extLst>
              <a:ext uri="{FF2B5EF4-FFF2-40B4-BE49-F238E27FC236}">
                <a16:creationId xmlns:a16="http://schemas.microsoft.com/office/drawing/2014/main" id="{9FB746F9-DB72-F2A3-39FB-24288244EBE5}"/>
              </a:ext>
            </a:extLst>
          </p:cNvPr>
          <p:cNvSpPr txBox="1"/>
          <p:nvPr/>
        </p:nvSpPr>
        <p:spPr>
          <a:xfrm>
            <a:off x="19734826" y="31353914"/>
            <a:ext cx="5071375" cy="369332"/>
          </a:xfrm>
          <a:prstGeom prst="rect">
            <a:avLst/>
          </a:prstGeom>
          <a:noFill/>
        </p:spPr>
        <p:txBody>
          <a:bodyPr wrap="square" rtlCol="0">
            <a:spAutoFit/>
          </a:bodyPr>
          <a:lstStyle/>
          <a:p>
            <a:r>
              <a:rPr lang="en-US" sz="1800" dirty="0">
                <a:solidFill>
                  <a:srgbClr val="2C556E"/>
                </a:solidFill>
                <a:latin typeface="Times New Roman" panose="02020603050405020304" pitchFamily="18" charset="0"/>
                <a:cs typeface="Times New Roman" panose="02020603050405020304" pitchFamily="18" charset="0"/>
              </a:rPr>
              <a:t>Fig. 6. Patial dependence – MAP and MAT</a:t>
            </a:r>
          </a:p>
        </p:txBody>
      </p:sp>
      <p:sp>
        <p:nvSpPr>
          <p:cNvPr id="53" name="TextBox 52">
            <a:extLst>
              <a:ext uri="{FF2B5EF4-FFF2-40B4-BE49-F238E27FC236}">
                <a16:creationId xmlns:a16="http://schemas.microsoft.com/office/drawing/2014/main" id="{C898FE5D-D570-CB2E-4233-636E0B478AC9}"/>
              </a:ext>
            </a:extLst>
          </p:cNvPr>
          <p:cNvSpPr txBox="1"/>
          <p:nvPr/>
        </p:nvSpPr>
        <p:spPr>
          <a:xfrm>
            <a:off x="27366943" y="31406616"/>
            <a:ext cx="5071375" cy="369332"/>
          </a:xfrm>
          <a:prstGeom prst="rect">
            <a:avLst/>
          </a:prstGeom>
          <a:noFill/>
        </p:spPr>
        <p:txBody>
          <a:bodyPr wrap="square" rtlCol="0">
            <a:spAutoFit/>
          </a:bodyPr>
          <a:lstStyle/>
          <a:p>
            <a:r>
              <a:rPr lang="en-US" sz="1800" dirty="0">
                <a:solidFill>
                  <a:srgbClr val="002060"/>
                </a:solidFill>
                <a:latin typeface="Times New Roman" panose="02020603050405020304" pitchFamily="18" charset="0"/>
                <a:cs typeface="Times New Roman" panose="02020603050405020304" pitchFamily="18" charset="0"/>
              </a:rPr>
              <a:t>Fig. 7. Patial dependence – </a:t>
            </a:r>
            <a:r>
              <a:rPr lang="en-US" sz="1800" dirty="0" err="1">
                <a:solidFill>
                  <a:srgbClr val="002060"/>
                </a:solidFill>
                <a:latin typeface="Times New Roman" panose="02020603050405020304" pitchFamily="18" charset="0"/>
                <a:cs typeface="Times New Roman" panose="02020603050405020304" pitchFamily="18" charset="0"/>
              </a:rPr>
              <a:t>Study_year</a:t>
            </a:r>
            <a:endParaRPr lang="en-US" sz="1800" dirty="0">
              <a:solidFill>
                <a:srgbClr val="002060"/>
              </a:solidFill>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81A2F9D3-C9F0-9725-F4F2-DB78EF9366E7}"/>
              </a:ext>
            </a:extLst>
          </p:cNvPr>
          <p:cNvSpPr txBox="1"/>
          <p:nvPr/>
        </p:nvSpPr>
        <p:spPr>
          <a:xfrm>
            <a:off x="13033891" y="30714009"/>
            <a:ext cx="2455250" cy="369332"/>
          </a:xfrm>
          <a:prstGeom prst="rect">
            <a:avLst/>
          </a:prstGeom>
          <a:noFill/>
        </p:spPr>
        <p:txBody>
          <a:bodyPr wrap="square" rtlCol="0">
            <a:spAutoFit/>
          </a:bodyPr>
          <a:lstStyle/>
          <a:p>
            <a:r>
              <a:rPr lang="en-US" sz="1800" dirty="0">
                <a:solidFill>
                  <a:srgbClr val="2C556E"/>
                </a:solidFill>
                <a:latin typeface="Times New Roman" panose="02020603050405020304" pitchFamily="18" charset="0"/>
                <a:cs typeface="Times New Roman" panose="02020603050405020304" pitchFamily="18" charset="0"/>
              </a:rPr>
              <a:t>Fig. 8. SHAP force plot</a:t>
            </a:r>
          </a:p>
        </p:txBody>
      </p:sp>
      <p:sp>
        <p:nvSpPr>
          <p:cNvPr id="65" name="Text Placeholder 9">
            <a:extLst>
              <a:ext uri="{FF2B5EF4-FFF2-40B4-BE49-F238E27FC236}">
                <a16:creationId xmlns:a16="http://schemas.microsoft.com/office/drawing/2014/main" id="{F0E172B7-A213-A6C3-2223-98696D19CE85}"/>
              </a:ext>
            </a:extLst>
          </p:cNvPr>
          <p:cNvSpPr txBox="1">
            <a:spLocks/>
          </p:cNvSpPr>
          <p:nvPr/>
        </p:nvSpPr>
        <p:spPr>
          <a:xfrm>
            <a:off x="33689925" y="23128994"/>
            <a:ext cx="10201275" cy="1200306"/>
          </a:xfrm>
          <a:prstGeom prst="rect">
            <a:avLst/>
          </a:prstGeom>
        </p:spPr>
        <p:txBody>
          <a:bodyPr wrap="square" lIns="228589" tIns="228589" rIns="228589" bIns="228589" anchor="t" anchorCtr="0">
            <a:spAutoFit/>
          </a:bodyPr>
          <a:lstStyle>
            <a:lvl1pPr marL="0" indent="0" algn="l" defTabSz="4388900" rtl="0" eaLnBrk="1" latinLnBrk="0" hangingPunct="1">
              <a:spcBef>
                <a:spcPct val="20000"/>
              </a:spcBef>
              <a:buFont typeface="Arial" pitchFamily="34" charset="0"/>
              <a:buNone/>
              <a:defRPr sz="2000" kern="1200">
                <a:solidFill>
                  <a:schemeClr val="accent5">
                    <a:lumMod val="50000"/>
                  </a:schemeClr>
                </a:solidFill>
                <a:latin typeface="Century Gothic" panose="020B0502020202020204" pitchFamily="34" charset="0"/>
                <a:ea typeface="+mn-ea"/>
                <a:cs typeface="Times New Roman" panose="02020603050405020304" pitchFamily="18"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endParaRPr lang="en-US" sz="2400" dirty="0">
              <a:latin typeface="Times New Roman" panose="02020603050405020304" pitchFamily="18" charset="0"/>
              <a:ea typeface="Times New Roman" panose="02020603050405020304" pitchFamily="18" charset="0"/>
            </a:endParaRPr>
          </a:p>
          <a:p>
            <a:pPr marL="342900" indent="-342900">
              <a:buFont typeface="Arial" pitchFamily="34" charset="0"/>
              <a:buChar char="•"/>
            </a:pPr>
            <a:endParaRPr lang="en-US" dirty="0"/>
          </a:p>
        </p:txBody>
      </p:sp>
      <p:sp>
        <p:nvSpPr>
          <p:cNvPr id="66" name="Text Placeholder 10">
            <a:extLst>
              <a:ext uri="{FF2B5EF4-FFF2-40B4-BE49-F238E27FC236}">
                <a16:creationId xmlns:a16="http://schemas.microsoft.com/office/drawing/2014/main" id="{15B86A47-F75E-CD7A-B948-C42DDAB65884}"/>
              </a:ext>
            </a:extLst>
          </p:cNvPr>
          <p:cNvSpPr txBox="1">
            <a:spLocks/>
          </p:cNvSpPr>
          <p:nvPr/>
        </p:nvSpPr>
        <p:spPr>
          <a:xfrm>
            <a:off x="33550359" y="15688239"/>
            <a:ext cx="10201275" cy="677100"/>
          </a:xfrm>
          <a:prstGeom prst="rect">
            <a:avLst/>
          </a:prstGeom>
          <a:solidFill>
            <a:schemeClr val="accent5">
              <a:lumMod val="50000"/>
            </a:schemeClr>
          </a:solidFill>
        </p:spPr>
        <p:txBody>
          <a:bodyPr wrap="square" lIns="91436" tIns="91436" rIns="91436" bIns="91436" anchor="t" anchorCtr="0">
            <a:spAutoFit/>
          </a:bodyPr>
          <a:lstStyle>
            <a:lvl1pPr marL="0" indent="0" algn="ctr" defTabSz="4388900" rtl="0" eaLnBrk="1" latinLnBrk="0" hangingPunct="1">
              <a:spcBef>
                <a:spcPct val="20000"/>
              </a:spcBef>
              <a:buFont typeface="Arial" pitchFamily="34" charset="0"/>
              <a:buNone/>
              <a:defRPr sz="3200" b="1" u="none" kern="1200" baseline="0">
                <a:solidFill>
                  <a:schemeClr val="bg1"/>
                </a:solidFill>
                <a:latin typeface="Century Gothic" panose="020B0502020202020204" pitchFamily="34" charset="0"/>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r>
              <a:rPr lang="en-US" dirty="0"/>
              <a:t>FUTURE WORK</a:t>
            </a:r>
          </a:p>
        </p:txBody>
      </p:sp>
      <p:sp>
        <p:nvSpPr>
          <p:cNvPr id="67" name="TextBox 66">
            <a:extLst>
              <a:ext uri="{FF2B5EF4-FFF2-40B4-BE49-F238E27FC236}">
                <a16:creationId xmlns:a16="http://schemas.microsoft.com/office/drawing/2014/main" id="{9CEE3DFC-FFB0-50F6-7AEA-64E036BB25DE}"/>
              </a:ext>
            </a:extLst>
          </p:cNvPr>
          <p:cNvSpPr txBox="1"/>
          <p:nvPr/>
        </p:nvSpPr>
        <p:spPr>
          <a:xfrm>
            <a:off x="33550359" y="16892337"/>
            <a:ext cx="9987915" cy="3662541"/>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en-US" sz="2400" dirty="0">
                <a:solidFill>
                  <a:srgbClr val="002060"/>
                </a:solidFill>
                <a:latin typeface="Times New Roman" panose="02020603050405020304" pitchFamily="18" charset="0"/>
                <a:ea typeface="Times New Roman" panose="02020603050405020304" pitchFamily="18" charset="0"/>
              </a:rPr>
              <a:t>A notable challenge in this study is the significant amount of missing data for vegetation and carbon-related features. As a next step, further exploration of alternative data repositories, such as ERA5, is planned to improve data quality and model performance. </a:t>
            </a:r>
          </a:p>
          <a:p>
            <a:pPr marL="342900" indent="-342900">
              <a:spcBef>
                <a:spcPts val="600"/>
              </a:spcBef>
              <a:spcAft>
                <a:spcPts val="600"/>
              </a:spcAft>
              <a:buFont typeface="Arial" panose="020B0604020202020204" pitchFamily="34" charset="0"/>
              <a:buChar char="•"/>
            </a:pPr>
            <a:r>
              <a:rPr lang="en-US" sz="2400" dirty="0">
                <a:solidFill>
                  <a:srgbClr val="002060"/>
                </a:solidFill>
                <a:latin typeface="Times New Roman" panose="02020603050405020304" pitchFamily="18" charset="0"/>
                <a:ea typeface="Times New Roman" panose="02020603050405020304" pitchFamily="18" charset="0"/>
              </a:rPr>
              <a:t>Another challenge is the small sample size, especially after excluding records with quality issues. Identifying reliable data sources and addressing data quality issues will be critical areas of focus to improve model robustness and performance. </a:t>
            </a:r>
          </a:p>
          <a:p>
            <a:endParaRPr lang="en-US" sz="2500" dirty="0">
              <a:latin typeface="Times New Roman" panose="02020603050405020304" pitchFamily="18" charset="0"/>
              <a:cs typeface="Times New Roman" panose="02020603050405020304" pitchFamily="18" charset="0"/>
            </a:endParaRPr>
          </a:p>
        </p:txBody>
      </p:sp>
      <p:sp>
        <p:nvSpPr>
          <p:cNvPr id="69" name="TextBox 68">
            <a:extLst>
              <a:ext uri="{FF2B5EF4-FFF2-40B4-BE49-F238E27FC236}">
                <a16:creationId xmlns:a16="http://schemas.microsoft.com/office/drawing/2014/main" id="{EB6E1AA8-1502-A901-63AA-86B67D4D30C9}"/>
              </a:ext>
            </a:extLst>
          </p:cNvPr>
          <p:cNvSpPr txBox="1"/>
          <p:nvPr/>
        </p:nvSpPr>
        <p:spPr>
          <a:xfrm>
            <a:off x="33637535" y="22023034"/>
            <a:ext cx="9296401" cy="6093976"/>
          </a:xfrm>
          <a:prstGeom prst="rect">
            <a:avLst/>
          </a:prstGeom>
          <a:noFill/>
        </p:spPr>
        <p:txBody>
          <a:bodyPr wrap="square">
            <a:spAutoFit/>
          </a:bodyPr>
          <a:lstStyle/>
          <a:p>
            <a:pPr marL="342900" indent="-342900">
              <a:spcBef>
                <a:spcPts val="600"/>
              </a:spcBef>
              <a:spcAft>
                <a:spcPts val="600"/>
              </a:spcAf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D. M. Lawrence et al., "The Community Land Model version 5: Description of new features, benchmarking, and impact of forcing uncertainty," J. Adv. Model. Earth Syst., vol. 11, no. 12, pp. 4245–4287, 2019.</a:t>
            </a:r>
          </a:p>
          <a:p>
            <a:pPr marL="342900" indent="-342900">
              <a:spcBef>
                <a:spcPts val="600"/>
              </a:spcBef>
              <a:spcAft>
                <a:spcPts val="600"/>
              </a:spcAf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J. Liu, J. Hu, H. Liu, et al., "Global soil respiration estimation based on ecological big data and machine learning model," Sci. Rep., vol. 14, 13231, 2024. </a:t>
            </a:r>
            <a:r>
              <a:rPr lang="en-US" sz="2400" dirty="0" err="1">
                <a:solidFill>
                  <a:srgbClr val="002060"/>
                </a:solidFill>
                <a:latin typeface="Times New Roman" panose="02020603050405020304" pitchFamily="18" charset="0"/>
                <a:cs typeface="Times New Roman" panose="02020603050405020304" pitchFamily="18" charset="0"/>
              </a:rPr>
              <a:t>doi</a:t>
            </a:r>
            <a:r>
              <a:rPr lang="en-US" sz="2400" dirty="0">
                <a:solidFill>
                  <a:srgbClr val="002060"/>
                </a:solidFill>
                <a:latin typeface="Times New Roman" panose="02020603050405020304" pitchFamily="18" charset="0"/>
                <a:cs typeface="Times New Roman" panose="02020603050405020304" pitchFamily="18" charset="0"/>
              </a:rPr>
              <a:t>: 10.1038/s41598-024-64235-w.</a:t>
            </a:r>
          </a:p>
          <a:p>
            <a:pPr marL="342900" indent="-342900">
              <a:spcBef>
                <a:spcPts val="600"/>
              </a:spcBef>
              <a:spcAft>
                <a:spcPts val="600"/>
              </a:spcAf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H. Lu, S. Li, M. Ma, et al., "Comparing machine learning-derived global estimates of soil respiration and its components with those from terrestrial ecosystem models," Environ. Res. Lett., vol. 16, no. 5, Art. 054048, 2021. </a:t>
            </a:r>
            <a:r>
              <a:rPr lang="en-US" sz="2400" dirty="0" err="1">
                <a:solidFill>
                  <a:srgbClr val="002060"/>
                </a:solidFill>
                <a:latin typeface="Times New Roman" panose="02020603050405020304" pitchFamily="18" charset="0"/>
                <a:cs typeface="Times New Roman" panose="02020603050405020304" pitchFamily="18" charset="0"/>
              </a:rPr>
              <a:t>doi</a:t>
            </a:r>
            <a:r>
              <a:rPr lang="en-US" sz="2400" dirty="0">
                <a:solidFill>
                  <a:srgbClr val="002060"/>
                </a:solidFill>
                <a:latin typeface="Times New Roman" panose="02020603050405020304" pitchFamily="18" charset="0"/>
                <a:cs typeface="Times New Roman" panose="02020603050405020304" pitchFamily="18" charset="0"/>
              </a:rPr>
              <a:t>: 10.1088/1748-9326/abf526.</a:t>
            </a:r>
          </a:p>
          <a:p>
            <a:pPr marL="342900" indent="-342900">
              <a:spcBef>
                <a:spcPts val="600"/>
              </a:spcBef>
              <a:spcAft>
                <a:spcPts val="600"/>
              </a:spcAft>
              <a:buFont typeface="Arial" panose="020B0604020202020204" pitchFamily="34" charset="0"/>
              <a:buChar char="•"/>
            </a:pPr>
            <a:r>
              <a:rPr lang="en-US" sz="2400" dirty="0">
                <a:solidFill>
                  <a:srgbClr val="002060"/>
                </a:solidFill>
                <a:latin typeface="Times New Roman" panose="02020603050405020304" pitchFamily="18" charset="0"/>
                <a:cs typeface="Times New Roman" panose="02020603050405020304" pitchFamily="18" charset="0"/>
              </a:rPr>
              <a:t>H. Luo, C. Xiang, L. Zeng, et al., "SHAP-based predictive modeling for 1-year all-cause readmission risk in elderly heart failure patients: Feature selection and model interpretation," Sci. Rep., vol. 14, 17728, 2024. </a:t>
            </a:r>
            <a:r>
              <a:rPr lang="en-US" sz="2400" dirty="0" err="1">
                <a:solidFill>
                  <a:srgbClr val="002060"/>
                </a:solidFill>
                <a:latin typeface="Times New Roman" panose="02020603050405020304" pitchFamily="18" charset="0"/>
                <a:cs typeface="Times New Roman" panose="02020603050405020304" pitchFamily="18" charset="0"/>
              </a:rPr>
              <a:t>doi</a:t>
            </a:r>
            <a:r>
              <a:rPr lang="en-US" sz="2400" dirty="0">
                <a:solidFill>
                  <a:srgbClr val="002060"/>
                </a:solidFill>
                <a:latin typeface="Times New Roman" panose="02020603050405020304" pitchFamily="18" charset="0"/>
                <a:cs typeface="Times New Roman" panose="02020603050405020304" pitchFamily="18" charset="0"/>
              </a:rPr>
              <a:t>: 10.1038/s41598-024-67844-7.</a:t>
            </a:r>
          </a:p>
        </p:txBody>
      </p:sp>
      <p:pic>
        <p:nvPicPr>
          <p:cNvPr id="72" name="Picture 71">
            <a:extLst>
              <a:ext uri="{FF2B5EF4-FFF2-40B4-BE49-F238E27FC236}">
                <a16:creationId xmlns:a16="http://schemas.microsoft.com/office/drawing/2014/main" id="{45BACF61-B450-8027-29CD-8FB3D675E78A}"/>
              </a:ext>
            </a:extLst>
          </p:cNvPr>
          <p:cNvPicPr>
            <a:picLocks noChangeAspect="1"/>
          </p:cNvPicPr>
          <p:nvPr/>
        </p:nvPicPr>
        <p:blipFill>
          <a:blip r:embed="rId11"/>
          <a:stretch>
            <a:fillRect/>
          </a:stretch>
        </p:blipFill>
        <p:spPr>
          <a:xfrm>
            <a:off x="11435166" y="10375881"/>
            <a:ext cx="4610337" cy="3378374"/>
          </a:xfrm>
          <a:prstGeom prst="rect">
            <a:avLst/>
          </a:prstGeom>
        </p:spPr>
      </p:pic>
      <p:pic>
        <p:nvPicPr>
          <p:cNvPr id="74" name="Picture 73">
            <a:extLst>
              <a:ext uri="{FF2B5EF4-FFF2-40B4-BE49-F238E27FC236}">
                <a16:creationId xmlns:a16="http://schemas.microsoft.com/office/drawing/2014/main" id="{124280B9-E5CF-29D1-70C5-020715B8DE01}"/>
              </a:ext>
            </a:extLst>
          </p:cNvPr>
          <p:cNvPicPr>
            <a:picLocks noChangeAspect="1"/>
          </p:cNvPicPr>
          <p:nvPr/>
        </p:nvPicPr>
        <p:blipFill>
          <a:blip r:embed="rId12"/>
          <a:stretch>
            <a:fillRect/>
          </a:stretch>
        </p:blipFill>
        <p:spPr>
          <a:xfrm>
            <a:off x="16479188" y="10385406"/>
            <a:ext cx="4616687" cy="3359323"/>
          </a:xfrm>
          <a:prstGeom prst="rect">
            <a:avLst/>
          </a:prstGeom>
        </p:spPr>
      </p:pic>
      <p:pic>
        <p:nvPicPr>
          <p:cNvPr id="76" name="Picture 75">
            <a:extLst>
              <a:ext uri="{FF2B5EF4-FFF2-40B4-BE49-F238E27FC236}">
                <a16:creationId xmlns:a16="http://schemas.microsoft.com/office/drawing/2014/main" id="{59CCF9B3-2225-865A-D4FA-C1E0AA7729D5}"/>
              </a:ext>
            </a:extLst>
          </p:cNvPr>
          <p:cNvPicPr>
            <a:picLocks noChangeAspect="1"/>
          </p:cNvPicPr>
          <p:nvPr/>
        </p:nvPicPr>
        <p:blipFill>
          <a:blip r:embed="rId13"/>
          <a:stretch>
            <a:fillRect/>
          </a:stretch>
        </p:blipFill>
        <p:spPr>
          <a:xfrm>
            <a:off x="11629407" y="14086994"/>
            <a:ext cx="4515082" cy="3321221"/>
          </a:xfrm>
          <a:prstGeom prst="rect">
            <a:avLst/>
          </a:prstGeom>
        </p:spPr>
      </p:pic>
      <p:pic>
        <p:nvPicPr>
          <p:cNvPr id="78" name="Picture 77">
            <a:extLst>
              <a:ext uri="{FF2B5EF4-FFF2-40B4-BE49-F238E27FC236}">
                <a16:creationId xmlns:a16="http://schemas.microsoft.com/office/drawing/2014/main" id="{D2CEFF73-524C-E060-187E-5F6A8908F1F6}"/>
              </a:ext>
            </a:extLst>
          </p:cNvPr>
          <p:cNvPicPr>
            <a:picLocks noChangeAspect="1"/>
          </p:cNvPicPr>
          <p:nvPr/>
        </p:nvPicPr>
        <p:blipFill>
          <a:blip r:embed="rId14"/>
          <a:stretch>
            <a:fillRect/>
          </a:stretch>
        </p:blipFill>
        <p:spPr>
          <a:xfrm>
            <a:off x="16021968" y="13668038"/>
            <a:ext cx="5877548" cy="4872775"/>
          </a:xfrm>
          <a:prstGeom prst="rect">
            <a:avLst/>
          </a:prstGeom>
        </p:spPr>
      </p:pic>
      <p:sp>
        <p:nvSpPr>
          <p:cNvPr id="80" name="TextBox 79">
            <a:extLst>
              <a:ext uri="{FF2B5EF4-FFF2-40B4-BE49-F238E27FC236}">
                <a16:creationId xmlns:a16="http://schemas.microsoft.com/office/drawing/2014/main" id="{5B0215C4-7460-A325-57BE-DD348B6776CA}"/>
              </a:ext>
            </a:extLst>
          </p:cNvPr>
          <p:cNvSpPr txBox="1"/>
          <p:nvPr/>
        </p:nvSpPr>
        <p:spPr>
          <a:xfrm>
            <a:off x="23464298" y="25554650"/>
            <a:ext cx="2710025" cy="1477328"/>
          </a:xfrm>
          <a:prstGeom prst="rect">
            <a:avLst/>
          </a:prstGeom>
          <a:noFill/>
        </p:spPr>
        <p:txBody>
          <a:bodyPr wrap="square" rtlCol="0">
            <a:spAutoFit/>
          </a:bodyPr>
          <a:lstStyle/>
          <a:p>
            <a:r>
              <a:rPr lang="en-US" sz="1800" dirty="0">
                <a:solidFill>
                  <a:srgbClr val="002060"/>
                </a:solidFill>
                <a:effectLst/>
                <a:latin typeface="Times New Roman" panose="02020603050405020304" pitchFamily="18" charset="0"/>
                <a:ea typeface="Times New Roman" panose="02020603050405020304" pitchFamily="18" charset="0"/>
              </a:rPr>
              <a:t>As MAP increases up to 1000 mm, Rs increases. However, beyond 1000 mm of MAP, the predicted Rs values level off. </a:t>
            </a:r>
            <a:endParaRPr lang="en-US" sz="2500" dirty="0">
              <a:solidFill>
                <a:srgbClr val="002060"/>
              </a:solidFill>
              <a:latin typeface="Times New Roman" panose="02020603050405020304" pitchFamily="18" charset="0"/>
              <a:cs typeface="Times New Roman" panose="02020603050405020304" pitchFamily="18" charset="0"/>
            </a:endParaRPr>
          </a:p>
        </p:txBody>
      </p:sp>
      <p:sp>
        <p:nvSpPr>
          <p:cNvPr id="81" name="TextBox 80">
            <a:extLst>
              <a:ext uri="{FF2B5EF4-FFF2-40B4-BE49-F238E27FC236}">
                <a16:creationId xmlns:a16="http://schemas.microsoft.com/office/drawing/2014/main" id="{756F777A-EF55-30D4-82EE-C34A36C30941}"/>
              </a:ext>
            </a:extLst>
          </p:cNvPr>
          <p:cNvSpPr txBox="1"/>
          <p:nvPr/>
        </p:nvSpPr>
        <p:spPr>
          <a:xfrm>
            <a:off x="30913302" y="25394652"/>
            <a:ext cx="1617890" cy="1200329"/>
          </a:xfrm>
          <a:prstGeom prst="rect">
            <a:avLst/>
          </a:prstGeom>
          <a:noFill/>
        </p:spPr>
        <p:txBody>
          <a:bodyPr wrap="square" rtlCol="0">
            <a:spAutoFit/>
          </a:bodyPr>
          <a:lstStyle/>
          <a:p>
            <a:r>
              <a:rPr lang="en-US" sz="1800" dirty="0">
                <a:solidFill>
                  <a:srgbClr val="002060"/>
                </a:solidFill>
                <a:latin typeface="Times New Roman" panose="02020603050405020304" pitchFamily="18" charset="0"/>
                <a:ea typeface="Times New Roman" panose="02020603050405020304" pitchFamily="18" charset="0"/>
              </a:rPr>
              <a:t>A</a:t>
            </a:r>
            <a:r>
              <a:rPr lang="en-US" sz="1800" dirty="0">
                <a:solidFill>
                  <a:srgbClr val="002060"/>
                </a:solidFill>
                <a:effectLst/>
                <a:latin typeface="Times New Roman" panose="02020603050405020304" pitchFamily="18" charset="0"/>
                <a:ea typeface="Times New Roman" panose="02020603050405020304" pitchFamily="18" charset="0"/>
              </a:rPr>
              <a:t> slight upward trend between MAT and Rs.</a:t>
            </a:r>
            <a:endParaRPr lang="en-US" sz="2500" dirty="0">
              <a:solidFill>
                <a:srgbClr val="002060"/>
              </a:solidFill>
              <a:latin typeface="Times New Roman" panose="02020603050405020304" pitchFamily="18" charset="0"/>
              <a:cs typeface="Times New Roman" panose="02020603050405020304" pitchFamily="18" charset="0"/>
            </a:endParaRPr>
          </a:p>
        </p:txBody>
      </p:sp>
      <p:sp>
        <p:nvSpPr>
          <p:cNvPr id="82" name="TextBox 81">
            <a:extLst>
              <a:ext uri="{FF2B5EF4-FFF2-40B4-BE49-F238E27FC236}">
                <a16:creationId xmlns:a16="http://schemas.microsoft.com/office/drawing/2014/main" id="{88E31B9B-0738-337B-8E65-A811CFAE2F3A}"/>
              </a:ext>
            </a:extLst>
          </p:cNvPr>
          <p:cNvSpPr txBox="1"/>
          <p:nvPr/>
        </p:nvSpPr>
        <p:spPr>
          <a:xfrm>
            <a:off x="23889381" y="28268879"/>
            <a:ext cx="2896220" cy="2585323"/>
          </a:xfrm>
          <a:prstGeom prst="rect">
            <a:avLst/>
          </a:prstGeom>
          <a:noFill/>
        </p:spPr>
        <p:txBody>
          <a:bodyPr wrap="square" rtlCol="0">
            <a:spAutoFit/>
          </a:bodyPr>
          <a:lstStyle/>
          <a:p>
            <a:r>
              <a:rPr lang="en-US" sz="1800" dirty="0">
                <a:solidFill>
                  <a:srgbClr val="002060"/>
                </a:solidFill>
                <a:latin typeface="Times New Roman" panose="02020603050405020304" pitchFamily="18" charset="0"/>
                <a:ea typeface="Times New Roman" panose="02020603050405020304" pitchFamily="18" charset="0"/>
              </a:rPr>
              <a:t>W</a:t>
            </a:r>
            <a:r>
              <a:rPr lang="en-US" sz="1800" dirty="0">
                <a:solidFill>
                  <a:srgbClr val="002060"/>
                </a:solidFill>
                <a:effectLst/>
                <a:latin typeface="Times New Roman" panose="02020603050405020304" pitchFamily="18" charset="0"/>
                <a:ea typeface="Times New Roman" panose="02020603050405020304" pitchFamily="18" charset="0"/>
              </a:rPr>
              <a:t>hen both MAT and MAP are low, predicted Rs values are also low. High MAT and MAP lead to higher Rs. However, when MAT is moderate, the positive correlation between MAP and predicted Rs becomes less pronounced.</a:t>
            </a:r>
            <a:endParaRPr lang="en-US" sz="2500" dirty="0">
              <a:solidFill>
                <a:srgbClr val="002060"/>
              </a:solidFill>
              <a:latin typeface="Times New Roman" panose="02020603050405020304" pitchFamily="18" charset="0"/>
              <a:cs typeface="Times New Roman" panose="02020603050405020304" pitchFamily="18" charset="0"/>
            </a:endParaRPr>
          </a:p>
        </p:txBody>
      </p:sp>
      <p:sp>
        <p:nvSpPr>
          <p:cNvPr id="83" name="TextBox 82">
            <a:extLst>
              <a:ext uri="{FF2B5EF4-FFF2-40B4-BE49-F238E27FC236}">
                <a16:creationId xmlns:a16="http://schemas.microsoft.com/office/drawing/2014/main" id="{718BE6F1-307C-B67C-D86D-5F2FDDA323A6}"/>
              </a:ext>
            </a:extLst>
          </p:cNvPr>
          <p:cNvSpPr txBox="1"/>
          <p:nvPr/>
        </p:nvSpPr>
        <p:spPr>
          <a:xfrm>
            <a:off x="31268514" y="28338993"/>
            <a:ext cx="1610166" cy="2031325"/>
          </a:xfrm>
          <a:prstGeom prst="rect">
            <a:avLst/>
          </a:prstGeom>
          <a:noFill/>
        </p:spPr>
        <p:txBody>
          <a:bodyPr wrap="square" rtlCol="0">
            <a:spAutoFit/>
          </a:bodyPr>
          <a:lstStyle/>
          <a:p>
            <a:r>
              <a:rPr lang="en-US" sz="1800" dirty="0">
                <a:solidFill>
                  <a:srgbClr val="002060"/>
                </a:solidFill>
                <a:effectLst/>
                <a:latin typeface="Times New Roman" panose="02020603050405020304" pitchFamily="18" charset="0"/>
                <a:ea typeface="Times New Roman" panose="02020603050405020304" pitchFamily="18" charset="0"/>
              </a:rPr>
              <a:t>A clear upward trend between study year and predicted Rs, indicating higher Rs in recent years. </a:t>
            </a:r>
            <a:endParaRPr lang="en-US" sz="2500" dirty="0">
              <a:solidFill>
                <a:srgbClr val="002060"/>
              </a:solidFill>
              <a:latin typeface="Times New Roman" panose="02020603050405020304" pitchFamily="18" charset="0"/>
              <a:cs typeface="Times New Roman" panose="02020603050405020304" pitchFamily="18" charset="0"/>
            </a:endParaRPr>
          </a:p>
        </p:txBody>
      </p:sp>
      <p:sp>
        <p:nvSpPr>
          <p:cNvPr id="84" name="TextBox 83">
            <a:extLst>
              <a:ext uri="{FF2B5EF4-FFF2-40B4-BE49-F238E27FC236}">
                <a16:creationId xmlns:a16="http://schemas.microsoft.com/office/drawing/2014/main" id="{4FF4250C-B78B-5D52-AA18-80591F9A896E}"/>
              </a:ext>
            </a:extLst>
          </p:cNvPr>
          <p:cNvSpPr txBox="1"/>
          <p:nvPr/>
        </p:nvSpPr>
        <p:spPr>
          <a:xfrm>
            <a:off x="11435167" y="31136506"/>
            <a:ext cx="7337863" cy="923330"/>
          </a:xfrm>
          <a:prstGeom prst="rect">
            <a:avLst/>
          </a:prstGeom>
          <a:noFill/>
        </p:spPr>
        <p:txBody>
          <a:bodyPr wrap="square" rtlCol="0">
            <a:spAutoFit/>
          </a:bodyPr>
          <a:lstStyle/>
          <a:p>
            <a:r>
              <a:rPr lang="en-US" sz="1800" b="1" dirty="0">
                <a:solidFill>
                  <a:srgbClr val="002060"/>
                </a:solidFill>
                <a:effectLst/>
                <a:latin typeface="Times New Roman" panose="02020603050405020304" pitchFamily="18" charset="0"/>
                <a:ea typeface="Times New Roman" panose="02020603050405020304" pitchFamily="18" charset="0"/>
              </a:rPr>
              <a:t>SHAP force plot</a:t>
            </a:r>
            <a:r>
              <a:rPr lang="en-US" sz="1800" dirty="0">
                <a:solidFill>
                  <a:srgbClr val="002060"/>
                </a:solidFill>
                <a:effectLst/>
                <a:latin typeface="Times New Roman" panose="02020603050405020304" pitchFamily="18" charset="0"/>
                <a:ea typeface="Times New Roman" panose="02020603050405020304" pitchFamily="18" charset="0"/>
              </a:rPr>
              <a:t> visualizes how different features influence the model prediction for a specific observation. The features driving the prediction higher are in red and the features decreasing the predicted value are in blue.</a:t>
            </a:r>
            <a:endParaRPr lang="en-US" sz="2500" dirty="0">
              <a:solidFill>
                <a:srgbClr val="002060"/>
              </a:solidFill>
              <a:latin typeface="Times New Roman" panose="02020603050405020304" pitchFamily="18" charset="0"/>
              <a:cs typeface="Times New Roman" panose="02020603050405020304" pitchFamily="18" charset="0"/>
            </a:endParaRPr>
          </a:p>
        </p:txBody>
      </p:sp>
      <p:sp>
        <p:nvSpPr>
          <p:cNvPr id="85" name="TextBox 84">
            <a:extLst>
              <a:ext uri="{FF2B5EF4-FFF2-40B4-BE49-F238E27FC236}">
                <a16:creationId xmlns:a16="http://schemas.microsoft.com/office/drawing/2014/main" id="{0F3C9C29-942F-B409-6A0B-1F8034201A82}"/>
              </a:ext>
            </a:extLst>
          </p:cNvPr>
          <p:cNvSpPr txBox="1"/>
          <p:nvPr/>
        </p:nvSpPr>
        <p:spPr>
          <a:xfrm>
            <a:off x="20038846" y="24006134"/>
            <a:ext cx="11368451" cy="646331"/>
          </a:xfrm>
          <a:prstGeom prst="rect">
            <a:avLst/>
          </a:prstGeom>
          <a:noFill/>
        </p:spPr>
        <p:txBody>
          <a:bodyPr wrap="square" rtlCol="0">
            <a:spAutoFit/>
          </a:bodyPr>
          <a:lstStyle/>
          <a:p>
            <a:r>
              <a:rPr lang="en-US" sz="1800" b="1" dirty="0">
                <a:solidFill>
                  <a:srgbClr val="002060"/>
                </a:solidFill>
                <a:effectLst/>
                <a:latin typeface="Times New Roman" panose="02020603050405020304" pitchFamily="18" charset="0"/>
                <a:ea typeface="Times New Roman" panose="02020603050405020304" pitchFamily="18" charset="0"/>
              </a:rPr>
              <a:t>Partial dependence plots </a:t>
            </a:r>
            <a:r>
              <a:rPr lang="en-US" sz="1800" dirty="0">
                <a:solidFill>
                  <a:srgbClr val="002060"/>
                </a:solidFill>
                <a:effectLst/>
                <a:latin typeface="Times New Roman" panose="02020603050405020304" pitchFamily="18" charset="0"/>
                <a:ea typeface="Times New Roman" panose="02020603050405020304" pitchFamily="18" charset="0"/>
              </a:rPr>
              <a:t>from SHAP illustrate how the model outcome changes as a specific feature change, while other features remain unchanged. </a:t>
            </a:r>
            <a:endParaRPr lang="en-US" sz="2500" dirty="0">
              <a:solidFill>
                <a:srgbClr val="002060"/>
              </a:solidFill>
              <a:latin typeface="Times New Roman" panose="02020603050405020304" pitchFamily="18" charset="0"/>
              <a:cs typeface="Times New Roman" panose="02020603050405020304" pitchFamily="18" charset="0"/>
            </a:endParaRPr>
          </a:p>
        </p:txBody>
      </p:sp>
      <p:sp>
        <p:nvSpPr>
          <p:cNvPr id="86" name="Rectangle 85">
            <a:extLst>
              <a:ext uri="{FF2B5EF4-FFF2-40B4-BE49-F238E27FC236}">
                <a16:creationId xmlns:a16="http://schemas.microsoft.com/office/drawing/2014/main" id="{A3266691-AA27-45A6-A96F-6074E2E69623}"/>
              </a:ext>
            </a:extLst>
          </p:cNvPr>
          <p:cNvSpPr/>
          <p:nvPr/>
        </p:nvSpPr>
        <p:spPr>
          <a:xfrm>
            <a:off x="527050" y="32344242"/>
            <a:ext cx="2396903" cy="677100"/>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8488073"/>
      </p:ext>
    </p:extLst>
  </p:cSld>
  <p:clrMapOvr>
    <a:masterClrMapping/>
  </p:clrMapOvr>
</p:sld>
</file>

<file path=ppt/theme/theme1.xml><?xml version="1.0" encoding="utf-8"?>
<a:theme xmlns:a="http://schemas.openxmlformats.org/drawingml/2006/main" name="36x48 Trifold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PosterPresentations.com-36x48_Trifold_Template-V3</Template>
  <TotalTime>3743</TotalTime>
  <Words>1617</Words>
  <Application>Microsoft Office PowerPoint</Application>
  <PresentationFormat>Custom</PresentationFormat>
  <Paragraphs>95</Paragraphs>
  <Slides>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vt:i4>
      </vt:variant>
    </vt:vector>
  </HeadingPairs>
  <TitlesOfParts>
    <vt:vector size="10" baseType="lpstr">
      <vt:lpstr>Arial</vt:lpstr>
      <vt:lpstr>Arial Black</vt:lpstr>
      <vt:lpstr>Calibri</vt:lpstr>
      <vt:lpstr>Century Gothic</vt:lpstr>
      <vt:lpstr>Times New Roman</vt:lpstr>
      <vt:lpstr>Trebuchet MS</vt:lpstr>
      <vt:lpstr>Wingdings</vt:lpstr>
      <vt:lpstr>36x48 Trifold Template</vt:lpstr>
      <vt:lpstr>Without Guides</vt:lpstr>
      <vt:lpstr>PowerPoint Presentation</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Trifold PowerPoint Poster Presentation</dc:title>
  <dc:subject>Research poster presentation template</dc:subject>
  <dc:creator>PosterPresentations.com</dc:creator>
  <cp:keywords>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Joshua Lu</cp:lastModifiedBy>
  <cp:revision>44</cp:revision>
  <dcterms:created xsi:type="dcterms:W3CDTF">2012-02-03T23:30:52Z</dcterms:created>
  <dcterms:modified xsi:type="dcterms:W3CDTF">2025-02-26T17:30:28Z</dcterms:modified>
  <cp:category>Research poster templates</cp:category>
</cp:coreProperties>
</file>