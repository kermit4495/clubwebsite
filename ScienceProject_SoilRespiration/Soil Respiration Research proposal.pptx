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embeddedFontLst>
    <p:embeddedFont>
      <p:font typeface="Comfortaa"/>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76DE694-63DD-436D-B702-7BDC1886DB57}">
  <a:tblStyle styleId="{676DE694-63DD-436D-B702-7BDC1886DB57}"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Comfortaa-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omfortaa-bold.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519ea10872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519ea10872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21cf34ded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21cf34ded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1cea626bdf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1cea626bdf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1cea626bdf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1cea626bdf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1cea626bdf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1cea626bdf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1cea626bdf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1cea626bdf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1cea626bdf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1cea626bdf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1cea626bdf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1cea626bdf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1cea626bdf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1cea626bdf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1e044d868c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1e044d868c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cc9050bdf8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cc9050bdf8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1d737264990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1d737264990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f36ab6d2df_0_10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f36ab6d2df_0_10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1affdea9700_0_18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1affdea9700_0_18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ee94c962af_1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ee94c962af_1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cc9050bdf8_0_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cc9050bdf8_0_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cc9050bdf8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cc9050bdf8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ee94c962a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ee94c962a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ee94c962af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2ee94c962af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2ee94c962af_1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2ee94c962af_1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2ee94c962af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2ee94c962af_1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ee94c962af_1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ee94c962af_1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ctrTitle"/>
          </p:nvPr>
        </p:nvSpPr>
        <p:spPr>
          <a:xfrm>
            <a:off x="1554786" y="1651350"/>
            <a:ext cx="6033600" cy="14046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5200"/>
              <a:buNone/>
              <a:defRPr sz="4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2" name="Google Shape;52;p13"/>
          <p:cNvSpPr txBox="1"/>
          <p:nvPr>
            <p:ph idx="1" type="subTitle"/>
          </p:nvPr>
        </p:nvSpPr>
        <p:spPr>
          <a:xfrm>
            <a:off x="2211900" y="3123750"/>
            <a:ext cx="4720200" cy="368400"/>
          </a:xfrm>
          <a:prstGeom prst="rect">
            <a:avLst/>
          </a:prstGeom>
          <a:noFill/>
          <a:ln>
            <a:noFill/>
          </a:ln>
        </p:spPr>
        <p:txBody>
          <a:bodyPr anchorCtr="0" anchor="t" bIns="91425" lIns="91425" spcFirstLastPara="1" rIns="91425" wrap="square" tIns="91425">
            <a:normAutofit/>
          </a:bodyPr>
          <a:lstStyle>
            <a:lvl1pPr lvl="0" rtl="0" algn="ctr">
              <a:lnSpc>
                <a:spcPct val="100000"/>
              </a:lnSpc>
              <a:spcBef>
                <a:spcPts val="0"/>
              </a:spcBef>
              <a:spcAft>
                <a:spcPts val="0"/>
              </a:spcAft>
              <a:buClr>
                <a:schemeClr val="dk2"/>
              </a:buClr>
              <a:buSzPts val="1800"/>
              <a:buNone/>
              <a:defRPr sz="1600"/>
            </a:lvl1pPr>
            <a:lvl2pPr lvl="1" rtl="0" algn="ctr">
              <a:lnSpc>
                <a:spcPct val="100000"/>
              </a:lnSpc>
              <a:spcBef>
                <a:spcPts val="0"/>
              </a:spcBef>
              <a:spcAft>
                <a:spcPts val="0"/>
              </a:spcAft>
              <a:buClr>
                <a:schemeClr val="accent2"/>
              </a:buClr>
              <a:buSzPts val="2800"/>
              <a:buNone/>
              <a:defRPr sz="2800">
                <a:solidFill>
                  <a:schemeClr val="accent2"/>
                </a:solidFill>
              </a:defRPr>
            </a:lvl2pPr>
            <a:lvl3pPr lvl="2" rtl="0" algn="ctr">
              <a:lnSpc>
                <a:spcPct val="100000"/>
              </a:lnSpc>
              <a:spcBef>
                <a:spcPts val="0"/>
              </a:spcBef>
              <a:spcAft>
                <a:spcPts val="0"/>
              </a:spcAft>
              <a:buClr>
                <a:schemeClr val="accent2"/>
              </a:buClr>
              <a:buSzPts val="2800"/>
              <a:buNone/>
              <a:defRPr sz="2800">
                <a:solidFill>
                  <a:schemeClr val="accent2"/>
                </a:solidFill>
              </a:defRPr>
            </a:lvl3pPr>
            <a:lvl4pPr lvl="3" rtl="0" algn="ctr">
              <a:lnSpc>
                <a:spcPct val="100000"/>
              </a:lnSpc>
              <a:spcBef>
                <a:spcPts val="0"/>
              </a:spcBef>
              <a:spcAft>
                <a:spcPts val="0"/>
              </a:spcAft>
              <a:buClr>
                <a:schemeClr val="accent2"/>
              </a:buClr>
              <a:buSzPts val="2800"/>
              <a:buNone/>
              <a:defRPr sz="2800">
                <a:solidFill>
                  <a:schemeClr val="accent2"/>
                </a:solidFill>
              </a:defRPr>
            </a:lvl4pPr>
            <a:lvl5pPr lvl="4" rtl="0" algn="ctr">
              <a:lnSpc>
                <a:spcPct val="100000"/>
              </a:lnSpc>
              <a:spcBef>
                <a:spcPts val="0"/>
              </a:spcBef>
              <a:spcAft>
                <a:spcPts val="0"/>
              </a:spcAft>
              <a:buClr>
                <a:schemeClr val="accent2"/>
              </a:buClr>
              <a:buSzPts val="2800"/>
              <a:buNone/>
              <a:defRPr sz="2800">
                <a:solidFill>
                  <a:schemeClr val="accent2"/>
                </a:solidFill>
              </a:defRPr>
            </a:lvl5pPr>
            <a:lvl6pPr lvl="5" rtl="0" algn="ctr">
              <a:lnSpc>
                <a:spcPct val="100000"/>
              </a:lnSpc>
              <a:spcBef>
                <a:spcPts val="0"/>
              </a:spcBef>
              <a:spcAft>
                <a:spcPts val="0"/>
              </a:spcAft>
              <a:buClr>
                <a:schemeClr val="accent2"/>
              </a:buClr>
              <a:buSzPts val="2800"/>
              <a:buNone/>
              <a:defRPr sz="2800">
                <a:solidFill>
                  <a:schemeClr val="accent2"/>
                </a:solidFill>
              </a:defRPr>
            </a:lvl6pPr>
            <a:lvl7pPr lvl="6" rtl="0" algn="ctr">
              <a:lnSpc>
                <a:spcPct val="100000"/>
              </a:lnSpc>
              <a:spcBef>
                <a:spcPts val="0"/>
              </a:spcBef>
              <a:spcAft>
                <a:spcPts val="0"/>
              </a:spcAft>
              <a:buClr>
                <a:schemeClr val="accent2"/>
              </a:buClr>
              <a:buSzPts val="2800"/>
              <a:buNone/>
              <a:defRPr sz="2800">
                <a:solidFill>
                  <a:schemeClr val="accent2"/>
                </a:solidFill>
              </a:defRPr>
            </a:lvl7pPr>
            <a:lvl8pPr lvl="7" rtl="0" algn="ctr">
              <a:lnSpc>
                <a:spcPct val="100000"/>
              </a:lnSpc>
              <a:spcBef>
                <a:spcPts val="0"/>
              </a:spcBef>
              <a:spcAft>
                <a:spcPts val="0"/>
              </a:spcAft>
              <a:buClr>
                <a:schemeClr val="accent2"/>
              </a:buClr>
              <a:buSzPts val="2800"/>
              <a:buNone/>
              <a:defRPr sz="2800">
                <a:solidFill>
                  <a:schemeClr val="accent2"/>
                </a:solidFill>
              </a:defRPr>
            </a:lvl8pPr>
            <a:lvl9pPr lvl="8" rtl="0" algn="ctr">
              <a:lnSpc>
                <a:spcPct val="100000"/>
              </a:lnSpc>
              <a:spcBef>
                <a:spcPts val="0"/>
              </a:spcBef>
              <a:spcAft>
                <a:spcPts val="0"/>
              </a:spcAft>
              <a:buClr>
                <a:schemeClr val="accent2"/>
              </a:buClr>
              <a:buSzPts val="2800"/>
              <a:buNone/>
              <a:defRPr sz="2800">
                <a:solidFill>
                  <a:schemeClr val="accent2"/>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bg>
      <p:bgPr>
        <a:solidFill>
          <a:schemeClr val="lt1"/>
        </a:solidFill>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1922971" y="1729813"/>
            <a:ext cx="2422800" cy="438900"/>
          </a:xfrm>
          <a:prstGeom prst="rect">
            <a:avLst/>
          </a:prstGeom>
          <a:noFill/>
        </p:spPr>
        <p:txBody>
          <a:bodyPr anchorCtr="0" anchor="b" bIns="91425" lIns="91425" spcFirstLastPara="1" rIns="91425" wrap="square" tIns="91425">
            <a:normAutofit/>
          </a:bodyPr>
          <a:lstStyle>
            <a:lvl1pPr lvl="0" rtl="0" algn="l">
              <a:lnSpc>
                <a:spcPct val="115000"/>
              </a:lnSpc>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55" name="Google Shape;55;p14"/>
          <p:cNvSpPr txBox="1"/>
          <p:nvPr>
            <p:ph hasCustomPrompt="1" idx="2" type="title"/>
          </p:nvPr>
        </p:nvSpPr>
        <p:spPr>
          <a:xfrm>
            <a:off x="879490" y="1729813"/>
            <a:ext cx="967200" cy="584700"/>
          </a:xfrm>
          <a:prstGeom prst="rect">
            <a:avLst/>
          </a:prstGeom>
          <a:noFill/>
          <a:ln>
            <a:noFill/>
          </a:ln>
        </p:spPr>
        <p:txBody>
          <a:bodyPr anchorCtr="0" anchor="b" bIns="91425" lIns="91425" spcFirstLastPara="1" rIns="91425" wrap="square" tIns="91425">
            <a:normAutofit/>
          </a:bodyPr>
          <a:lstStyle>
            <a:lvl1pPr lvl="0" rtl="0" algn="ctr">
              <a:lnSpc>
                <a:spcPct val="115000"/>
              </a:lnSpc>
              <a:spcBef>
                <a:spcPts val="0"/>
              </a:spcBef>
              <a:spcAft>
                <a:spcPts val="0"/>
              </a:spcAft>
              <a:buSzPts val="3000"/>
              <a:buNone/>
              <a:defRPr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 name="Google Shape;56;p14"/>
          <p:cNvSpPr txBox="1"/>
          <p:nvPr>
            <p:ph idx="1" type="subTitle"/>
          </p:nvPr>
        </p:nvSpPr>
        <p:spPr>
          <a:xfrm>
            <a:off x="1922971" y="2038117"/>
            <a:ext cx="2422800" cy="584700"/>
          </a:xfrm>
          <a:prstGeom prst="rect">
            <a:avLst/>
          </a:prstGeom>
        </p:spPr>
        <p:txBody>
          <a:bodyPr anchorCtr="0" anchor="t" bIns="91425" lIns="91425" spcFirstLastPara="1" rIns="91425" wrap="square" tIns="91425">
            <a:norm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57" name="Google Shape;57;p14"/>
          <p:cNvSpPr txBox="1"/>
          <p:nvPr>
            <p:ph idx="3" type="title"/>
          </p:nvPr>
        </p:nvSpPr>
        <p:spPr>
          <a:xfrm>
            <a:off x="5841720" y="1729813"/>
            <a:ext cx="2422800" cy="438900"/>
          </a:xfrm>
          <a:prstGeom prst="rect">
            <a:avLst/>
          </a:prstGeom>
          <a:noFill/>
        </p:spPr>
        <p:txBody>
          <a:bodyPr anchorCtr="0" anchor="b" bIns="91425" lIns="91425" spcFirstLastPara="1" rIns="91425" wrap="square" tIns="91425">
            <a:normAutofit/>
          </a:bodyPr>
          <a:lstStyle>
            <a:lvl1pPr lvl="0" rtl="0" algn="l">
              <a:lnSpc>
                <a:spcPct val="115000"/>
              </a:lnSpc>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58" name="Google Shape;58;p14"/>
          <p:cNvSpPr txBox="1"/>
          <p:nvPr>
            <p:ph hasCustomPrompt="1" idx="4" type="title"/>
          </p:nvPr>
        </p:nvSpPr>
        <p:spPr>
          <a:xfrm>
            <a:off x="4798309" y="1729813"/>
            <a:ext cx="967200" cy="584700"/>
          </a:xfrm>
          <a:prstGeom prst="rect">
            <a:avLst/>
          </a:prstGeom>
          <a:noFill/>
          <a:ln>
            <a:noFill/>
          </a:ln>
        </p:spPr>
        <p:txBody>
          <a:bodyPr anchorCtr="0" anchor="b" bIns="91425" lIns="91425" spcFirstLastPara="1" rIns="91425" wrap="square" tIns="91425">
            <a:normAutofit/>
          </a:bodyPr>
          <a:lstStyle>
            <a:lvl1pPr lvl="0" rtl="0" algn="ctr">
              <a:lnSpc>
                <a:spcPct val="115000"/>
              </a:lnSpc>
              <a:spcBef>
                <a:spcPts val="0"/>
              </a:spcBef>
              <a:spcAft>
                <a:spcPts val="0"/>
              </a:spcAft>
              <a:buSzPts val="3000"/>
              <a:buNone/>
              <a:defRPr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 name="Google Shape;59;p14"/>
          <p:cNvSpPr txBox="1"/>
          <p:nvPr>
            <p:ph idx="5" type="subTitle"/>
          </p:nvPr>
        </p:nvSpPr>
        <p:spPr>
          <a:xfrm>
            <a:off x="5841720" y="2038110"/>
            <a:ext cx="2422800" cy="584700"/>
          </a:xfrm>
          <a:prstGeom prst="rect">
            <a:avLst/>
          </a:prstGeom>
        </p:spPr>
        <p:txBody>
          <a:bodyPr anchorCtr="0" anchor="t" bIns="91425" lIns="91425" spcFirstLastPara="1" rIns="91425" wrap="square" tIns="91425">
            <a:norm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0" name="Google Shape;60;p14"/>
          <p:cNvSpPr txBox="1"/>
          <p:nvPr>
            <p:ph idx="6" type="title"/>
          </p:nvPr>
        </p:nvSpPr>
        <p:spPr>
          <a:xfrm>
            <a:off x="1922971" y="3095085"/>
            <a:ext cx="2422800" cy="438900"/>
          </a:xfrm>
          <a:prstGeom prst="rect">
            <a:avLst/>
          </a:prstGeom>
          <a:noFill/>
        </p:spPr>
        <p:txBody>
          <a:bodyPr anchorCtr="0" anchor="b" bIns="91425" lIns="91425" spcFirstLastPara="1" rIns="91425" wrap="square" tIns="91425">
            <a:normAutofit/>
          </a:bodyPr>
          <a:lstStyle>
            <a:lvl1pPr lvl="0" rtl="0" algn="l">
              <a:lnSpc>
                <a:spcPct val="115000"/>
              </a:lnSpc>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61" name="Google Shape;61;p14"/>
          <p:cNvSpPr txBox="1"/>
          <p:nvPr>
            <p:ph hasCustomPrompt="1" idx="7" type="title"/>
          </p:nvPr>
        </p:nvSpPr>
        <p:spPr>
          <a:xfrm>
            <a:off x="879490" y="3094915"/>
            <a:ext cx="967200" cy="585300"/>
          </a:xfrm>
          <a:prstGeom prst="rect">
            <a:avLst/>
          </a:prstGeom>
          <a:noFill/>
          <a:ln>
            <a:noFill/>
          </a:ln>
        </p:spPr>
        <p:txBody>
          <a:bodyPr anchorCtr="0" anchor="b" bIns="91425" lIns="91425" spcFirstLastPara="1" rIns="91425" wrap="square" tIns="91425">
            <a:normAutofit/>
          </a:bodyPr>
          <a:lstStyle>
            <a:lvl1pPr lvl="0" rtl="0" algn="ctr">
              <a:spcBef>
                <a:spcPts val="0"/>
              </a:spcBef>
              <a:spcAft>
                <a:spcPts val="0"/>
              </a:spcAft>
              <a:buSzPts val="3000"/>
              <a:buNone/>
              <a:defRPr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2" name="Google Shape;62;p14"/>
          <p:cNvSpPr txBox="1"/>
          <p:nvPr>
            <p:ph idx="8" type="subTitle"/>
          </p:nvPr>
        </p:nvSpPr>
        <p:spPr>
          <a:xfrm>
            <a:off x="1922971" y="3403388"/>
            <a:ext cx="2422800" cy="584700"/>
          </a:xfrm>
          <a:prstGeom prst="rect">
            <a:avLst/>
          </a:prstGeom>
        </p:spPr>
        <p:txBody>
          <a:bodyPr anchorCtr="0" anchor="t" bIns="91425" lIns="91425" spcFirstLastPara="1" rIns="91425" wrap="square" tIns="91425">
            <a:norm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3" name="Google Shape;63;p14"/>
          <p:cNvSpPr txBox="1"/>
          <p:nvPr>
            <p:ph idx="9" type="title"/>
          </p:nvPr>
        </p:nvSpPr>
        <p:spPr>
          <a:xfrm>
            <a:off x="5841720" y="3095085"/>
            <a:ext cx="2422800" cy="438900"/>
          </a:xfrm>
          <a:prstGeom prst="rect">
            <a:avLst/>
          </a:prstGeom>
          <a:noFill/>
        </p:spPr>
        <p:txBody>
          <a:bodyPr anchorCtr="0" anchor="b" bIns="91425" lIns="91425" spcFirstLastPara="1" rIns="91425" wrap="square" tIns="91425">
            <a:normAutofit/>
          </a:bodyPr>
          <a:lstStyle>
            <a:lvl1pPr lvl="0" rtl="0" algn="l">
              <a:lnSpc>
                <a:spcPct val="115000"/>
              </a:lnSpc>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64" name="Google Shape;64;p14"/>
          <p:cNvSpPr txBox="1"/>
          <p:nvPr>
            <p:ph hasCustomPrompt="1" idx="13" type="title"/>
          </p:nvPr>
        </p:nvSpPr>
        <p:spPr>
          <a:xfrm>
            <a:off x="4798309" y="3094914"/>
            <a:ext cx="967200" cy="585300"/>
          </a:xfrm>
          <a:prstGeom prst="rect">
            <a:avLst/>
          </a:prstGeom>
          <a:noFill/>
          <a:ln>
            <a:noFill/>
          </a:ln>
        </p:spPr>
        <p:txBody>
          <a:bodyPr anchorCtr="0" anchor="b" bIns="91425" lIns="91425" spcFirstLastPara="1" rIns="91425" wrap="square" tIns="91425">
            <a:normAutofit/>
          </a:bodyPr>
          <a:lstStyle>
            <a:lvl1pPr lvl="0" rtl="0" algn="ctr">
              <a:spcBef>
                <a:spcPts val="0"/>
              </a:spcBef>
              <a:spcAft>
                <a:spcPts val="0"/>
              </a:spcAft>
              <a:buSzPts val="3000"/>
              <a:buNone/>
              <a:defRPr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 name="Google Shape;65;p14"/>
          <p:cNvSpPr txBox="1"/>
          <p:nvPr>
            <p:ph idx="14" type="subTitle"/>
          </p:nvPr>
        </p:nvSpPr>
        <p:spPr>
          <a:xfrm>
            <a:off x="5841720" y="3403388"/>
            <a:ext cx="2422800" cy="584700"/>
          </a:xfrm>
          <a:prstGeom prst="rect">
            <a:avLst/>
          </a:prstGeom>
        </p:spPr>
        <p:txBody>
          <a:bodyPr anchorCtr="0" anchor="t" bIns="91425" lIns="91425" spcFirstLastPara="1" rIns="91425" wrap="square" tIns="91425">
            <a:norm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6" name="Google Shape;66;p14"/>
          <p:cNvSpPr txBox="1"/>
          <p:nvPr>
            <p:ph idx="15" type="title"/>
          </p:nvPr>
        </p:nvSpPr>
        <p:spPr>
          <a:xfrm>
            <a:off x="720000" y="496318"/>
            <a:ext cx="7704000" cy="6315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bg>
      <p:bgPr>
        <a:solidFill>
          <a:schemeClr val="lt1"/>
        </a:solidFill>
      </p:bgPr>
    </p:bg>
    <p:spTree>
      <p:nvGrpSpPr>
        <p:cNvPr id="67" name="Shape 67"/>
        <p:cNvGrpSpPr/>
        <p:nvPr/>
      </p:nvGrpSpPr>
      <p:grpSpPr>
        <a:xfrm>
          <a:off x="0" y="0"/>
          <a:ext cx="0" cy="0"/>
          <a:chOff x="0" y="0"/>
          <a:chExt cx="0" cy="0"/>
        </a:xfrm>
      </p:grpSpPr>
      <p:sp>
        <p:nvSpPr>
          <p:cNvPr id="68" name="Google Shape;68;p15"/>
          <p:cNvSpPr txBox="1"/>
          <p:nvPr>
            <p:ph type="title"/>
          </p:nvPr>
        </p:nvSpPr>
        <p:spPr>
          <a:xfrm>
            <a:off x="2652000" y="2316125"/>
            <a:ext cx="3840000" cy="737700"/>
          </a:xfrm>
          <a:prstGeom prst="rect">
            <a:avLst/>
          </a:prstGeom>
        </p:spPr>
        <p:txBody>
          <a:bodyPr anchorCtr="0" anchor="t" bIns="91425" lIns="91425" spcFirstLastPara="1" rIns="91425" wrap="square" tIns="91425">
            <a:normAutofit/>
          </a:bodyPr>
          <a:lstStyle>
            <a:lvl1pPr lvl="0" rtl="0">
              <a:lnSpc>
                <a:spcPct val="115000"/>
              </a:lnSpc>
              <a:spcBef>
                <a:spcPts val="0"/>
              </a:spcBef>
              <a:spcAft>
                <a:spcPts val="0"/>
              </a:spcAft>
              <a:buSzPts val="3600"/>
              <a:buNone/>
              <a:defRPr sz="34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9" name="Google Shape;69;p15"/>
          <p:cNvSpPr txBox="1"/>
          <p:nvPr>
            <p:ph hasCustomPrompt="1" idx="2" type="title"/>
          </p:nvPr>
        </p:nvSpPr>
        <p:spPr>
          <a:xfrm>
            <a:off x="4078650" y="1550077"/>
            <a:ext cx="986700" cy="737700"/>
          </a:xfrm>
          <a:prstGeom prst="rect">
            <a:avLst/>
          </a:prstGeom>
          <a:noFill/>
          <a:ln>
            <a:noFill/>
          </a:ln>
        </p:spPr>
        <p:txBody>
          <a:bodyPr anchorCtr="0" anchor="b" bIns="91425" lIns="91425" spcFirstLastPara="1" rIns="91425" wrap="square" tIns="91425">
            <a:normAutofit/>
          </a:bodyPr>
          <a:lstStyle>
            <a:lvl1pPr lvl="0" rtl="0" algn="ctr">
              <a:lnSpc>
                <a:spcPct val="115000"/>
              </a:lnSpc>
              <a:spcBef>
                <a:spcPts val="0"/>
              </a:spcBef>
              <a:spcAft>
                <a:spcPts val="0"/>
              </a:spcAft>
              <a:buSzPts val="6000"/>
              <a:buNone/>
              <a:defRPr sz="48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70" name="Google Shape;70;p15"/>
          <p:cNvSpPr txBox="1"/>
          <p:nvPr>
            <p:ph idx="1" type="subTitle"/>
          </p:nvPr>
        </p:nvSpPr>
        <p:spPr>
          <a:xfrm>
            <a:off x="3008250" y="2979925"/>
            <a:ext cx="3127500" cy="613500"/>
          </a:xfrm>
          <a:prstGeom prst="rect">
            <a:avLst/>
          </a:prstGeom>
          <a:ln>
            <a:noFill/>
          </a:ln>
        </p:spPr>
        <p:txBody>
          <a:bodyPr anchorCtr="0" anchor="t" bIns="91425" lIns="91425" spcFirstLastPara="1" rIns="91425" wrap="square" tIns="91425">
            <a:normAutofit/>
          </a:bodyPr>
          <a:lstStyle>
            <a:lvl1pPr lvl="0" rtl="0" algn="ctr">
              <a:spcBef>
                <a:spcPts val="0"/>
              </a:spcBef>
              <a:spcAft>
                <a:spcPts val="0"/>
              </a:spcAft>
              <a:buSzPts val="18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
    <p:bg>
      <p:bgPr>
        <a:solidFill>
          <a:schemeClr val="lt1"/>
        </a:solidFill>
      </p:bgPr>
    </p:bg>
    <p:spTree>
      <p:nvGrpSpPr>
        <p:cNvPr id="71" name="Shape 71"/>
        <p:cNvGrpSpPr/>
        <p:nvPr/>
      </p:nvGrpSpPr>
      <p:grpSpPr>
        <a:xfrm>
          <a:off x="0" y="0"/>
          <a:ext cx="0" cy="0"/>
          <a:chOff x="0" y="0"/>
          <a:chExt cx="0" cy="0"/>
        </a:xfrm>
      </p:grpSpPr>
      <p:sp>
        <p:nvSpPr>
          <p:cNvPr id="72" name="Google Shape;72;p16"/>
          <p:cNvSpPr txBox="1"/>
          <p:nvPr>
            <p:ph type="title"/>
          </p:nvPr>
        </p:nvSpPr>
        <p:spPr>
          <a:xfrm>
            <a:off x="720014" y="1204251"/>
            <a:ext cx="4900500" cy="896400"/>
          </a:xfrm>
          <a:prstGeom prst="rect">
            <a:avLst/>
          </a:prstGeom>
        </p:spPr>
        <p:txBody>
          <a:bodyPr anchorCtr="0" anchor="t" bIns="91425" lIns="91425" spcFirstLastPara="1" rIns="91425" wrap="square" tIns="91425">
            <a:normAutofit/>
          </a:bodyPr>
          <a:lstStyle>
            <a:lvl1pPr lvl="0" rtl="0" algn="l">
              <a:lnSpc>
                <a:spcPct val="115000"/>
              </a:lnSpc>
              <a:spcBef>
                <a:spcPts val="0"/>
              </a:spcBef>
              <a:spcAft>
                <a:spcPts val="0"/>
              </a:spcAft>
              <a:buSzPts val="3600"/>
              <a:buNone/>
              <a:defRPr sz="4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73" name="Google Shape;73;p16"/>
          <p:cNvSpPr txBox="1"/>
          <p:nvPr>
            <p:ph idx="1" type="subTitle"/>
          </p:nvPr>
        </p:nvSpPr>
        <p:spPr>
          <a:xfrm>
            <a:off x="720000" y="2100676"/>
            <a:ext cx="4900500" cy="1236300"/>
          </a:xfrm>
          <a:prstGeom prst="rect">
            <a:avLst/>
          </a:prstGeom>
        </p:spPr>
        <p:txBody>
          <a:bodyPr anchorCtr="0" anchor="t" bIns="91425" lIns="91425" spcFirstLastPara="1" rIns="91425" wrap="square" tIns="91425">
            <a:normAutofit/>
          </a:bodyPr>
          <a:lstStyle>
            <a:lvl1pPr lvl="0" rtl="0">
              <a:spcBef>
                <a:spcPts val="0"/>
              </a:spcBef>
              <a:spcAft>
                <a:spcPts val="0"/>
              </a:spcAft>
              <a:buSzPts val="18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1">
  <p:cSld name="CUSTOM_11">
    <p:bg>
      <p:bgPr>
        <a:solidFill>
          <a:schemeClr val="lt1"/>
        </a:solidFill>
      </p:bgPr>
    </p:bg>
    <p:spTree>
      <p:nvGrpSpPr>
        <p:cNvPr id="74" name="Shape 74"/>
        <p:cNvGrpSpPr/>
        <p:nvPr/>
      </p:nvGrpSpPr>
      <p:grpSpPr>
        <a:xfrm>
          <a:off x="0" y="0"/>
          <a:ext cx="0" cy="0"/>
          <a:chOff x="0" y="0"/>
          <a:chExt cx="0" cy="0"/>
        </a:xfrm>
      </p:grpSpPr>
      <p:sp>
        <p:nvSpPr>
          <p:cNvPr id="75" name="Google Shape;75;p17"/>
          <p:cNvSpPr txBox="1"/>
          <p:nvPr>
            <p:ph type="title"/>
          </p:nvPr>
        </p:nvSpPr>
        <p:spPr>
          <a:xfrm>
            <a:off x="2652000" y="2316125"/>
            <a:ext cx="3840000" cy="737700"/>
          </a:xfrm>
          <a:prstGeom prst="rect">
            <a:avLst/>
          </a:prstGeom>
        </p:spPr>
        <p:txBody>
          <a:bodyPr anchorCtr="0" anchor="t" bIns="91425" lIns="91425" spcFirstLastPara="1" rIns="91425" wrap="square" tIns="91425">
            <a:normAutofit/>
          </a:bodyPr>
          <a:lstStyle>
            <a:lvl1pPr lvl="0" rtl="0">
              <a:lnSpc>
                <a:spcPct val="115000"/>
              </a:lnSpc>
              <a:spcBef>
                <a:spcPts val="0"/>
              </a:spcBef>
              <a:spcAft>
                <a:spcPts val="0"/>
              </a:spcAft>
              <a:buSzPts val="3600"/>
              <a:buNone/>
              <a:defRPr sz="34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76" name="Google Shape;76;p17"/>
          <p:cNvSpPr txBox="1"/>
          <p:nvPr>
            <p:ph hasCustomPrompt="1" idx="2" type="title"/>
          </p:nvPr>
        </p:nvSpPr>
        <p:spPr>
          <a:xfrm>
            <a:off x="4078650" y="1550077"/>
            <a:ext cx="986700" cy="737700"/>
          </a:xfrm>
          <a:prstGeom prst="rect">
            <a:avLst/>
          </a:prstGeom>
          <a:noFill/>
          <a:ln>
            <a:noFill/>
          </a:ln>
        </p:spPr>
        <p:txBody>
          <a:bodyPr anchorCtr="0" anchor="b" bIns="91425" lIns="91425" spcFirstLastPara="1" rIns="91425" wrap="square" tIns="91425">
            <a:normAutofit/>
          </a:bodyPr>
          <a:lstStyle>
            <a:lvl1pPr lvl="0" rtl="0" algn="ctr">
              <a:lnSpc>
                <a:spcPct val="115000"/>
              </a:lnSpc>
              <a:spcBef>
                <a:spcPts val="0"/>
              </a:spcBef>
              <a:spcAft>
                <a:spcPts val="0"/>
              </a:spcAft>
              <a:buSzPts val="6000"/>
              <a:buNone/>
              <a:defRPr sz="48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77" name="Google Shape;77;p17"/>
          <p:cNvSpPr txBox="1"/>
          <p:nvPr>
            <p:ph idx="1" type="subTitle"/>
          </p:nvPr>
        </p:nvSpPr>
        <p:spPr>
          <a:xfrm>
            <a:off x="3008250" y="2979925"/>
            <a:ext cx="3127500" cy="613500"/>
          </a:xfrm>
          <a:prstGeom prst="rect">
            <a:avLst/>
          </a:prstGeom>
          <a:ln>
            <a:noFill/>
          </a:ln>
        </p:spPr>
        <p:txBody>
          <a:bodyPr anchorCtr="0" anchor="t" bIns="91425" lIns="91425" spcFirstLastPara="1" rIns="91425" wrap="square" tIns="91425">
            <a:normAutofit/>
          </a:bodyPr>
          <a:lstStyle>
            <a:lvl1pPr lvl="0" rtl="0" algn="ctr">
              <a:spcBef>
                <a:spcPts val="0"/>
              </a:spcBef>
              <a:spcAft>
                <a:spcPts val="0"/>
              </a:spcAft>
              <a:buSzPts val="18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4">
    <p:bg>
      <p:bgPr>
        <a:solidFill>
          <a:schemeClr val="lt1"/>
        </a:solidFill>
      </p:bgPr>
    </p:bg>
    <p:spTree>
      <p:nvGrpSpPr>
        <p:cNvPr id="78" name="Shape 78"/>
        <p:cNvGrpSpPr/>
        <p:nvPr/>
      </p:nvGrpSpPr>
      <p:grpSpPr>
        <a:xfrm>
          <a:off x="0" y="0"/>
          <a:ext cx="0" cy="0"/>
          <a:chOff x="0" y="0"/>
          <a:chExt cx="0" cy="0"/>
        </a:xfrm>
      </p:grpSpPr>
      <p:sp>
        <p:nvSpPr>
          <p:cNvPr id="79" name="Google Shape;79;p18"/>
          <p:cNvSpPr txBox="1"/>
          <p:nvPr>
            <p:ph type="title"/>
          </p:nvPr>
        </p:nvSpPr>
        <p:spPr>
          <a:xfrm>
            <a:off x="720000" y="496318"/>
            <a:ext cx="7704000" cy="6315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0" name="Google Shape;80;p18"/>
          <p:cNvSpPr txBox="1"/>
          <p:nvPr>
            <p:ph idx="2" type="title"/>
          </p:nvPr>
        </p:nvSpPr>
        <p:spPr>
          <a:xfrm>
            <a:off x="1892581" y="1441906"/>
            <a:ext cx="2239500" cy="438900"/>
          </a:xfrm>
          <a:prstGeom prst="rect">
            <a:avLst/>
          </a:prstGeom>
        </p:spPr>
        <p:txBody>
          <a:bodyPr anchorCtr="0" anchor="b" bIns="91425" lIns="91425" spcFirstLastPara="1" rIns="91425" wrap="square" tIns="91425">
            <a:normAutofit/>
          </a:bodyPr>
          <a:lstStyle>
            <a:lvl1pPr lvl="0" rtl="0">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81" name="Google Shape;81;p18"/>
          <p:cNvSpPr txBox="1"/>
          <p:nvPr>
            <p:ph idx="1" type="subTitle"/>
          </p:nvPr>
        </p:nvSpPr>
        <p:spPr>
          <a:xfrm>
            <a:off x="1892581" y="1767033"/>
            <a:ext cx="2239500" cy="8910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2" name="Google Shape;82;p18"/>
          <p:cNvSpPr txBox="1"/>
          <p:nvPr>
            <p:ph idx="3" type="title"/>
          </p:nvPr>
        </p:nvSpPr>
        <p:spPr>
          <a:xfrm>
            <a:off x="5014602" y="1441900"/>
            <a:ext cx="2239500" cy="438900"/>
          </a:xfrm>
          <a:prstGeom prst="rect">
            <a:avLst/>
          </a:prstGeom>
        </p:spPr>
        <p:txBody>
          <a:bodyPr anchorCtr="0" anchor="b" bIns="91425" lIns="91425" spcFirstLastPara="1" rIns="91425" wrap="square" tIns="91425">
            <a:normAutofit/>
          </a:bodyPr>
          <a:lstStyle>
            <a:lvl1pPr lvl="0" rtl="0">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83" name="Google Shape;83;p18"/>
          <p:cNvSpPr txBox="1"/>
          <p:nvPr>
            <p:ph idx="4" type="subTitle"/>
          </p:nvPr>
        </p:nvSpPr>
        <p:spPr>
          <a:xfrm>
            <a:off x="5014601" y="1770800"/>
            <a:ext cx="2239500" cy="8910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4" name="Google Shape;84;p18"/>
          <p:cNvSpPr txBox="1"/>
          <p:nvPr>
            <p:ph idx="5" type="title"/>
          </p:nvPr>
        </p:nvSpPr>
        <p:spPr>
          <a:xfrm>
            <a:off x="1892581" y="3020389"/>
            <a:ext cx="2239500" cy="438900"/>
          </a:xfrm>
          <a:prstGeom prst="rect">
            <a:avLst/>
          </a:prstGeom>
        </p:spPr>
        <p:txBody>
          <a:bodyPr anchorCtr="0" anchor="b" bIns="91425" lIns="91425" spcFirstLastPara="1" rIns="91425" wrap="square" tIns="91425">
            <a:normAutofit/>
          </a:bodyPr>
          <a:lstStyle>
            <a:lvl1pPr lvl="0" rtl="0">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85" name="Google Shape;85;p18"/>
          <p:cNvSpPr txBox="1"/>
          <p:nvPr>
            <p:ph idx="6" type="subTitle"/>
          </p:nvPr>
        </p:nvSpPr>
        <p:spPr>
          <a:xfrm>
            <a:off x="1892581" y="3341118"/>
            <a:ext cx="2239500" cy="8910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6" name="Google Shape;86;p18"/>
          <p:cNvSpPr txBox="1"/>
          <p:nvPr>
            <p:ph idx="7" type="title"/>
          </p:nvPr>
        </p:nvSpPr>
        <p:spPr>
          <a:xfrm>
            <a:off x="5014600" y="3020391"/>
            <a:ext cx="2239500" cy="438900"/>
          </a:xfrm>
          <a:prstGeom prst="rect">
            <a:avLst/>
          </a:prstGeom>
        </p:spPr>
        <p:txBody>
          <a:bodyPr anchorCtr="0" anchor="b" bIns="91425" lIns="91425" spcFirstLastPara="1" rIns="91425" wrap="square" tIns="91425">
            <a:normAutofit/>
          </a:bodyPr>
          <a:lstStyle>
            <a:lvl1pPr lvl="0" rtl="0">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87" name="Google Shape;87;p18"/>
          <p:cNvSpPr txBox="1"/>
          <p:nvPr>
            <p:ph idx="8" type="subTitle"/>
          </p:nvPr>
        </p:nvSpPr>
        <p:spPr>
          <a:xfrm>
            <a:off x="5014600" y="3341121"/>
            <a:ext cx="2239500" cy="8910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5">
    <p:bg>
      <p:bgPr>
        <a:solidFill>
          <a:schemeClr val="lt1"/>
        </a:solidFill>
      </p:bgPr>
    </p:bg>
    <p:spTree>
      <p:nvGrpSpPr>
        <p:cNvPr id="88" name="Shape 88"/>
        <p:cNvGrpSpPr/>
        <p:nvPr/>
      </p:nvGrpSpPr>
      <p:grpSpPr>
        <a:xfrm>
          <a:off x="0" y="0"/>
          <a:ext cx="0" cy="0"/>
          <a:chOff x="0" y="0"/>
          <a:chExt cx="0" cy="0"/>
        </a:xfrm>
      </p:grpSpPr>
      <p:sp>
        <p:nvSpPr>
          <p:cNvPr id="89" name="Google Shape;89;p19"/>
          <p:cNvSpPr txBox="1"/>
          <p:nvPr>
            <p:ph type="title"/>
          </p:nvPr>
        </p:nvSpPr>
        <p:spPr>
          <a:xfrm>
            <a:off x="720000" y="496318"/>
            <a:ext cx="7704000" cy="6315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0" name="Google Shape;90;p19"/>
          <p:cNvSpPr txBox="1"/>
          <p:nvPr>
            <p:ph idx="2" type="title"/>
          </p:nvPr>
        </p:nvSpPr>
        <p:spPr>
          <a:xfrm>
            <a:off x="1303839" y="3057859"/>
            <a:ext cx="2070600" cy="438900"/>
          </a:xfrm>
          <a:prstGeom prst="rect">
            <a:avLst/>
          </a:prstGeom>
        </p:spPr>
        <p:txBody>
          <a:bodyPr anchorCtr="0" anchor="b" bIns="91425" lIns="91425" spcFirstLastPara="1" rIns="91425" wrap="square" tIns="91425">
            <a:normAutofit/>
          </a:bodyPr>
          <a:lstStyle>
            <a:lvl1pPr lvl="0" rtl="0">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91" name="Google Shape;91;p19"/>
          <p:cNvSpPr txBox="1"/>
          <p:nvPr>
            <p:ph idx="1" type="subTitle"/>
          </p:nvPr>
        </p:nvSpPr>
        <p:spPr>
          <a:xfrm>
            <a:off x="1303839" y="3389274"/>
            <a:ext cx="2070600" cy="6144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2" name="Google Shape;92;p19"/>
          <p:cNvSpPr txBox="1"/>
          <p:nvPr>
            <p:ph idx="3" type="title"/>
          </p:nvPr>
        </p:nvSpPr>
        <p:spPr>
          <a:xfrm>
            <a:off x="3520838" y="1628750"/>
            <a:ext cx="2089500" cy="438900"/>
          </a:xfrm>
          <a:prstGeom prst="rect">
            <a:avLst/>
          </a:prstGeom>
        </p:spPr>
        <p:txBody>
          <a:bodyPr anchorCtr="0" anchor="b" bIns="91425" lIns="91425" spcFirstLastPara="1" rIns="91425" wrap="square" tIns="91425">
            <a:normAutofit/>
          </a:bodyPr>
          <a:lstStyle>
            <a:lvl1pPr lvl="0" rtl="0">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93" name="Google Shape;93;p19"/>
          <p:cNvSpPr txBox="1"/>
          <p:nvPr>
            <p:ph idx="4" type="subTitle"/>
          </p:nvPr>
        </p:nvSpPr>
        <p:spPr>
          <a:xfrm>
            <a:off x="3520838" y="1960164"/>
            <a:ext cx="2089500" cy="6144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4" name="Google Shape;94;p19"/>
          <p:cNvSpPr txBox="1"/>
          <p:nvPr>
            <p:ph idx="5" type="title"/>
          </p:nvPr>
        </p:nvSpPr>
        <p:spPr>
          <a:xfrm>
            <a:off x="1303839" y="1628725"/>
            <a:ext cx="2070600" cy="438900"/>
          </a:xfrm>
          <a:prstGeom prst="rect">
            <a:avLst/>
          </a:prstGeom>
        </p:spPr>
        <p:txBody>
          <a:bodyPr anchorCtr="0" anchor="b" bIns="91425" lIns="91425" spcFirstLastPara="1" rIns="91425" wrap="square" tIns="91425">
            <a:normAutofit/>
          </a:bodyPr>
          <a:lstStyle>
            <a:lvl1pPr lvl="0" rtl="0">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95" name="Google Shape;95;p19"/>
          <p:cNvSpPr txBox="1"/>
          <p:nvPr>
            <p:ph idx="6" type="subTitle"/>
          </p:nvPr>
        </p:nvSpPr>
        <p:spPr>
          <a:xfrm>
            <a:off x="1303839" y="1954855"/>
            <a:ext cx="2070600" cy="6144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6" name="Google Shape;96;p19"/>
          <p:cNvSpPr txBox="1"/>
          <p:nvPr>
            <p:ph idx="7" type="title"/>
          </p:nvPr>
        </p:nvSpPr>
        <p:spPr>
          <a:xfrm>
            <a:off x="3520838" y="3057864"/>
            <a:ext cx="2089500" cy="438900"/>
          </a:xfrm>
          <a:prstGeom prst="rect">
            <a:avLst/>
          </a:prstGeom>
        </p:spPr>
        <p:txBody>
          <a:bodyPr anchorCtr="0" anchor="b" bIns="91425" lIns="91425" spcFirstLastPara="1" rIns="91425" wrap="square" tIns="91425">
            <a:normAutofit/>
          </a:bodyPr>
          <a:lstStyle>
            <a:lvl1pPr lvl="0" rtl="0">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97" name="Google Shape;97;p19"/>
          <p:cNvSpPr txBox="1"/>
          <p:nvPr>
            <p:ph idx="8" type="subTitle"/>
          </p:nvPr>
        </p:nvSpPr>
        <p:spPr>
          <a:xfrm>
            <a:off x="3520838" y="3389275"/>
            <a:ext cx="2089500" cy="6144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8" name="Google Shape;98;p19"/>
          <p:cNvSpPr txBox="1"/>
          <p:nvPr>
            <p:ph idx="9" type="title"/>
          </p:nvPr>
        </p:nvSpPr>
        <p:spPr>
          <a:xfrm>
            <a:off x="5756738" y="1628750"/>
            <a:ext cx="2089500" cy="438900"/>
          </a:xfrm>
          <a:prstGeom prst="rect">
            <a:avLst/>
          </a:prstGeom>
        </p:spPr>
        <p:txBody>
          <a:bodyPr anchorCtr="0" anchor="b" bIns="91425" lIns="91425" spcFirstLastPara="1" rIns="91425" wrap="square" tIns="91425">
            <a:normAutofit/>
          </a:bodyPr>
          <a:lstStyle>
            <a:lvl1pPr lvl="0" rtl="0">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99" name="Google Shape;99;p19"/>
          <p:cNvSpPr txBox="1"/>
          <p:nvPr>
            <p:ph idx="13" type="subTitle"/>
          </p:nvPr>
        </p:nvSpPr>
        <p:spPr>
          <a:xfrm>
            <a:off x="5756738" y="1960161"/>
            <a:ext cx="2089500" cy="6144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0" name="Google Shape;100;p19"/>
          <p:cNvSpPr txBox="1"/>
          <p:nvPr>
            <p:ph idx="14" type="title"/>
          </p:nvPr>
        </p:nvSpPr>
        <p:spPr>
          <a:xfrm>
            <a:off x="5756738" y="3057864"/>
            <a:ext cx="2089500" cy="438900"/>
          </a:xfrm>
          <a:prstGeom prst="rect">
            <a:avLst/>
          </a:prstGeom>
        </p:spPr>
        <p:txBody>
          <a:bodyPr anchorCtr="0" anchor="b" bIns="91425" lIns="91425" spcFirstLastPara="1" rIns="91425" wrap="square" tIns="91425">
            <a:normAutofit/>
          </a:bodyPr>
          <a:lstStyle>
            <a:lvl1pPr lvl="0" rtl="0">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01" name="Google Shape;101;p19"/>
          <p:cNvSpPr txBox="1"/>
          <p:nvPr>
            <p:ph idx="15" type="subTitle"/>
          </p:nvPr>
        </p:nvSpPr>
        <p:spPr>
          <a:xfrm>
            <a:off x="5756738" y="3389275"/>
            <a:ext cx="2089500" cy="6144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3">
    <p:bg>
      <p:bgPr>
        <a:solidFill>
          <a:schemeClr val="lt1"/>
        </a:solidFill>
      </p:bgPr>
    </p:bg>
    <p:spTree>
      <p:nvGrpSpPr>
        <p:cNvPr id="102" name="Shape 102"/>
        <p:cNvGrpSpPr/>
        <p:nvPr/>
      </p:nvGrpSpPr>
      <p:grpSpPr>
        <a:xfrm>
          <a:off x="0" y="0"/>
          <a:ext cx="0" cy="0"/>
          <a:chOff x="0" y="0"/>
          <a:chExt cx="0" cy="0"/>
        </a:xfrm>
      </p:grpSpPr>
      <p:sp>
        <p:nvSpPr>
          <p:cNvPr id="103" name="Google Shape;103;p20"/>
          <p:cNvSpPr txBox="1"/>
          <p:nvPr>
            <p:ph type="title"/>
          </p:nvPr>
        </p:nvSpPr>
        <p:spPr>
          <a:xfrm>
            <a:off x="985074" y="2757579"/>
            <a:ext cx="2144100" cy="438900"/>
          </a:xfrm>
          <a:prstGeom prst="rect">
            <a:avLst/>
          </a:prstGeom>
        </p:spPr>
        <p:txBody>
          <a:bodyPr anchorCtr="0" anchor="b" bIns="91425" lIns="91425" spcFirstLastPara="1" rIns="91425" wrap="square" tIns="91425">
            <a:normAutofit/>
          </a:bodyPr>
          <a:lstStyle>
            <a:lvl1pPr lvl="0" rtl="0">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04" name="Google Shape;104;p20"/>
          <p:cNvSpPr txBox="1"/>
          <p:nvPr>
            <p:ph idx="1" type="subTitle"/>
          </p:nvPr>
        </p:nvSpPr>
        <p:spPr>
          <a:xfrm>
            <a:off x="985074" y="3141663"/>
            <a:ext cx="2144100" cy="8868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5" name="Google Shape;105;p20"/>
          <p:cNvSpPr txBox="1"/>
          <p:nvPr>
            <p:ph idx="2" type="title"/>
          </p:nvPr>
        </p:nvSpPr>
        <p:spPr>
          <a:xfrm>
            <a:off x="3503346" y="2757579"/>
            <a:ext cx="2144100" cy="438900"/>
          </a:xfrm>
          <a:prstGeom prst="rect">
            <a:avLst/>
          </a:prstGeom>
        </p:spPr>
        <p:txBody>
          <a:bodyPr anchorCtr="0" anchor="b" bIns="91425" lIns="91425" spcFirstLastPara="1" rIns="91425" wrap="square" tIns="91425">
            <a:normAutofit/>
          </a:bodyPr>
          <a:lstStyle>
            <a:lvl1pPr lvl="0" rtl="0">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06" name="Google Shape;106;p20"/>
          <p:cNvSpPr txBox="1"/>
          <p:nvPr>
            <p:ph idx="3" type="subTitle"/>
          </p:nvPr>
        </p:nvSpPr>
        <p:spPr>
          <a:xfrm>
            <a:off x="3503343" y="3141663"/>
            <a:ext cx="2144100" cy="8868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 name="Google Shape;107;p20"/>
          <p:cNvSpPr txBox="1"/>
          <p:nvPr>
            <p:ph idx="4" type="title"/>
          </p:nvPr>
        </p:nvSpPr>
        <p:spPr>
          <a:xfrm>
            <a:off x="6006767" y="2757579"/>
            <a:ext cx="2144100" cy="438900"/>
          </a:xfrm>
          <a:prstGeom prst="rect">
            <a:avLst/>
          </a:prstGeom>
        </p:spPr>
        <p:txBody>
          <a:bodyPr anchorCtr="0" anchor="b" bIns="91425" lIns="91425" spcFirstLastPara="1" rIns="91425" wrap="square" tIns="91425">
            <a:normAutofit/>
          </a:bodyPr>
          <a:lstStyle>
            <a:lvl1pPr lvl="0" rtl="0">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08" name="Google Shape;108;p20"/>
          <p:cNvSpPr txBox="1"/>
          <p:nvPr>
            <p:ph idx="5" type="subTitle"/>
          </p:nvPr>
        </p:nvSpPr>
        <p:spPr>
          <a:xfrm>
            <a:off x="6006780" y="3141663"/>
            <a:ext cx="2144100" cy="8868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9" name="Google Shape;109;p20"/>
          <p:cNvSpPr txBox="1"/>
          <p:nvPr>
            <p:ph idx="6" type="title"/>
          </p:nvPr>
        </p:nvSpPr>
        <p:spPr>
          <a:xfrm>
            <a:off x="720000" y="496318"/>
            <a:ext cx="7704000" cy="631500"/>
          </a:xfrm>
          <a:prstGeom prst="rect">
            <a:avLst/>
          </a:prstGeom>
          <a:noFill/>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 Id="rId3" Type="http://schemas.openxmlformats.org/officeDocument/2006/relationships/hyperlink" Target="https://github.com/bpbond/srdb" TargetMode="External"/><Relationship Id="rId4" Type="http://schemas.openxmlformats.org/officeDocument/2006/relationships/hyperlink" Target="https://cds.climate.copernicus.eu/cdsapp#!/dataset/reanalysis-era5-single-levels-monthly-means?tab=form" TargetMode="External"/><Relationship Id="rId5" Type="http://schemas.openxmlformats.org/officeDocument/2006/relationships/hyperlink" Target="https://developers.google.cn/earth-engine/datasets/catalog/ECMWF_ERA5_LAND_MONTHLY_AGGR" TargetMode="External"/><Relationship Id="rId6" Type="http://schemas.openxmlformats.org/officeDocument/2006/relationships/hyperlink" Target="https://github.com/bpbond/srdb" TargetMode="External"/><Relationship Id="rId7" Type="http://schemas.openxmlformats.org/officeDocument/2006/relationships/hyperlink" Target="https://www.usgs.gov/landsat-missions/landsat-data-acces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2.xml"/><Relationship Id="rId3" Type="http://schemas.openxmlformats.org/officeDocument/2006/relationships/hyperlink" Target="https://doi.org/10.1038/s41598-024-64235-w" TargetMode="External"/><Relationship Id="rId4" Type="http://schemas.openxmlformats.org/officeDocument/2006/relationships/hyperlink" Target="https://doi.org/10.1038/s41598-024-64235-w" TargetMode="External"/><Relationship Id="rId5" Type="http://schemas.openxmlformats.org/officeDocument/2006/relationships/hyperlink" Target="https://doi.org/10.1088/1748-9326/abf526"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idx="1" type="subTitle"/>
          </p:nvPr>
        </p:nvSpPr>
        <p:spPr>
          <a:xfrm>
            <a:off x="2211900" y="3123750"/>
            <a:ext cx="4720200" cy="3684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lang="en"/>
              <a:t>By Vincent Lu</a:t>
            </a:r>
            <a:endParaRPr/>
          </a:p>
        </p:txBody>
      </p:sp>
      <p:sp>
        <p:nvSpPr>
          <p:cNvPr id="115" name="Google Shape;115;p21"/>
          <p:cNvSpPr txBox="1"/>
          <p:nvPr>
            <p:ph type="ctrTitle"/>
          </p:nvPr>
        </p:nvSpPr>
        <p:spPr>
          <a:xfrm>
            <a:off x="1554786" y="1651350"/>
            <a:ext cx="6033600" cy="1404600"/>
          </a:xfrm>
          <a:prstGeom prst="rect">
            <a:avLst/>
          </a:prstGeom>
        </p:spPr>
        <p:txBody>
          <a:bodyPr anchorCtr="0" anchor="t" bIns="91425" lIns="91425" spcFirstLastPara="1" rIns="91425" wrap="square" tIns="45700">
            <a:normAutofit fontScale="90000"/>
          </a:bodyPr>
          <a:lstStyle/>
          <a:p>
            <a:pPr indent="0" lvl="0" marL="0" rtl="0" algn="ctr">
              <a:spcBef>
                <a:spcPts val="0"/>
              </a:spcBef>
              <a:spcAft>
                <a:spcPts val="0"/>
              </a:spcAft>
              <a:buClr>
                <a:schemeClr val="dk1"/>
              </a:buClr>
              <a:buSzPct val="27500"/>
              <a:buFont typeface="Arial"/>
              <a:buNone/>
            </a:pPr>
            <a:r>
              <a:rPr lang="en"/>
              <a:t>Soil Respiration Estimation Research Proposal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p:nvPr/>
        </p:nvSpPr>
        <p:spPr>
          <a:xfrm>
            <a:off x="2620900" y="923400"/>
            <a:ext cx="6493200" cy="2839500"/>
          </a:xfrm>
          <a:prstGeom prst="roundRect">
            <a:avLst>
              <a:gd fmla="val 16667" name="adj"/>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121" name="Google Shape;121;p22"/>
          <p:cNvSpPr/>
          <p:nvPr/>
        </p:nvSpPr>
        <p:spPr>
          <a:xfrm>
            <a:off x="2687200" y="3740625"/>
            <a:ext cx="6426900" cy="1158000"/>
          </a:xfrm>
          <a:prstGeom prst="roundRect">
            <a:avLst>
              <a:gd fmla="val 16667" name="adj"/>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122" name="Google Shape;122;p22"/>
          <p:cNvSpPr/>
          <p:nvPr/>
        </p:nvSpPr>
        <p:spPr>
          <a:xfrm>
            <a:off x="1283500" y="1171550"/>
            <a:ext cx="1049700" cy="3506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123" name="Google Shape;123;p22"/>
          <p:cNvSpPr/>
          <p:nvPr/>
        </p:nvSpPr>
        <p:spPr>
          <a:xfrm>
            <a:off x="2868925" y="1171550"/>
            <a:ext cx="1049700" cy="2519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124" name="Google Shape;124;p22"/>
          <p:cNvSpPr/>
          <p:nvPr/>
        </p:nvSpPr>
        <p:spPr>
          <a:xfrm>
            <a:off x="2868925" y="3822225"/>
            <a:ext cx="1049700" cy="85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125" name="Google Shape;125;p22"/>
          <p:cNvSpPr/>
          <p:nvPr/>
        </p:nvSpPr>
        <p:spPr>
          <a:xfrm>
            <a:off x="4047150" y="1171550"/>
            <a:ext cx="1049700" cy="713700"/>
          </a:xfrm>
          <a:prstGeom prst="rect">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126" name="Google Shape;126;p22"/>
          <p:cNvSpPr/>
          <p:nvPr/>
        </p:nvSpPr>
        <p:spPr>
          <a:xfrm>
            <a:off x="4047150" y="2074400"/>
            <a:ext cx="1049700" cy="71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127" name="Google Shape;127;p22"/>
          <p:cNvSpPr/>
          <p:nvPr/>
        </p:nvSpPr>
        <p:spPr>
          <a:xfrm>
            <a:off x="4047150" y="2074400"/>
            <a:ext cx="1049700" cy="161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128" name="Google Shape;128;p22"/>
          <p:cNvSpPr/>
          <p:nvPr/>
        </p:nvSpPr>
        <p:spPr>
          <a:xfrm>
            <a:off x="5225375" y="1159650"/>
            <a:ext cx="1049700" cy="71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129" name="Google Shape;129;p22"/>
          <p:cNvSpPr/>
          <p:nvPr/>
        </p:nvSpPr>
        <p:spPr>
          <a:xfrm>
            <a:off x="5225375" y="2062500"/>
            <a:ext cx="1049700" cy="713700"/>
          </a:xfrm>
          <a:prstGeom prst="rect">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130" name="Google Shape;130;p22"/>
          <p:cNvSpPr/>
          <p:nvPr/>
        </p:nvSpPr>
        <p:spPr>
          <a:xfrm>
            <a:off x="5225375" y="2965350"/>
            <a:ext cx="1049700" cy="71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131" name="Google Shape;131;p22"/>
          <p:cNvSpPr/>
          <p:nvPr/>
        </p:nvSpPr>
        <p:spPr>
          <a:xfrm>
            <a:off x="6365500" y="1171550"/>
            <a:ext cx="1049700" cy="161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132" name="Google Shape;132;p22"/>
          <p:cNvSpPr/>
          <p:nvPr/>
        </p:nvSpPr>
        <p:spPr>
          <a:xfrm>
            <a:off x="6403600" y="2977250"/>
            <a:ext cx="1049700" cy="713700"/>
          </a:xfrm>
          <a:prstGeom prst="rect">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133" name="Google Shape;133;p22"/>
          <p:cNvSpPr txBox="1"/>
          <p:nvPr/>
        </p:nvSpPr>
        <p:spPr>
          <a:xfrm>
            <a:off x="1451500" y="2688625"/>
            <a:ext cx="713700" cy="104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rPr>
              <a:t>Data</a:t>
            </a:r>
            <a:endParaRPr sz="1500">
              <a:solidFill>
                <a:schemeClr val="dk2"/>
              </a:solidFill>
            </a:endParaRPr>
          </a:p>
        </p:txBody>
      </p:sp>
      <p:sp>
        <p:nvSpPr>
          <p:cNvPr id="134" name="Google Shape;134;p22"/>
          <p:cNvSpPr txBox="1"/>
          <p:nvPr/>
        </p:nvSpPr>
        <p:spPr>
          <a:xfrm>
            <a:off x="2858025" y="2051125"/>
            <a:ext cx="1049700" cy="71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dk2"/>
                </a:solidFill>
              </a:rPr>
              <a:t>Training Set</a:t>
            </a:r>
            <a:endParaRPr sz="1500">
              <a:solidFill>
                <a:schemeClr val="dk2"/>
              </a:solidFill>
            </a:endParaRPr>
          </a:p>
          <a:p>
            <a:pPr indent="0" lvl="0" marL="0" rtl="0" algn="ctr">
              <a:spcBef>
                <a:spcPts val="0"/>
              </a:spcBef>
              <a:spcAft>
                <a:spcPts val="0"/>
              </a:spcAft>
              <a:buNone/>
            </a:pPr>
            <a:r>
              <a:rPr lang="en" sz="1500">
                <a:solidFill>
                  <a:schemeClr val="dk2"/>
                </a:solidFill>
              </a:rPr>
              <a:t>80%</a:t>
            </a:r>
            <a:endParaRPr sz="1500">
              <a:solidFill>
                <a:schemeClr val="dk2"/>
              </a:solidFill>
            </a:endParaRPr>
          </a:p>
        </p:txBody>
      </p:sp>
      <p:sp>
        <p:nvSpPr>
          <p:cNvPr id="135" name="Google Shape;135;p22"/>
          <p:cNvSpPr txBox="1"/>
          <p:nvPr/>
        </p:nvSpPr>
        <p:spPr>
          <a:xfrm>
            <a:off x="2842525" y="3816825"/>
            <a:ext cx="989100" cy="71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dk2"/>
                </a:solidFill>
              </a:rPr>
              <a:t>Testing Set</a:t>
            </a:r>
            <a:endParaRPr sz="1500">
              <a:solidFill>
                <a:schemeClr val="dk2"/>
              </a:solidFill>
            </a:endParaRPr>
          </a:p>
          <a:p>
            <a:pPr indent="0" lvl="0" marL="0" rtl="0" algn="ctr">
              <a:spcBef>
                <a:spcPts val="0"/>
              </a:spcBef>
              <a:spcAft>
                <a:spcPts val="0"/>
              </a:spcAft>
              <a:buNone/>
            </a:pPr>
            <a:r>
              <a:rPr lang="en" sz="1500">
                <a:solidFill>
                  <a:schemeClr val="dk2"/>
                </a:solidFill>
              </a:rPr>
              <a:t>20%</a:t>
            </a:r>
            <a:endParaRPr sz="1500">
              <a:solidFill>
                <a:schemeClr val="dk2"/>
              </a:solidFill>
            </a:endParaRPr>
          </a:p>
        </p:txBody>
      </p:sp>
      <p:sp>
        <p:nvSpPr>
          <p:cNvPr id="136" name="Google Shape;136;p22"/>
          <p:cNvSpPr txBox="1"/>
          <p:nvPr/>
        </p:nvSpPr>
        <p:spPr>
          <a:xfrm>
            <a:off x="4158600" y="1385750"/>
            <a:ext cx="1049700" cy="49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rPr>
              <a:t>Validate</a:t>
            </a:r>
            <a:endParaRPr sz="1500">
              <a:solidFill>
                <a:schemeClr val="dk2"/>
              </a:solidFill>
            </a:endParaRPr>
          </a:p>
          <a:p>
            <a:pPr indent="0" lvl="0" marL="0" rtl="0" algn="l">
              <a:spcBef>
                <a:spcPts val="0"/>
              </a:spcBef>
              <a:spcAft>
                <a:spcPts val="0"/>
              </a:spcAft>
              <a:buNone/>
            </a:pPr>
            <a:r>
              <a:t/>
            </a:r>
            <a:endParaRPr sz="1500">
              <a:solidFill>
                <a:schemeClr val="dk2"/>
              </a:solidFill>
            </a:endParaRPr>
          </a:p>
        </p:txBody>
      </p:sp>
      <p:sp>
        <p:nvSpPr>
          <p:cNvPr id="137" name="Google Shape;137;p22"/>
          <p:cNvSpPr txBox="1"/>
          <p:nvPr/>
        </p:nvSpPr>
        <p:spPr>
          <a:xfrm>
            <a:off x="5339700" y="2245800"/>
            <a:ext cx="989100" cy="49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rPr>
              <a:t>Validate</a:t>
            </a:r>
            <a:endParaRPr sz="1500">
              <a:solidFill>
                <a:schemeClr val="dk2"/>
              </a:solidFill>
            </a:endParaRPr>
          </a:p>
          <a:p>
            <a:pPr indent="0" lvl="0" marL="0" rtl="0" algn="l">
              <a:spcBef>
                <a:spcPts val="0"/>
              </a:spcBef>
              <a:spcAft>
                <a:spcPts val="0"/>
              </a:spcAft>
              <a:buNone/>
            </a:pPr>
            <a:r>
              <a:t/>
            </a:r>
            <a:endParaRPr sz="1500">
              <a:solidFill>
                <a:schemeClr val="dk2"/>
              </a:solidFill>
            </a:endParaRPr>
          </a:p>
        </p:txBody>
      </p:sp>
      <p:sp>
        <p:nvSpPr>
          <p:cNvPr id="138" name="Google Shape;138;p22"/>
          <p:cNvSpPr txBox="1"/>
          <p:nvPr/>
        </p:nvSpPr>
        <p:spPr>
          <a:xfrm>
            <a:off x="6515050" y="3191450"/>
            <a:ext cx="1049700" cy="49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rPr>
              <a:t>Validate</a:t>
            </a:r>
            <a:endParaRPr sz="1500">
              <a:solidFill>
                <a:schemeClr val="dk2"/>
              </a:solidFill>
            </a:endParaRPr>
          </a:p>
          <a:p>
            <a:pPr indent="0" lvl="0" marL="0" rtl="0" algn="l">
              <a:spcBef>
                <a:spcPts val="0"/>
              </a:spcBef>
              <a:spcAft>
                <a:spcPts val="0"/>
              </a:spcAft>
              <a:buNone/>
            </a:pPr>
            <a:r>
              <a:t/>
            </a:r>
            <a:endParaRPr sz="1500">
              <a:solidFill>
                <a:schemeClr val="dk2"/>
              </a:solidFill>
            </a:endParaRPr>
          </a:p>
        </p:txBody>
      </p:sp>
      <p:sp>
        <p:nvSpPr>
          <p:cNvPr id="139" name="Google Shape;139;p22"/>
          <p:cNvSpPr txBox="1"/>
          <p:nvPr/>
        </p:nvSpPr>
        <p:spPr>
          <a:xfrm>
            <a:off x="7451900" y="1583450"/>
            <a:ext cx="1692000" cy="179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2"/>
                </a:solidFill>
              </a:rPr>
              <a:t>Train Model</a:t>
            </a:r>
            <a:endParaRPr b="1" sz="1600">
              <a:solidFill>
                <a:schemeClr val="dk2"/>
              </a:solidFill>
            </a:endParaRPr>
          </a:p>
          <a:p>
            <a:pPr indent="0" lvl="0" marL="0" rtl="0" algn="ctr">
              <a:spcBef>
                <a:spcPts val="0"/>
              </a:spcBef>
              <a:spcAft>
                <a:spcPts val="0"/>
              </a:spcAft>
              <a:buNone/>
            </a:pPr>
            <a:r>
              <a:t/>
            </a:r>
            <a:endParaRPr sz="1100">
              <a:solidFill>
                <a:schemeClr val="dk2"/>
              </a:solidFill>
            </a:endParaRPr>
          </a:p>
          <a:p>
            <a:pPr indent="0" lvl="0" marL="0" rtl="0" algn="ctr">
              <a:spcBef>
                <a:spcPts val="0"/>
              </a:spcBef>
              <a:spcAft>
                <a:spcPts val="0"/>
              </a:spcAft>
              <a:buClr>
                <a:schemeClr val="dk1"/>
              </a:buClr>
              <a:buSzPts val="1100"/>
              <a:buFont typeface="Arial"/>
              <a:buNone/>
            </a:pPr>
            <a:r>
              <a:rPr lang="en" sz="1500">
                <a:solidFill>
                  <a:schemeClr val="dk2"/>
                </a:solidFill>
              </a:rPr>
              <a:t>Hyperparameter Optimization</a:t>
            </a:r>
            <a:endParaRPr sz="1500">
              <a:solidFill>
                <a:schemeClr val="dk2"/>
              </a:solidFill>
            </a:endParaRPr>
          </a:p>
          <a:p>
            <a:pPr indent="0" lvl="0" marL="0" rtl="0" algn="ctr">
              <a:spcBef>
                <a:spcPts val="0"/>
              </a:spcBef>
              <a:spcAft>
                <a:spcPts val="0"/>
              </a:spcAft>
              <a:buNone/>
            </a:pPr>
            <a:r>
              <a:t/>
            </a:r>
            <a:endParaRPr sz="1500">
              <a:solidFill>
                <a:schemeClr val="dk2"/>
              </a:solidFill>
            </a:endParaRPr>
          </a:p>
          <a:p>
            <a:pPr indent="0" lvl="0" marL="0" rtl="0" algn="ctr">
              <a:spcBef>
                <a:spcPts val="0"/>
              </a:spcBef>
              <a:spcAft>
                <a:spcPts val="0"/>
              </a:spcAft>
              <a:buNone/>
            </a:pPr>
            <a:r>
              <a:rPr lang="en" sz="1500">
                <a:solidFill>
                  <a:schemeClr val="dk2"/>
                </a:solidFill>
              </a:rPr>
              <a:t>K-Fold Cross Validation, K=3</a:t>
            </a:r>
            <a:endParaRPr sz="1500">
              <a:solidFill>
                <a:schemeClr val="dk2"/>
              </a:solidFill>
            </a:endParaRPr>
          </a:p>
          <a:p>
            <a:pPr indent="0" lvl="0" marL="0" rtl="0" algn="l">
              <a:spcBef>
                <a:spcPts val="0"/>
              </a:spcBef>
              <a:spcAft>
                <a:spcPts val="0"/>
              </a:spcAft>
              <a:buNone/>
            </a:pPr>
            <a:r>
              <a:t/>
            </a:r>
            <a:endParaRPr b="1" sz="1100">
              <a:solidFill>
                <a:schemeClr val="dk2"/>
              </a:solidFill>
            </a:endParaRPr>
          </a:p>
        </p:txBody>
      </p:sp>
      <p:sp>
        <p:nvSpPr>
          <p:cNvPr id="140" name="Google Shape;140;p22"/>
          <p:cNvSpPr txBox="1"/>
          <p:nvPr/>
        </p:nvSpPr>
        <p:spPr>
          <a:xfrm>
            <a:off x="7581825" y="4021525"/>
            <a:ext cx="1194600" cy="79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2"/>
                </a:solidFill>
              </a:rPr>
              <a:t>Evaluate Model</a:t>
            </a:r>
            <a:endParaRPr b="1" sz="1600">
              <a:solidFill>
                <a:schemeClr val="dk2"/>
              </a:solidFill>
            </a:endParaRPr>
          </a:p>
          <a:p>
            <a:pPr indent="0" lvl="0" marL="0" rtl="0" algn="l">
              <a:spcBef>
                <a:spcPts val="0"/>
              </a:spcBef>
              <a:spcAft>
                <a:spcPts val="0"/>
              </a:spcAft>
              <a:buNone/>
            </a:pPr>
            <a:r>
              <a:t/>
            </a:r>
            <a:endParaRPr b="1" sz="1000">
              <a:solidFill>
                <a:schemeClr val="dk2"/>
              </a:solidFill>
            </a:endParaRPr>
          </a:p>
        </p:txBody>
      </p:sp>
      <p:sp>
        <p:nvSpPr>
          <p:cNvPr id="141" name="Google Shape;141;p22"/>
          <p:cNvSpPr txBox="1"/>
          <p:nvPr/>
        </p:nvSpPr>
        <p:spPr>
          <a:xfrm>
            <a:off x="4212625" y="2639388"/>
            <a:ext cx="989100" cy="49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rPr>
              <a:t>Train</a:t>
            </a:r>
            <a:endParaRPr sz="1500">
              <a:solidFill>
                <a:schemeClr val="dk2"/>
              </a:solidFill>
            </a:endParaRPr>
          </a:p>
          <a:p>
            <a:pPr indent="0" lvl="0" marL="0" rtl="0" algn="l">
              <a:spcBef>
                <a:spcPts val="0"/>
              </a:spcBef>
              <a:spcAft>
                <a:spcPts val="0"/>
              </a:spcAft>
              <a:buNone/>
            </a:pPr>
            <a:r>
              <a:t/>
            </a:r>
            <a:endParaRPr sz="1500">
              <a:solidFill>
                <a:schemeClr val="dk2"/>
              </a:solidFill>
            </a:endParaRPr>
          </a:p>
        </p:txBody>
      </p:sp>
      <p:sp>
        <p:nvSpPr>
          <p:cNvPr id="142" name="Google Shape;142;p22"/>
          <p:cNvSpPr txBox="1"/>
          <p:nvPr/>
        </p:nvSpPr>
        <p:spPr>
          <a:xfrm>
            <a:off x="6596950" y="1782713"/>
            <a:ext cx="989100" cy="49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rPr>
              <a:t>Train</a:t>
            </a:r>
            <a:endParaRPr sz="1500">
              <a:solidFill>
                <a:schemeClr val="dk2"/>
              </a:solidFill>
            </a:endParaRPr>
          </a:p>
          <a:p>
            <a:pPr indent="0" lvl="0" marL="0" rtl="0" algn="l">
              <a:spcBef>
                <a:spcPts val="0"/>
              </a:spcBef>
              <a:spcAft>
                <a:spcPts val="0"/>
              </a:spcAft>
              <a:buNone/>
            </a:pPr>
            <a:r>
              <a:t/>
            </a:r>
            <a:endParaRPr sz="1500">
              <a:solidFill>
                <a:schemeClr val="dk2"/>
              </a:solidFill>
            </a:endParaRPr>
          </a:p>
        </p:txBody>
      </p:sp>
      <p:sp>
        <p:nvSpPr>
          <p:cNvPr id="143" name="Google Shape;143;p22"/>
          <p:cNvSpPr txBox="1"/>
          <p:nvPr/>
        </p:nvSpPr>
        <p:spPr>
          <a:xfrm>
            <a:off x="5444750" y="1342938"/>
            <a:ext cx="989100" cy="49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rPr>
              <a:t>Train</a:t>
            </a:r>
            <a:endParaRPr sz="1500">
              <a:solidFill>
                <a:schemeClr val="dk2"/>
              </a:solidFill>
            </a:endParaRPr>
          </a:p>
          <a:p>
            <a:pPr indent="0" lvl="0" marL="0" rtl="0" algn="l">
              <a:spcBef>
                <a:spcPts val="0"/>
              </a:spcBef>
              <a:spcAft>
                <a:spcPts val="0"/>
              </a:spcAft>
              <a:buNone/>
            </a:pPr>
            <a:r>
              <a:t/>
            </a:r>
            <a:endParaRPr sz="1500">
              <a:solidFill>
                <a:schemeClr val="dk2"/>
              </a:solidFill>
            </a:endParaRPr>
          </a:p>
        </p:txBody>
      </p:sp>
      <p:sp>
        <p:nvSpPr>
          <p:cNvPr id="144" name="Google Shape;144;p22"/>
          <p:cNvSpPr/>
          <p:nvPr/>
        </p:nvSpPr>
        <p:spPr>
          <a:xfrm>
            <a:off x="2392600" y="2308550"/>
            <a:ext cx="228300" cy="152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145" name="Google Shape;145;p22"/>
          <p:cNvSpPr txBox="1"/>
          <p:nvPr/>
        </p:nvSpPr>
        <p:spPr>
          <a:xfrm>
            <a:off x="5377775" y="3084850"/>
            <a:ext cx="989100" cy="49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rPr>
              <a:t>Train</a:t>
            </a:r>
            <a:endParaRPr sz="1500">
              <a:solidFill>
                <a:schemeClr val="dk2"/>
              </a:solidFill>
            </a:endParaRPr>
          </a:p>
          <a:p>
            <a:pPr indent="0" lvl="0" marL="0" rtl="0" algn="l">
              <a:spcBef>
                <a:spcPts val="0"/>
              </a:spcBef>
              <a:spcAft>
                <a:spcPts val="0"/>
              </a:spcAft>
              <a:buNone/>
            </a:pPr>
            <a:r>
              <a:t/>
            </a:r>
            <a:endParaRPr sz="1500">
              <a:solidFill>
                <a:schemeClr val="dk2"/>
              </a:solidFill>
            </a:endParaRPr>
          </a:p>
        </p:txBody>
      </p:sp>
      <p:sp>
        <p:nvSpPr>
          <p:cNvPr id="146" name="Google Shape;146;p22"/>
          <p:cNvSpPr/>
          <p:nvPr/>
        </p:nvSpPr>
        <p:spPr>
          <a:xfrm>
            <a:off x="2392600" y="4061150"/>
            <a:ext cx="228300" cy="152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147" name="Google Shape;147;p22"/>
          <p:cNvSpPr/>
          <p:nvPr/>
        </p:nvSpPr>
        <p:spPr>
          <a:xfrm>
            <a:off x="8065225" y="3626175"/>
            <a:ext cx="228300" cy="3954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3"/>
          <p:cNvSpPr txBox="1"/>
          <p:nvPr/>
        </p:nvSpPr>
        <p:spPr>
          <a:xfrm>
            <a:off x="2568000" y="4367850"/>
            <a:ext cx="4008000" cy="6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Figure 1: XGBoost model architecture</a:t>
            </a:r>
            <a:endParaRPr sz="1800">
              <a:solidFill>
                <a:schemeClr val="dk2"/>
              </a:solidFill>
            </a:endParaRPr>
          </a:p>
        </p:txBody>
      </p:sp>
      <p:pic>
        <p:nvPicPr>
          <p:cNvPr id="153" name="Google Shape;153;p23"/>
          <p:cNvPicPr preferRelativeResize="0"/>
          <p:nvPr/>
        </p:nvPicPr>
        <p:blipFill>
          <a:blip r:embed="rId3">
            <a:alphaModFix/>
          </a:blip>
          <a:stretch>
            <a:fillRect/>
          </a:stretch>
        </p:blipFill>
        <p:spPr>
          <a:xfrm>
            <a:off x="859850" y="0"/>
            <a:ext cx="7424299" cy="40630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graphicFrame>
        <p:nvGraphicFramePr>
          <p:cNvPr id="158" name="Google Shape;158;p24"/>
          <p:cNvGraphicFramePr/>
          <p:nvPr/>
        </p:nvGraphicFramePr>
        <p:xfrm>
          <a:off x="1600200" y="1553100"/>
          <a:ext cx="3000000" cy="3000000"/>
        </p:xfrm>
        <a:graphic>
          <a:graphicData uri="http://schemas.openxmlformats.org/drawingml/2006/table">
            <a:tbl>
              <a:tblPr>
                <a:noFill/>
                <a:tableStyleId>{676DE694-63DD-436D-B702-7BDC1886DB57}</a:tableStyleId>
              </a:tblPr>
              <a:tblGrid>
                <a:gridCol w="1838325"/>
                <a:gridCol w="4105275"/>
              </a:tblGrid>
              <a:tr h="12700">
                <a:tc>
                  <a:txBody>
                    <a:bodyPr/>
                    <a:lstStyle/>
                    <a:p>
                      <a:pPr indent="0" lvl="0" marL="0" rtl="0" algn="ctr">
                        <a:spcBef>
                          <a:spcPts val="0"/>
                        </a:spcBef>
                        <a:spcAft>
                          <a:spcPts val="0"/>
                        </a:spcAft>
                        <a:buNone/>
                      </a:pPr>
                      <a:r>
                        <a:rPr lang="en" sz="1100"/>
                        <a:t>Feature Category</a:t>
                      </a:r>
                      <a:endParaRPr sz="1100"/>
                    </a:p>
                  </a:txBody>
                  <a:tcPr marT="63500" marB="63500" marR="63500" marL="63500"/>
                </a:tc>
                <a:tc>
                  <a:txBody>
                    <a:bodyPr/>
                    <a:lstStyle/>
                    <a:p>
                      <a:pPr indent="0" lvl="0" marL="0" rtl="0" algn="ctr">
                        <a:spcBef>
                          <a:spcPts val="0"/>
                        </a:spcBef>
                        <a:spcAft>
                          <a:spcPts val="0"/>
                        </a:spcAft>
                        <a:buNone/>
                      </a:pPr>
                      <a:r>
                        <a:rPr lang="en" sz="1100"/>
                        <a:t>Feature Names, </a:t>
                      </a:r>
                      <a:r>
                        <a:rPr lang="en" sz="1100"/>
                        <a:t>variable</a:t>
                      </a:r>
                      <a:r>
                        <a:rPr lang="en" sz="1100"/>
                        <a:t> type</a:t>
                      </a:r>
                      <a:endParaRPr sz="1100"/>
                    </a:p>
                  </a:txBody>
                  <a:tcPr marT="63500" marB="63500" marR="63500" marL="63500"/>
                </a:tc>
              </a:tr>
              <a:tr h="12700">
                <a:tc>
                  <a:txBody>
                    <a:bodyPr/>
                    <a:lstStyle/>
                    <a:p>
                      <a:pPr indent="0" lvl="0" marL="0" rtl="0" algn="ctr">
                        <a:lnSpc>
                          <a:spcPct val="115000"/>
                        </a:lnSpc>
                        <a:spcBef>
                          <a:spcPts val="0"/>
                        </a:spcBef>
                        <a:spcAft>
                          <a:spcPts val="0"/>
                        </a:spcAft>
                        <a:buNone/>
                      </a:pPr>
                      <a:r>
                        <a:rPr lang="en" sz="1100"/>
                        <a:t>Spatial/temporal</a:t>
                      </a:r>
                      <a:endParaRPr sz="1100"/>
                    </a:p>
                  </a:txBody>
                  <a:tcPr marT="63500" marB="63500" marR="63500" marL="63500"/>
                </a:tc>
                <a:tc>
                  <a:txBody>
                    <a:bodyPr/>
                    <a:lstStyle/>
                    <a:p>
                      <a:pPr indent="0" lvl="0" marL="0" rtl="0" algn="ctr">
                        <a:spcBef>
                          <a:spcPts val="0"/>
                        </a:spcBef>
                        <a:spcAft>
                          <a:spcPts val="0"/>
                        </a:spcAft>
                        <a:buNone/>
                      </a:pPr>
                      <a:r>
                        <a:rPr lang="en" sz="1100"/>
                        <a:t>YearsOfData</a:t>
                      </a:r>
                      <a:r>
                        <a:rPr lang="en" sz="1100"/>
                        <a:t>, Latitude, Longitude, Elevation, Biome</a:t>
                      </a:r>
                      <a:endParaRPr sz="1100"/>
                    </a:p>
                  </a:txBody>
                  <a:tcPr marT="63500" marB="63500" marR="63500" marL="63500"/>
                </a:tc>
              </a:tr>
              <a:tr h="12700">
                <a:tc>
                  <a:txBody>
                    <a:bodyPr/>
                    <a:lstStyle/>
                    <a:p>
                      <a:pPr indent="0" lvl="0" marL="0" rtl="0" algn="ctr">
                        <a:lnSpc>
                          <a:spcPct val="115000"/>
                        </a:lnSpc>
                        <a:spcBef>
                          <a:spcPts val="0"/>
                        </a:spcBef>
                        <a:spcAft>
                          <a:spcPts val="0"/>
                        </a:spcAft>
                        <a:buNone/>
                      </a:pPr>
                      <a:r>
                        <a:rPr lang="en" sz="1100"/>
                        <a:t>Climate (6)</a:t>
                      </a:r>
                      <a:endParaRPr sz="1100"/>
                    </a:p>
                  </a:txBody>
                  <a:tcPr marT="63500" marB="63500" marR="63500" marL="63500"/>
                </a:tc>
                <a:tc>
                  <a:txBody>
                    <a:bodyPr/>
                    <a:lstStyle/>
                    <a:p>
                      <a:pPr indent="0" lvl="0" marL="0" rtl="0" algn="ctr">
                        <a:spcBef>
                          <a:spcPts val="0"/>
                        </a:spcBef>
                        <a:spcAft>
                          <a:spcPts val="0"/>
                        </a:spcAft>
                        <a:buNone/>
                      </a:pPr>
                      <a:r>
                        <a:rPr lang="en" sz="1100"/>
                        <a:t>MAT, MAP</a:t>
                      </a:r>
                      <a:endParaRPr sz="1100"/>
                    </a:p>
                  </a:txBody>
                  <a:tcPr marT="63500" marB="63500" marR="63500" marL="63500"/>
                </a:tc>
              </a:tr>
              <a:tr h="12700">
                <a:tc>
                  <a:txBody>
                    <a:bodyPr/>
                    <a:lstStyle/>
                    <a:p>
                      <a:pPr indent="0" lvl="0" marL="0" rtl="0" algn="ctr">
                        <a:spcBef>
                          <a:spcPts val="0"/>
                        </a:spcBef>
                        <a:spcAft>
                          <a:spcPts val="0"/>
                        </a:spcAft>
                        <a:buNone/>
                      </a:pPr>
                      <a:r>
                        <a:rPr lang="en" sz="1100"/>
                        <a:t>Land use</a:t>
                      </a:r>
                      <a:endParaRPr sz="1100"/>
                    </a:p>
                  </a:txBody>
                  <a:tcPr marT="63500" marB="63500" marR="63500" marL="63500"/>
                </a:tc>
                <a:tc>
                  <a:txBody>
                    <a:bodyPr/>
                    <a:lstStyle/>
                    <a:p>
                      <a:pPr indent="0" lvl="0" marL="0" rtl="0" algn="ctr">
                        <a:lnSpc>
                          <a:spcPct val="115000"/>
                        </a:lnSpc>
                        <a:spcBef>
                          <a:spcPts val="0"/>
                        </a:spcBef>
                        <a:spcAft>
                          <a:spcPts val="0"/>
                        </a:spcAft>
                        <a:buNone/>
                      </a:pPr>
                      <a:r>
                        <a:rPr lang="en" sz="1100"/>
                        <a:t>Ecosystem_type, Ecosystem_state</a:t>
                      </a:r>
                      <a:endParaRPr sz="1100"/>
                    </a:p>
                  </a:txBody>
                  <a:tcPr marT="63500" marB="63500" marR="63500" marL="63500"/>
                </a:tc>
              </a:tr>
              <a:tr h="12700">
                <a:tc>
                  <a:txBody>
                    <a:bodyPr/>
                    <a:lstStyle/>
                    <a:p>
                      <a:pPr indent="0" lvl="0" marL="0" rtl="0" algn="ctr">
                        <a:spcBef>
                          <a:spcPts val="0"/>
                        </a:spcBef>
                        <a:spcAft>
                          <a:spcPts val="0"/>
                        </a:spcAft>
                        <a:buNone/>
                      </a:pPr>
                      <a:r>
                        <a:rPr lang="en" sz="1100"/>
                        <a:t>Soil </a:t>
                      </a:r>
                      <a:endParaRPr sz="1100"/>
                    </a:p>
                  </a:txBody>
                  <a:tcPr marT="63500" marB="63500" marR="63500" marL="63500"/>
                </a:tc>
                <a:tc>
                  <a:txBody>
                    <a:bodyPr/>
                    <a:lstStyle/>
                    <a:p>
                      <a:pPr indent="0" lvl="0" marL="0" rtl="0" algn="ctr">
                        <a:lnSpc>
                          <a:spcPct val="115000"/>
                        </a:lnSpc>
                        <a:spcBef>
                          <a:spcPts val="0"/>
                        </a:spcBef>
                        <a:spcAft>
                          <a:spcPts val="0"/>
                        </a:spcAft>
                        <a:buNone/>
                      </a:pPr>
                      <a:r>
                        <a:rPr lang="en" sz="1100"/>
                        <a:t>Soil_type, Soil_drainage, Soil_BD, Soil_CN, Soil_sand, Soil_silt, Soil_clay</a:t>
                      </a:r>
                      <a:endParaRPr sz="1100"/>
                    </a:p>
                  </a:txBody>
                  <a:tcPr marT="63500" marB="63500" marR="63500" marL="63500"/>
                </a:tc>
              </a:tr>
              <a:tr h="12700">
                <a:tc>
                  <a:txBody>
                    <a:bodyPr/>
                    <a:lstStyle/>
                    <a:p>
                      <a:pPr indent="0" lvl="0" marL="0" rtl="0" algn="ctr">
                        <a:spcBef>
                          <a:spcPts val="0"/>
                        </a:spcBef>
                        <a:spcAft>
                          <a:spcPts val="0"/>
                        </a:spcAft>
                        <a:buNone/>
                      </a:pPr>
                      <a:r>
                        <a:rPr lang="en" sz="1100"/>
                        <a:t>Carbon</a:t>
                      </a:r>
                      <a:endParaRPr sz="1100"/>
                    </a:p>
                  </a:txBody>
                  <a:tcPr marT="63500" marB="63500" marR="63500" marL="63500"/>
                </a:tc>
                <a:tc>
                  <a:txBody>
                    <a:bodyPr/>
                    <a:lstStyle/>
                    <a:p>
                      <a:pPr indent="0" lvl="0" marL="0" rtl="0" algn="ctr">
                        <a:lnSpc>
                          <a:spcPct val="115000"/>
                        </a:lnSpc>
                        <a:spcBef>
                          <a:spcPts val="0"/>
                        </a:spcBef>
                        <a:spcAft>
                          <a:spcPts val="0"/>
                        </a:spcAft>
                        <a:buNone/>
                      </a:pPr>
                      <a:r>
                        <a:rPr lang="en" sz="1100"/>
                        <a:t> BA, C_veg_total, C_AG, C_BG, C_CR, C_FR, C_litter, C_soilmineral, C_soildepth</a:t>
                      </a:r>
                      <a:endParaRPr sz="1100"/>
                    </a:p>
                  </a:txBody>
                  <a:tcPr marT="63500" marB="63500" marR="63500" marL="63500"/>
                </a:tc>
              </a:tr>
            </a:tbl>
          </a:graphicData>
        </a:graphic>
      </p:graphicFrame>
      <p:sp>
        <p:nvSpPr>
          <p:cNvPr id="159" name="Google Shape;159;p24"/>
          <p:cNvSpPr txBox="1"/>
          <p:nvPr/>
        </p:nvSpPr>
        <p:spPr>
          <a:xfrm>
            <a:off x="1685550" y="742650"/>
            <a:ext cx="5772900" cy="5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Table 1: Summary of feature names and variable types</a:t>
            </a: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5"/>
          <p:cNvPicPr preferRelativeResize="0"/>
          <p:nvPr/>
        </p:nvPicPr>
        <p:blipFill>
          <a:blip r:embed="rId3">
            <a:alphaModFix/>
          </a:blip>
          <a:stretch>
            <a:fillRect/>
          </a:stretch>
        </p:blipFill>
        <p:spPr>
          <a:xfrm>
            <a:off x="1600200" y="535425"/>
            <a:ext cx="5943600" cy="2676525"/>
          </a:xfrm>
          <a:prstGeom prst="rect">
            <a:avLst/>
          </a:prstGeom>
          <a:noFill/>
          <a:ln>
            <a:noFill/>
          </a:ln>
        </p:spPr>
      </p:pic>
      <p:sp>
        <p:nvSpPr>
          <p:cNvPr id="165" name="Google Shape;165;p25"/>
          <p:cNvSpPr txBox="1"/>
          <p:nvPr/>
        </p:nvSpPr>
        <p:spPr>
          <a:xfrm>
            <a:off x="1344450" y="3629150"/>
            <a:ext cx="6455100" cy="6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Figure 2: Diagram of feature importance B:Feature dispersion XGBoost Model</a:t>
            </a: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grpSp>
        <p:nvGrpSpPr>
          <p:cNvPr id="170" name="Google Shape;170;p26"/>
          <p:cNvGrpSpPr/>
          <p:nvPr/>
        </p:nvGrpSpPr>
        <p:grpSpPr>
          <a:xfrm>
            <a:off x="1714050" y="278025"/>
            <a:ext cx="4065745" cy="4089820"/>
            <a:chOff x="1714050" y="278025"/>
            <a:chExt cx="4065745" cy="4089820"/>
          </a:xfrm>
        </p:grpSpPr>
        <p:pic>
          <p:nvPicPr>
            <p:cNvPr id="171" name="Google Shape;171;p26"/>
            <p:cNvPicPr preferRelativeResize="0"/>
            <p:nvPr/>
          </p:nvPicPr>
          <p:blipFill>
            <a:blip r:embed="rId3">
              <a:alphaModFix/>
            </a:blip>
            <a:stretch>
              <a:fillRect/>
            </a:stretch>
          </p:blipFill>
          <p:spPr>
            <a:xfrm>
              <a:off x="2461577" y="2330450"/>
              <a:ext cx="3246171" cy="2037395"/>
            </a:xfrm>
            <a:prstGeom prst="rect">
              <a:avLst/>
            </a:prstGeom>
            <a:noFill/>
            <a:ln>
              <a:noFill/>
            </a:ln>
          </p:spPr>
        </p:pic>
        <p:pic>
          <p:nvPicPr>
            <p:cNvPr id="172" name="Google Shape;172;p26"/>
            <p:cNvPicPr preferRelativeResize="0"/>
            <p:nvPr/>
          </p:nvPicPr>
          <p:blipFill>
            <a:blip r:embed="rId4">
              <a:alphaModFix/>
            </a:blip>
            <a:stretch>
              <a:fillRect/>
            </a:stretch>
          </p:blipFill>
          <p:spPr>
            <a:xfrm>
              <a:off x="2389531" y="283177"/>
              <a:ext cx="3390264" cy="2169536"/>
            </a:xfrm>
            <a:prstGeom prst="rect">
              <a:avLst/>
            </a:prstGeom>
            <a:noFill/>
            <a:ln>
              <a:noFill/>
            </a:ln>
          </p:spPr>
        </p:pic>
        <p:sp>
          <p:nvSpPr>
            <p:cNvPr id="173" name="Google Shape;173;p26"/>
            <p:cNvSpPr txBox="1"/>
            <p:nvPr/>
          </p:nvSpPr>
          <p:spPr>
            <a:xfrm>
              <a:off x="1714050" y="278025"/>
              <a:ext cx="396600" cy="46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A</a:t>
              </a:r>
              <a:endParaRPr b="1" sz="1800">
                <a:solidFill>
                  <a:schemeClr val="dk2"/>
                </a:solidFill>
              </a:endParaRPr>
            </a:p>
          </p:txBody>
        </p:sp>
        <p:sp>
          <p:nvSpPr>
            <p:cNvPr id="174" name="Google Shape;174;p26"/>
            <p:cNvSpPr txBox="1"/>
            <p:nvPr/>
          </p:nvSpPr>
          <p:spPr>
            <a:xfrm>
              <a:off x="1714050" y="2220200"/>
              <a:ext cx="396600" cy="46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B</a:t>
              </a:r>
              <a:endParaRPr b="1" sz="1800">
                <a:solidFill>
                  <a:schemeClr val="dk2"/>
                </a:solidFill>
              </a:endParaRPr>
            </a:p>
          </p:txBody>
        </p:sp>
      </p:grpSp>
      <p:sp>
        <p:nvSpPr>
          <p:cNvPr id="175" name="Google Shape;175;p26"/>
          <p:cNvSpPr txBox="1"/>
          <p:nvPr/>
        </p:nvSpPr>
        <p:spPr>
          <a:xfrm>
            <a:off x="1344450" y="4367850"/>
            <a:ext cx="6455100" cy="6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Figure 3: A) Diagram of feature importance; and B)Feature dispersion XGBoost Model</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7"/>
          <p:cNvSpPr txBox="1"/>
          <p:nvPr/>
        </p:nvSpPr>
        <p:spPr>
          <a:xfrm>
            <a:off x="1474650" y="3905550"/>
            <a:ext cx="6194700" cy="123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Figure 4: A) Partial dependence with respect to mean average </a:t>
            </a:r>
            <a:r>
              <a:rPr lang="en" sz="1800">
                <a:solidFill>
                  <a:schemeClr val="dk2"/>
                </a:solidFill>
              </a:rPr>
              <a:t>precipitation; and</a:t>
            </a:r>
            <a:r>
              <a:rPr lang="en" sz="1800">
                <a:solidFill>
                  <a:schemeClr val="dk2"/>
                </a:solidFill>
              </a:rPr>
              <a:t> B) with respect to mean average temperature; and C) how MAT and MAP interact with each other XGBoost Model</a:t>
            </a:r>
            <a:endParaRPr sz="1800">
              <a:solidFill>
                <a:schemeClr val="dk2"/>
              </a:solidFill>
            </a:endParaRPr>
          </a:p>
        </p:txBody>
      </p:sp>
      <p:grpSp>
        <p:nvGrpSpPr>
          <p:cNvPr id="181" name="Google Shape;181;p27"/>
          <p:cNvGrpSpPr/>
          <p:nvPr/>
        </p:nvGrpSpPr>
        <p:grpSpPr>
          <a:xfrm>
            <a:off x="1730508" y="-68374"/>
            <a:ext cx="5682979" cy="3973913"/>
            <a:chOff x="1418900" y="-95745"/>
            <a:chExt cx="6079352" cy="4258372"/>
          </a:xfrm>
        </p:grpSpPr>
        <p:grpSp>
          <p:nvGrpSpPr>
            <p:cNvPr id="182" name="Google Shape;182;p27"/>
            <p:cNvGrpSpPr/>
            <p:nvPr/>
          </p:nvGrpSpPr>
          <p:grpSpPr>
            <a:xfrm>
              <a:off x="1418900" y="-95745"/>
              <a:ext cx="2886312" cy="4258372"/>
              <a:chOff x="2642175" y="328613"/>
              <a:chExt cx="3235050" cy="4486275"/>
            </a:xfrm>
          </p:grpSpPr>
          <p:grpSp>
            <p:nvGrpSpPr>
              <p:cNvPr id="183" name="Google Shape;183;p27"/>
              <p:cNvGrpSpPr/>
              <p:nvPr/>
            </p:nvGrpSpPr>
            <p:grpSpPr>
              <a:xfrm>
                <a:off x="3038775" y="328613"/>
                <a:ext cx="2838450" cy="4486275"/>
                <a:chOff x="2368475" y="234475"/>
                <a:chExt cx="2838450" cy="4486275"/>
              </a:xfrm>
            </p:grpSpPr>
            <p:pic>
              <p:nvPicPr>
                <p:cNvPr id="184" name="Google Shape;184;p27"/>
                <p:cNvPicPr preferRelativeResize="0"/>
                <p:nvPr/>
              </p:nvPicPr>
              <p:blipFill>
                <a:blip r:embed="rId3">
                  <a:alphaModFix/>
                </a:blip>
                <a:stretch>
                  <a:fillRect/>
                </a:stretch>
              </p:blipFill>
              <p:spPr>
                <a:xfrm>
                  <a:off x="2368475" y="234475"/>
                  <a:ext cx="2838450" cy="2314575"/>
                </a:xfrm>
                <a:prstGeom prst="rect">
                  <a:avLst/>
                </a:prstGeom>
                <a:noFill/>
                <a:ln>
                  <a:noFill/>
                </a:ln>
              </p:spPr>
            </p:pic>
            <p:pic>
              <p:nvPicPr>
                <p:cNvPr id="185" name="Google Shape;185;p27"/>
                <p:cNvPicPr preferRelativeResize="0"/>
                <p:nvPr/>
              </p:nvPicPr>
              <p:blipFill>
                <a:blip r:embed="rId4">
                  <a:alphaModFix/>
                </a:blip>
                <a:stretch>
                  <a:fillRect/>
                </a:stretch>
              </p:blipFill>
              <p:spPr>
                <a:xfrm>
                  <a:off x="2368475" y="2549050"/>
                  <a:ext cx="2838450" cy="2171700"/>
                </a:xfrm>
                <a:prstGeom prst="rect">
                  <a:avLst/>
                </a:prstGeom>
                <a:noFill/>
                <a:ln>
                  <a:noFill/>
                </a:ln>
              </p:spPr>
            </p:pic>
          </p:grpSp>
          <p:sp>
            <p:nvSpPr>
              <p:cNvPr id="186" name="Google Shape;186;p27"/>
              <p:cNvSpPr txBox="1"/>
              <p:nvPr/>
            </p:nvSpPr>
            <p:spPr>
              <a:xfrm>
                <a:off x="2642175" y="328625"/>
                <a:ext cx="396600" cy="46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A</a:t>
                </a:r>
                <a:endParaRPr b="1" sz="1800">
                  <a:solidFill>
                    <a:schemeClr val="dk2"/>
                  </a:solidFill>
                </a:endParaRPr>
              </a:p>
            </p:txBody>
          </p:sp>
          <p:sp>
            <p:nvSpPr>
              <p:cNvPr id="187" name="Google Shape;187;p27"/>
              <p:cNvSpPr txBox="1"/>
              <p:nvPr/>
            </p:nvSpPr>
            <p:spPr>
              <a:xfrm>
                <a:off x="2642175" y="2790688"/>
                <a:ext cx="396600" cy="46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B</a:t>
                </a:r>
                <a:endParaRPr b="1" sz="1800">
                  <a:solidFill>
                    <a:schemeClr val="dk2"/>
                  </a:solidFill>
                </a:endParaRPr>
              </a:p>
            </p:txBody>
          </p:sp>
        </p:grpSp>
        <p:pic>
          <p:nvPicPr>
            <p:cNvPr id="188" name="Google Shape;188;p27"/>
            <p:cNvPicPr preferRelativeResize="0"/>
            <p:nvPr/>
          </p:nvPicPr>
          <p:blipFill>
            <a:blip r:embed="rId5">
              <a:alphaModFix/>
            </a:blip>
            <a:stretch>
              <a:fillRect/>
            </a:stretch>
          </p:blipFill>
          <p:spPr>
            <a:xfrm>
              <a:off x="4750853" y="1126743"/>
              <a:ext cx="2747400" cy="1813400"/>
            </a:xfrm>
            <a:prstGeom prst="rect">
              <a:avLst/>
            </a:prstGeom>
            <a:noFill/>
            <a:ln>
              <a:noFill/>
            </a:ln>
          </p:spPr>
        </p:pic>
        <p:sp>
          <p:nvSpPr>
            <p:cNvPr id="189" name="Google Shape;189;p27"/>
            <p:cNvSpPr txBox="1"/>
            <p:nvPr/>
          </p:nvSpPr>
          <p:spPr>
            <a:xfrm>
              <a:off x="4471350" y="1812779"/>
              <a:ext cx="353700" cy="44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C</a:t>
              </a:r>
              <a:endParaRPr b="1" sz="1800">
                <a:solidFill>
                  <a:schemeClr val="dk2"/>
                </a:solidFil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grpSp>
        <p:nvGrpSpPr>
          <p:cNvPr id="194" name="Google Shape;194;p28"/>
          <p:cNvGrpSpPr/>
          <p:nvPr/>
        </p:nvGrpSpPr>
        <p:grpSpPr>
          <a:xfrm>
            <a:off x="2986125" y="164142"/>
            <a:ext cx="2818047" cy="3738712"/>
            <a:chOff x="2986125" y="164142"/>
            <a:chExt cx="2818047" cy="3738712"/>
          </a:xfrm>
        </p:grpSpPr>
        <p:grpSp>
          <p:nvGrpSpPr>
            <p:cNvPr id="195" name="Google Shape;195;p28"/>
            <p:cNvGrpSpPr/>
            <p:nvPr/>
          </p:nvGrpSpPr>
          <p:grpSpPr>
            <a:xfrm>
              <a:off x="3339825" y="164150"/>
              <a:ext cx="2464348" cy="3738704"/>
              <a:chOff x="0" y="0"/>
              <a:chExt cx="3426512" cy="4945375"/>
            </a:xfrm>
          </p:grpSpPr>
          <p:pic>
            <p:nvPicPr>
              <p:cNvPr id="196" name="Google Shape;196;p28"/>
              <p:cNvPicPr preferRelativeResize="0"/>
              <p:nvPr/>
            </p:nvPicPr>
            <p:blipFill>
              <a:blip r:embed="rId3">
                <a:alphaModFix/>
              </a:blip>
              <a:stretch>
                <a:fillRect/>
              </a:stretch>
            </p:blipFill>
            <p:spPr>
              <a:xfrm>
                <a:off x="0" y="2358368"/>
                <a:ext cx="3426500" cy="2587007"/>
              </a:xfrm>
              <a:prstGeom prst="rect">
                <a:avLst/>
              </a:prstGeom>
              <a:noFill/>
              <a:ln>
                <a:noFill/>
              </a:ln>
            </p:spPr>
          </p:pic>
          <p:pic>
            <p:nvPicPr>
              <p:cNvPr id="197" name="Google Shape;197;p28"/>
              <p:cNvPicPr preferRelativeResize="0"/>
              <p:nvPr/>
            </p:nvPicPr>
            <p:blipFill>
              <a:blip r:embed="rId4">
                <a:alphaModFix/>
              </a:blip>
              <a:stretch>
                <a:fillRect/>
              </a:stretch>
            </p:blipFill>
            <p:spPr>
              <a:xfrm>
                <a:off x="0" y="0"/>
                <a:ext cx="3426512" cy="2428350"/>
              </a:xfrm>
              <a:prstGeom prst="rect">
                <a:avLst/>
              </a:prstGeom>
              <a:noFill/>
              <a:ln>
                <a:noFill/>
              </a:ln>
            </p:spPr>
          </p:pic>
        </p:grpSp>
        <p:sp>
          <p:nvSpPr>
            <p:cNvPr id="198" name="Google Shape;198;p28"/>
            <p:cNvSpPr txBox="1"/>
            <p:nvPr/>
          </p:nvSpPr>
          <p:spPr>
            <a:xfrm>
              <a:off x="2986125" y="164142"/>
              <a:ext cx="353700" cy="44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A</a:t>
              </a:r>
              <a:endParaRPr b="1" sz="1800">
                <a:solidFill>
                  <a:schemeClr val="dk2"/>
                </a:solidFill>
              </a:endParaRPr>
            </a:p>
          </p:txBody>
        </p:sp>
        <p:sp>
          <p:nvSpPr>
            <p:cNvPr id="199" name="Google Shape;199;p28"/>
            <p:cNvSpPr txBox="1"/>
            <p:nvPr/>
          </p:nvSpPr>
          <p:spPr>
            <a:xfrm>
              <a:off x="2986125" y="1812842"/>
              <a:ext cx="353700" cy="44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B</a:t>
              </a:r>
              <a:endParaRPr b="1" sz="1800">
                <a:solidFill>
                  <a:schemeClr val="dk2"/>
                </a:solidFill>
              </a:endParaRPr>
            </a:p>
          </p:txBody>
        </p:sp>
      </p:grpSp>
      <p:sp>
        <p:nvSpPr>
          <p:cNvPr id="200" name="Google Shape;200;p28"/>
          <p:cNvSpPr txBox="1"/>
          <p:nvPr/>
        </p:nvSpPr>
        <p:spPr>
          <a:xfrm>
            <a:off x="1813200" y="3902850"/>
            <a:ext cx="5517600" cy="123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Figure 5: A) Partial dependence with the recorded CO2 emissions per study year; B) with respect to the Leaf Area Index; and C) XGBoost Model</a:t>
            </a: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graphicFrame>
        <p:nvGraphicFramePr>
          <p:cNvPr id="205" name="Google Shape;205;p29"/>
          <p:cNvGraphicFramePr/>
          <p:nvPr/>
        </p:nvGraphicFramePr>
        <p:xfrm>
          <a:off x="2592575" y="1470625"/>
          <a:ext cx="3000000" cy="3000000"/>
        </p:xfrm>
        <a:graphic>
          <a:graphicData uri="http://schemas.openxmlformats.org/drawingml/2006/table">
            <a:tbl>
              <a:tblPr>
                <a:noFill/>
                <a:tableStyleId>{676DE694-63DD-436D-B702-7BDC1886DB57}</a:tableStyleId>
              </a:tblPr>
              <a:tblGrid>
                <a:gridCol w="779850"/>
                <a:gridCol w="794750"/>
                <a:gridCol w="794750"/>
                <a:gridCol w="794750"/>
                <a:gridCol w="794750"/>
              </a:tblGrid>
              <a:tr h="433750">
                <a:tc>
                  <a:txBody>
                    <a:bodyPr/>
                    <a:lstStyle/>
                    <a:p>
                      <a:pPr indent="0" lvl="0" marL="0" rtl="0" algn="ctr">
                        <a:spcBef>
                          <a:spcPts val="0"/>
                        </a:spcBef>
                        <a:spcAft>
                          <a:spcPts val="0"/>
                        </a:spcAft>
                        <a:buNone/>
                      </a:pPr>
                      <a:r>
                        <a:rPr lang="en" sz="1100"/>
                        <a:t>Evaluation metrics</a:t>
                      </a:r>
                      <a:endParaRPr sz="1100"/>
                    </a:p>
                  </a:txBody>
                  <a:tcPr marT="63500" marB="63500" marR="63500" marL="63500"/>
                </a:tc>
                <a:tc>
                  <a:txBody>
                    <a:bodyPr/>
                    <a:lstStyle/>
                    <a:p>
                      <a:pPr indent="0" lvl="0" marL="0" rtl="0" algn="ctr">
                        <a:spcBef>
                          <a:spcPts val="0"/>
                        </a:spcBef>
                        <a:spcAft>
                          <a:spcPts val="0"/>
                        </a:spcAft>
                        <a:buNone/>
                      </a:pPr>
                      <a:r>
                        <a:rPr lang="en" sz="1100"/>
                        <a:t>Random Forest</a:t>
                      </a:r>
                      <a:endParaRPr sz="1100"/>
                    </a:p>
                  </a:txBody>
                  <a:tcPr marT="63500" marB="63500" marR="63500" marL="63500"/>
                </a:tc>
                <a:tc>
                  <a:txBody>
                    <a:bodyPr/>
                    <a:lstStyle/>
                    <a:p>
                      <a:pPr indent="0" lvl="0" marL="0" rtl="0" algn="ctr">
                        <a:spcBef>
                          <a:spcPts val="0"/>
                        </a:spcBef>
                        <a:spcAft>
                          <a:spcPts val="0"/>
                        </a:spcAft>
                        <a:buNone/>
                      </a:pPr>
                      <a:r>
                        <a:rPr lang="en" sz="1100"/>
                        <a:t>Generic GB</a:t>
                      </a:r>
                      <a:endParaRPr sz="1100"/>
                    </a:p>
                  </a:txBody>
                  <a:tcPr marT="63500" marB="63500" marR="63500" marL="63500"/>
                </a:tc>
                <a:tc>
                  <a:txBody>
                    <a:bodyPr/>
                    <a:lstStyle/>
                    <a:p>
                      <a:pPr indent="0" lvl="0" marL="0" rtl="0" algn="ctr">
                        <a:spcBef>
                          <a:spcPts val="0"/>
                        </a:spcBef>
                        <a:spcAft>
                          <a:spcPts val="0"/>
                        </a:spcAft>
                        <a:buNone/>
                      </a:pPr>
                      <a:r>
                        <a:rPr lang="en" sz="1100"/>
                        <a:t>XGBoost</a:t>
                      </a:r>
                      <a:endParaRPr sz="1100"/>
                    </a:p>
                  </a:txBody>
                  <a:tcPr marT="63500" marB="63500" marR="63500" marL="63500"/>
                </a:tc>
                <a:tc>
                  <a:txBody>
                    <a:bodyPr/>
                    <a:lstStyle/>
                    <a:p>
                      <a:pPr indent="0" lvl="0" marL="0" rtl="0" algn="ctr">
                        <a:spcBef>
                          <a:spcPts val="0"/>
                        </a:spcBef>
                        <a:spcAft>
                          <a:spcPts val="0"/>
                        </a:spcAft>
                        <a:buNone/>
                      </a:pPr>
                      <a:r>
                        <a:rPr lang="en" sz="1100"/>
                        <a:t>DNN</a:t>
                      </a:r>
                      <a:endParaRPr sz="1100"/>
                    </a:p>
                  </a:txBody>
                  <a:tcPr marT="63500" marB="63500" marR="63500" marL="63500"/>
                </a:tc>
              </a:tr>
              <a:tr h="293075">
                <a:tc>
                  <a:txBody>
                    <a:bodyPr/>
                    <a:lstStyle/>
                    <a:p>
                      <a:pPr indent="0" lvl="0" marL="0" rtl="0" algn="ctr">
                        <a:spcBef>
                          <a:spcPts val="0"/>
                        </a:spcBef>
                        <a:spcAft>
                          <a:spcPts val="0"/>
                        </a:spcAft>
                        <a:buNone/>
                      </a:pPr>
                      <a:r>
                        <a:rPr lang="en" sz="1100"/>
                        <a:t>MAE</a:t>
                      </a:r>
                      <a:endParaRPr sz="1100"/>
                    </a:p>
                  </a:txBody>
                  <a:tcPr marT="63500" marB="63500" marR="63500" marL="63500"/>
                </a:tc>
                <a:tc>
                  <a:txBody>
                    <a:bodyPr/>
                    <a:lstStyle/>
                    <a:p>
                      <a:pPr indent="0" lvl="0" marL="0" rtl="0" algn="ctr">
                        <a:spcBef>
                          <a:spcPts val="0"/>
                        </a:spcBef>
                        <a:spcAft>
                          <a:spcPts val="0"/>
                        </a:spcAft>
                        <a:buNone/>
                      </a:pPr>
                      <a:r>
                        <a:rPr lang="en" sz="1100"/>
                        <a:t>186.97</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c>
                  <a:txBody>
                    <a:bodyPr/>
                    <a:lstStyle/>
                    <a:p>
                      <a:pPr indent="0" lvl="0" marL="0" rtl="0" algn="ctr">
                        <a:lnSpc>
                          <a:spcPct val="115000"/>
                        </a:lnSpc>
                        <a:spcBef>
                          <a:spcPts val="0"/>
                        </a:spcBef>
                        <a:spcAft>
                          <a:spcPts val="0"/>
                        </a:spcAft>
                        <a:buNone/>
                      </a:pPr>
                      <a:r>
                        <a:rPr lang="en" sz="1050">
                          <a:highlight>
                            <a:srgbClr val="FFFFFF"/>
                          </a:highlight>
                        </a:rPr>
                        <a:t>179.43</a:t>
                      </a:r>
                      <a:endParaRPr sz="1100"/>
                    </a:p>
                  </a:txBody>
                  <a:tcPr marT="63500" marB="63500" marR="63500" marL="63500"/>
                </a:tc>
                <a:tc>
                  <a:txBody>
                    <a:bodyPr/>
                    <a:lstStyle/>
                    <a:p>
                      <a:pPr indent="0" lvl="0" marL="0" rtl="0" algn="ctr">
                        <a:lnSpc>
                          <a:spcPct val="115000"/>
                        </a:lnSpc>
                        <a:spcBef>
                          <a:spcPts val="0"/>
                        </a:spcBef>
                        <a:spcAft>
                          <a:spcPts val="0"/>
                        </a:spcAft>
                        <a:buNone/>
                      </a:pPr>
                      <a:r>
                        <a:rPr lang="en" sz="1100"/>
                        <a:t>329.59</a:t>
                      </a:r>
                      <a:endParaRPr sz="1100"/>
                    </a:p>
                  </a:txBody>
                  <a:tcPr marT="63500" marB="63500" marR="63500" marL="63500"/>
                </a:tc>
              </a:tr>
              <a:tr h="293075">
                <a:tc>
                  <a:txBody>
                    <a:bodyPr/>
                    <a:lstStyle/>
                    <a:p>
                      <a:pPr indent="0" lvl="0" marL="0" rtl="0" algn="ctr">
                        <a:spcBef>
                          <a:spcPts val="0"/>
                        </a:spcBef>
                        <a:spcAft>
                          <a:spcPts val="0"/>
                        </a:spcAft>
                        <a:buNone/>
                      </a:pPr>
                      <a:r>
                        <a:rPr lang="en" sz="1100"/>
                        <a:t>RMSE</a:t>
                      </a:r>
                      <a:endParaRPr sz="1100"/>
                    </a:p>
                  </a:txBody>
                  <a:tcPr marT="63500" marB="63500" marR="63500" marL="63500"/>
                </a:tc>
                <a:tc>
                  <a:txBody>
                    <a:bodyPr/>
                    <a:lstStyle/>
                    <a:p>
                      <a:pPr indent="0" lvl="0" marL="0" rtl="0" algn="ctr">
                        <a:spcBef>
                          <a:spcPts val="0"/>
                        </a:spcBef>
                        <a:spcAft>
                          <a:spcPts val="0"/>
                        </a:spcAft>
                        <a:buNone/>
                      </a:pPr>
                      <a:r>
                        <a:rPr lang="en" sz="1100"/>
                        <a:t>311.43</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c>
                  <a:txBody>
                    <a:bodyPr/>
                    <a:lstStyle/>
                    <a:p>
                      <a:pPr indent="0" lvl="0" marL="0" rtl="0" algn="ctr">
                        <a:lnSpc>
                          <a:spcPct val="115000"/>
                        </a:lnSpc>
                        <a:spcBef>
                          <a:spcPts val="0"/>
                        </a:spcBef>
                        <a:spcAft>
                          <a:spcPts val="0"/>
                        </a:spcAft>
                        <a:buNone/>
                      </a:pPr>
                      <a:r>
                        <a:rPr lang="en" sz="1050">
                          <a:highlight>
                            <a:srgbClr val="FFFFFF"/>
                          </a:highlight>
                        </a:rPr>
                        <a:t>297.90</a:t>
                      </a:r>
                      <a:endParaRPr sz="1100"/>
                    </a:p>
                  </a:txBody>
                  <a:tcPr marT="63500" marB="63500" marR="63500" marL="63500"/>
                </a:tc>
                <a:tc>
                  <a:txBody>
                    <a:bodyPr/>
                    <a:lstStyle/>
                    <a:p>
                      <a:pPr indent="0" lvl="0" marL="0" rtl="0" algn="ctr">
                        <a:lnSpc>
                          <a:spcPct val="115000"/>
                        </a:lnSpc>
                        <a:spcBef>
                          <a:spcPts val="0"/>
                        </a:spcBef>
                        <a:spcAft>
                          <a:spcPts val="0"/>
                        </a:spcAft>
                        <a:buNone/>
                      </a:pPr>
                      <a:r>
                        <a:rPr lang="en" sz="1100"/>
                        <a:t>522.84</a:t>
                      </a:r>
                      <a:endParaRPr sz="1100"/>
                    </a:p>
                  </a:txBody>
                  <a:tcPr marT="63500" marB="63500" marR="63500" marL="63500"/>
                </a:tc>
              </a:tr>
              <a:tr h="293075">
                <a:tc>
                  <a:txBody>
                    <a:bodyPr/>
                    <a:lstStyle/>
                    <a:p>
                      <a:pPr indent="0" lvl="0" marL="0" rtl="0" algn="ctr">
                        <a:spcBef>
                          <a:spcPts val="0"/>
                        </a:spcBef>
                        <a:spcAft>
                          <a:spcPts val="0"/>
                        </a:spcAft>
                        <a:buNone/>
                      </a:pPr>
                      <a:r>
                        <a:rPr lang="en" sz="1100"/>
                        <a:t>R^2</a:t>
                      </a:r>
                      <a:endParaRPr sz="1100"/>
                    </a:p>
                  </a:txBody>
                  <a:tcPr marT="63500" marB="63500" marR="63500" marL="63500"/>
                </a:tc>
                <a:tc>
                  <a:txBody>
                    <a:bodyPr/>
                    <a:lstStyle/>
                    <a:p>
                      <a:pPr indent="0" lvl="0" marL="0" rtl="0" algn="ctr">
                        <a:spcBef>
                          <a:spcPts val="0"/>
                        </a:spcBef>
                        <a:spcAft>
                          <a:spcPts val="0"/>
                        </a:spcAft>
                        <a:buNone/>
                      </a:pPr>
                      <a:r>
                        <a:rPr lang="en" sz="1100"/>
                        <a:t>0.700</a:t>
                      </a:r>
                      <a:endParaRPr sz="1100"/>
                    </a:p>
                  </a:txBody>
                  <a:tcPr marT="63500" marB="63500" marR="63500" marL="63500"/>
                </a:tc>
                <a:tc>
                  <a:txBody>
                    <a:bodyPr/>
                    <a:lstStyle/>
                    <a:p>
                      <a:pPr indent="0" lvl="0" marL="0" rtl="0" algn="ctr">
                        <a:spcBef>
                          <a:spcPts val="0"/>
                        </a:spcBef>
                        <a:spcAft>
                          <a:spcPts val="0"/>
                        </a:spcAft>
                        <a:buNone/>
                      </a:pPr>
                      <a:r>
                        <a:t/>
                      </a:r>
                      <a:endParaRPr sz="1100"/>
                    </a:p>
                  </a:txBody>
                  <a:tcPr marT="63500" marB="63500" marR="63500" marL="63500"/>
                </a:tc>
                <a:tc>
                  <a:txBody>
                    <a:bodyPr/>
                    <a:lstStyle/>
                    <a:p>
                      <a:pPr indent="0" lvl="0" marL="0" rtl="0" algn="ctr">
                        <a:spcBef>
                          <a:spcPts val="0"/>
                        </a:spcBef>
                        <a:spcAft>
                          <a:spcPts val="0"/>
                        </a:spcAft>
                        <a:buNone/>
                      </a:pPr>
                      <a:r>
                        <a:rPr lang="en" sz="1100"/>
                        <a:t>0.726</a:t>
                      </a:r>
                      <a:endParaRPr sz="1100"/>
                    </a:p>
                  </a:txBody>
                  <a:tcPr marT="63500" marB="63500" marR="63500" marL="63500"/>
                </a:tc>
                <a:tc>
                  <a:txBody>
                    <a:bodyPr/>
                    <a:lstStyle/>
                    <a:p>
                      <a:pPr indent="0" lvl="0" marL="0" rtl="0" algn="ctr">
                        <a:lnSpc>
                          <a:spcPct val="115000"/>
                        </a:lnSpc>
                        <a:spcBef>
                          <a:spcPts val="0"/>
                        </a:spcBef>
                        <a:spcAft>
                          <a:spcPts val="0"/>
                        </a:spcAft>
                        <a:buNone/>
                      </a:pPr>
                      <a:r>
                        <a:rPr lang="en" sz="1100"/>
                        <a:t>0.155</a:t>
                      </a:r>
                      <a:endParaRPr sz="1100"/>
                    </a:p>
                  </a:txBody>
                  <a:tcPr marT="63500" marB="63500" marR="63500" marL="63500"/>
                </a:tc>
              </a:tr>
            </a:tbl>
          </a:graphicData>
        </a:graphic>
      </p:graphicFrame>
      <p:sp>
        <p:nvSpPr>
          <p:cNvPr id="206" name="Google Shape;206;p29"/>
          <p:cNvSpPr txBox="1"/>
          <p:nvPr/>
        </p:nvSpPr>
        <p:spPr>
          <a:xfrm>
            <a:off x="3074100" y="3204975"/>
            <a:ext cx="2995800" cy="91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0000"/>
                </a:solidFill>
              </a:rPr>
              <a:t>Remove the vertical lines</a:t>
            </a:r>
            <a:endParaRPr sz="1800">
              <a:solidFill>
                <a:srgbClr val="FF0000"/>
              </a:solidFill>
            </a:endParaRPr>
          </a:p>
        </p:txBody>
      </p:sp>
      <p:sp>
        <p:nvSpPr>
          <p:cNvPr id="207" name="Google Shape;207;p29"/>
          <p:cNvSpPr txBox="1"/>
          <p:nvPr/>
        </p:nvSpPr>
        <p:spPr>
          <a:xfrm>
            <a:off x="1541100" y="742650"/>
            <a:ext cx="6061800" cy="5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Table 2: Summary of model performance and comparison</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0"/>
          <p:cNvSpPr txBox="1"/>
          <p:nvPr>
            <p:ph type="title"/>
          </p:nvPr>
        </p:nvSpPr>
        <p:spPr>
          <a:xfrm>
            <a:off x="1922971" y="1729813"/>
            <a:ext cx="2422800" cy="43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Introduction</a:t>
            </a:r>
            <a:endParaRPr/>
          </a:p>
        </p:txBody>
      </p:sp>
      <p:sp>
        <p:nvSpPr>
          <p:cNvPr id="213" name="Google Shape;213;p30"/>
          <p:cNvSpPr txBox="1"/>
          <p:nvPr>
            <p:ph idx="2" type="title"/>
          </p:nvPr>
        </p:nvSpPr>
        <p:spPr>
          <a:xfrm>
            <a:off x="879490" y="1729813"/>
            <a:ext cx="967200" cy="584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01</a:t>
            </a:r>
            <a:endParaRPr/>
          </a:p>
        </p:txBody>
      </p:sp>
      <p:sp>
        <p:nvSpPr>
          <p:cNvPr id="214" name="Google Shape;214;p30"/>
          <p:cNvSpPr txBox="1"/>
          <p:nvPr>
            <p:ph idx="3" type="title"/>
          </p:nvPr>
        </p:nvSpPr>
        <p:spPr>
          <a:xfrm>
            <a:off x="5841720" y="1729813"/>
            <a:ext cx="2422800" cy="43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Methodology</a:t>
            </a:r>
            <a:endParaRPr/>
          </a:p>
        </p:txBody>
      </p:sp>
      <p:sp>
        <p:nvSpPr>
          <p:cNvPr id="215" name="Google Shape;215;p30"/>
          <p:cNvSpPr txBox="1"/>
          <p:nvPr>
            <p:ph idx="4" type="title"/>
          </p:nvPr>
        </p:nvSpPr>
        <p:spPr>
          <a:xfrm>
            <a:off x="4798309" y="1729813"/>
            <a:ext cx="967200" cy="584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02</a:t>
            </a:r>
            <a:endParaRPr/>
          </a:p>
        </p:txBody>
      </p:sp>
      <p:sp>
        <p:nvSpPr>
          <p:cNvPr id="216" name="Google Shape;216;p30"/>
          <p:cNvSpPr txBox="1"/>
          <p:nvPr>
            <p:ph idx="6" type="title"/>
          </p:nvPr>
        </p:nvSpPr>
        <p:spPr>
          <a:xfrm>
            <a:off x="1922971" y="3095085"/>
            <a:ext cx="2422800" cy="43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Results</a:t>
            </a:r>
            <a:endParaRPr/>
          </a:p>
        </p:txBody>
      </p:sp>
      <p:sp>
        <p:nvSpPr>
          <p:cNvPr id="217" name="Google Shape;217;p30"/>
          <p:cNvSpPr txBox="1"/>
          <p:nvPr>
            <p:ph idx="7" type="title"/>
          </p:nvPr>
        </p:nvSpPr>
        <p:spPr>
          <a:xfrm>
            <a:off x="879490" y="3094915"/>
            <a:ext cx="967200" cy="585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03</a:t>
            </a:r>
            <a:endParaRPr/>
          </a:p>
        </p:txBody>
      </p:sp>
      <p:sp>
        <p:nvSpPr>
          <p:cNvPr id="218" name="Google Shape;218;p30"/>
          <p:cNvSpPr txBox="1"/>
          <p:nvPr>
            <p:ph idx="9" type="title"/>
          </p:nvPr>
        </p:nvSpPr>
        <p:spPr>
          <a:xfrm>
            <a:off x="5841720" y="3095085"/>
            <a:ext cx="2422800" cy="438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219" name="Google Shape;219;p30"/>
          <p:cNvSpPr txBox="1"/>
          <p:nvPr>
            <p:ph idx="13" type="title"/>
          </p:nvPr>
        </p:nvSpPr>
        <p:spPr>
          <a:xfrm>
            <a:off x="4798309" y="3094914"/>
            <a:ext cx="967200" cy="585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04</a:t>
            </a:r>
            <a:endParaRPr/>
          </a:p>
        </p:txBody>
      </p:sp>
      <p:sp>
        <p:nvSpPr>
          <p:cNvPr id="220" name="Google Shape;220;p30"/>
          <p:cNvSpPr txBox="1"/>
          <p:nvPr>
            <p:ph idx="15" type="title"/>
          </p:nvPr>
        </p:nvSpPr>
        <p:spPr>
          <a:xfrm>
            <a:off x="720000" y="496318"/>
            <a:ext cx="7704000" cy="631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T</a:t>
            </a:r>
            <a:r>
              <a:rPr lang="en"/>
              <a:t>able of contents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1"/>
          <p:cNvSpPr txBox="1"/>
          <p:nvPr>
            <p:ph type="title"/>
          </p:nvPr>
        </p:nvSpPr>
        <p:spPr>
          <a:xfrm>
            <a:off x="641564" y="509476"/>
            <a:ext cx="4900500" cy="89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a:t>
            </a:r>
            <a:endParaRPr/>
          </a:p>
        </p:txBody>
      </p:sp>
      <p:sp>
        <p:nvSpPr>
          <p:cNvPr id="226" name="Google Shape;226;p31"/>
          <p:cNvSpPr txBox="1"/>
          <p:nvPr>
            <p:ph idx="1" type="subTitle"/>
          </p:nvPr>
        </p:nvSpPr>
        <p:spPr>
          <a:xfrm>
            <a:off x="510600" y="1450725"/>
            <a:ext cx="8122800" cy="2791200"/>
          </a:xfrm>
          <a:prstGeom prst="rect">
            <a:avLst/>
          </a:prstGeom>
          <a:solidFill>
            <a:schemeClr val="lt1"/>
          </a:solidFill>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1400">
                <a:solidFill>
                  <a:srgbClr val="000000"/>
                </a:solidFill>
                <a:latin typeface="Comfortaa"/>
                <a:ea typeface="Comfortaa"/>
                <a:cs typeface="Comfortaa"/>
                <a:sym typeface="Comfortaa"/>
              </a:rPr>
              <a:t>What is soil respiration?</a:t>
            </a:r>
            <a:endParaRPr b="1" sz="1400">
              <a:solidFill>
                <a:srgbClr val="000000"/>
              </a:solidFill>
              <a:latin typeface="Comfortaa"/>
              <a:ea typeface="Comfortaa"/>
              <a:cs typeface="Comfortaa"/>
              <a:sym typeface="Comfortaa"/>
            </a:endParaRPr>
          </a:p>
          <a:p>
            <a:pPr indent="0" lvl="0" marL="0" rtl="0" algn="l">
              <a:spcBef>
                <a:spcPts val="0"/>
              </a:spcBef>
              <a:spcAft>
                <a:spcPts val="0"/>
              </a:spcAft>
              <a:buNone/>
            </a:pPr>
            <a:r>
              <a:rPr lang="en" sz="1200">
                <a:solidFill>
                  <a:srgbClr val="000000"/>
                </a:solidFill>
                <a:latin typeface="Comfortaa"/>
                <a:ea typeface="Comfortaa"/>
                <a:cs typeface="Comfortaa"/>
                <a:sym typeface="Comfortaa"/>
              </a:rPr>
              <a:t>Soil respiration is the process of soil releasing carbon dioxide into the atmosphere</a:t>
            </a:r>
            <a:endParaRPr sz="1200">
              <a:solidFill>
                <a:srgbClr val="000000"/>
              </a:solidFill>
              <a:latin typeface="Comfortaa"/>
              <a:ea typeface="Comfortaa"/>
              <a:cs typeface="Comfortaa"/>
              <a:sym typeface="Comfortaa"/>
            </a:endParaRPr>
          </a:p>
          <a:p>
            <a:pPr indent="0" lvl="0" marL="0" rtl="0" algn="l">
              <a:spcBef>
                <a:spcPts val="0"/>
              </a:spcBef>
              <a:spcAft>
                <a:spcPts val="0"/>
              </a:spcAft>
              <a:buNone/>
            </a:pPr>
            <a:r>
              <a:t/>
            </a:r>
            <a:endParaRPr sz="1200">
              <a:solidFill>
                <a:srgbClr val="000000"/>
              </a:solidFill>
              <a:latin typeface="Comfortaa"/>
              <a:ea typeface="Comfortaa"/>
              <a:cs typeface="Comfortaa"/>
              <a:sym typeface="Comfortaa"/>
            </a:endParaRPr>
          </a:p>
          <a:p>
            <a:pPr indent="0" lvl="0" marL="0" rtl="0" algn="l">
              <a:spcBef>
                <a:spcPts val="0"/>
              </a:spcBef>
              <a:spcAft>
                <a:spcPts val="0"/>
              </a:spcAft>
              <a:buNone/>
            </a:pPr>
            <a:r>
              <a:rPr b="1" lang="en" sz="1400">
                <a:solidFill>
                  <a:srgbClr val="000000"/>
                </a:solidFill>
                <a:latin typeface="Comfortaa"/>
                <a:ea typeface="Comfortaa"/>
                <a:cs typeface="Comfortaa"/>
                <a:sym typeface="Comfortaa"/>
              </a:rPr>
              <a:t>The primary problem:</a:t>
            </a:r>
            <a:endParaRPr b="1" sz="1400">
              <a:solidFill>
                <a:srgbClr val="000000"/>
              </a:solidFill>
              <a:latin typeface="Comfortaa"/>
              <a:ea typeface="Comfortaa"/>
              <a:cs typeface="Comfortaa"/>
              <a:sym typeface="Comfortaa"/>
            </a:endParaRPr>
          </a:p>
          <a:p>
            <a:pPr indent="0" lvl="0" marL="0" rtl="0" algn="l">
              <a:spcBef>
                <a:spcPts val="0"/>
              </a:spcBef>
              <a:spcAft>
                <a:spcPts val="0"/>
              </a:spcAft>
              <a:buNone/>
            </a:pPr>
            <a:r>
              <a:rPr lang="en" sz="1200">
                <a:solidFill>
                  <a:srgbClr val="000000"/>
                </a:solidFill>
                <a:latin typeface="Comfortaa"/>
                <a:ea typeface="Comfortaa"/>
                <a:cs typeface="Comfortaa"/>
                <a:sym typeface="Comfortaa"/>
              </a:rPr>
              <a:t>There are many factors that come into estimating soil respiration (Rs) leading some estimations becoming inaccurate</a:t>
            </a:r>
            <a:endParaRPr sz="1200">
              <a:solidFill>
                <a:srgbClr val="000000"/>
              </a:solidFill>
              <a:latin typeface="Comfortaa"/>
              <a:ea typeface="Comfortaa"/>
              <a:cs typeface="Comfortaa"/>
              <a:sym typeface="Comfortaa"/>
            </a:endParaRPr>
          </a:p>
          <a:p>
            <a:pPr indent="0" lvl="0" marL="0" rtl="0" algn="l">
              <a:spcBef>
                <a:spcPts val="0"/>
              </a:spcBef>
              <a:spcAft>
                <a:spcPts val="0"/>
              </a:spcAft>
              <a:buNone/>
            </a:pPr>
            <a:r>
              <a:t/>
            </a:r>
            <a:endParaRPr sz="1200">
              <a:solidFill>
                <a:srgbClr val="000000"/>
              </a:solidFill>
              <a:latin typeface="Comfortaa"/>
              <a:ea typeface="Comfortaa"/>
              <a:cs typeface="Comfortaa"/>
              <a:sym typeface="Comfortaa"/>
            </a:endParaRPr>
          </a:p>
          <a:p>
            <a:pPr indent="0" lvl="0" marL="0" rtl="0" algn="l">
              <a:spcBef>
                <a:spcPts val="0"/>
              </a:spcBef>
              <a:spcAft>
                <a:spcPts val="0"/>
              </a:spcAft>
              <a:buNone/>
            </a:pPr>
            <a:r>
              <a:rPr lang="en" sz="1200">
                <a:solidFill>
                  <a:srgbClr val="000000"/>
                </a:solidFill>
                <a:latin typeface="Comfortaa"/>
                <a:ea typeface="Comfortaa"/>
                <a:cs typeface="Comfortaa"/>
                <a:sym typeface="Comfortaa"/>
              </a:rPr>
              <a:t>The emission of soil respiration is around 60 billion tons of carbon dioxide which is greater than the amount emitted by burning fossil fuels. The increase in temperatures increases the rate of soil respiration leading to greater and greater quantities of carbon dioxide being emitted and increasing global warming. </a:t>
            </a:r>
            <a:endParaRPr sz="1200">
              <a:solidFill>
                <a:srgbClr val="000000"/>
              </a:solidFill>
              <a:latin typeface="Comfortaa"/>
              <a:ea typeface="Comfortaa"/>
              <a:cs typeface="Comfortaa"/>
              <a:sym typeface="Comfortaa"/>
            </a:endParaRPr>
          </a:p>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2"/>
          <p:cNvSpPr txBox="1"/>
          <p:nvPr>
            <p:ph type="title"/>
          </p:nvPr>
        </p:nvSpPr>
        <p:spPr>
          <a:xfrm>
            <a:off x="3310050" y="2287775"/>
            <a:ext cx="3840000" cy="737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a:t>
            </a:r>
            <a:endParaRPr/>
          </a:p>
        </p:txBody>
      </p:sp>
      <p:sp>
        <p:nvSpPr>
          <p:cNvPr id="232" name="Google Shape;232;p32"/>
          <p:cNvSpPr txBox="1"/>
          <p:nvPr>
            <p:ph idx="2" type="title"/>
          </p:nvPr>
        </p:nvSpPr>
        <p:spPr>
          <a:xfrm>
            <a:off x="4078650" y="1550077"/>
            <a:ext cx="986700" cy="737700"/>
          </a:xfrm>
          <a:prstGeom prst="rect">
            <a:avLst/>
          </a:prstGeom>
        </p:spPr>
        <p:txBody>
          <a:bodyPr anchorCtr="0" anchor="b" bIns="0" lIns="91425" spcFirstLastPara="1" rIns="91425" wrap="square" tIns="0">
            <a:normAutofit/>
          </a:bodyPr>
          <a:lstStyle/>
          <a:p>
            <a:pPr indent="0" lvl="0" marL="0" rtl="0" algn="ctr">
              <a:spcBef>
                <a:spcPts val="0"/>
              </a:spcBef>
              <a:spcAft>
                <a:spcPts val="0"/>
              </a:spcAft>
              <a:buNone/>
            </a:pPr>
            <a:r>
              <a:rPr lang="en"/>
              <a:t>01</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3"/>
          <p:cNvSpPr txBox="1"/>
          <p:nvPr>
            <p:ph idx="1" type="body"/>
          </p:nvPr>
        </p:nvSpPr>
        <p:spPr>
          <a:xfrm>
            <a:off x="720000" y="1762525"/>
            <a:ext cx="6486900" cy="281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1300">
              <a:solidFill>
                <a:srgbClr val="000000"/>
              </a:solidFill>
              <a:latin typeface="Comfortaa"/>
              <a:ea typeface="Comfortaa"/>
              <a:cs typeface="Comfortaa"/>
              <a:sym typeface="Comfortaa"/>
            </a:endParaRPr>
          </a:p>
          <a:p>
            <a:pPr indent="-311150" lvl="0" marL="457200" rtl="0" algn="l">
              <a:spcBef>
                <a:spcPts val="1000"/>
              </a:spcBef>
              <a:spcAft>
                <a:spcPts val="0"/>
              </a:spcAft>
              <a:buClr>
                <a:srgbClr val="000000"/>
              </a:buClr>
              <a:buSzPts val="1300"/>
              <a:buFont typeface="Comfortaa"/>
              <a:buChar char="●"/>
            </a:pPr>
            <a:r>
              <a:rPr lang="en" sz="1300">
                <a:solidFill>
                  <a:srgbClr val="000000"/>
                </a:solidFill>
                <a:latin typeface="Comfortaa"/>
                <a:ea typeface="Comfortaa"/>
                <a:cs typeface="Comfortaa"/>
                <a:sym typeface="Comfortaa"/>
              </a:rPr>
              <a:t>Soil respiration is a significant contributor to global warming. Improving models will help to predicting and mitigate the impact of climate change.</a:t>
            </a:r>
            <a:endParaRPr sz="1300">
              <a:solidFill>
                <a:srgbClr val="000000"/>
              </a:solidFill>
              <a:latin typeface="Comfortaa"/>
              <a:ea typeface="Comfortaa"/>
              <a:cs typeface="Comfortaa"/>
              <a:sym typeface="Comfortaa"/>
            </a:endParaRPr>
          </a:p>
          <a:p>
            <a:pPr indent="-311150" lvl="0" marL="457200" rtl="0" algn="l">
              <a:spcBef>
                <a:spcPts val="1000"/>
              </a:spcBef>
              <a:spcAft>
                <a:spcPts val="0"/>
              </a:spcAft>
              <a:buClr>
                <a:srgbClr val="000000"/>
              </a:buClr>
              <a:buSzPts val="1300"/>
              <a:buFont typeface="Comfortaa"/>
              <a:buChar char="●"/>
            </a:pPr>
            <a:r>
              <a:rPr lang="en" sz="1300">
                <a:solidFill>
                  <a:srgbClr val="000000"/>
                </a:solidFill>
                <a:latin typeface="Comfortaa"/>
                <a:ea typeface="Comfortaa"/>
                <a:cs typeface="Comfortaa"/>
                <a:sym typeface="Comfortaa"/>
              </a:rPr>
              <a:t>Accurate estimates for soil respiration will help in maintaining ecosystems that are susceptible to climate change</a:t>
            </a:r>
            <a:endParaRPr sz="1300">
              <a:solidFill>
                <a:srgbClr val="000000"/>
              </a:solidFill>
              <a:latin typeface="Comfortaa"/>
              <a:ea typeface="Comfortaa"/>
              <a:cs typeface="Comfortaa"/>
              <a:sym typeface="Comfortaa"/>
            </a:endParaRPr>
          </a:p>
          <a:p>
            <a:pPr indent="-311150" lvl="0" marL="457200" rtl="0" algn="l">
              <a:spcBef>
                <a:spcPts val="1000"/>
              </a:spcBef>
              <a:spcAft>
                <a:spcPts val="0"/>
              </a:spcAft>
              <a:buClr>
                <a:srgbClr val="000000"/>
              </a:buClr>
              <a:buSzPts val="1300"/>
              <a:buFont typeface="Comfortaa"/>
              <a:buChar char="●"/>
            </a:pPr>
            <a:r>
              <a:rPr lang="en" sz="1300">
                <a:solidFill>
                  <a:srgbClr val="000000"/>
                </a:solidFill>
                <a:latin typeface="Comfortaa"/>
                <a:ea typeface="Comfortaa"/>
                <a:cs typeface="Comfortaa"/>
                <a:sym typeface="Comfortaa"/>
              </a:rPr>
              <a:t>Accurate data for soil respiration will help environmental policies aimed at reducing carbon emissions.</a:t>
            </a:r>
            <a:endParaRPr sz="1300">
              <a:solidFill>
                <a:srgbClr val="000000"/>
              </a:solidFill>
              <a:latin typeface="Comfortaa"/>
              <a:ea typeface="Comfortaa"/>
              <a:cs typeface="Comfortaa"/>
              <a:sym typeface="Comfortaa"/>
            </a:endParaRPr>
          </a:p>
          <a:p>
            <a:pPr indent="0" lvl="0" marL="0" rtl="0" algn="l">
              <a:spcBef>
                <a:spcPts val="1000"/>
              </a:spcBef>
              <a:spcAft>
                <a:spcPts val="1000"/>
              </a:spcAft>
              <a:buNone/>
            </a:pPr>
            <a:r>
              <a:t/>
            </a:r>
            <a:endParaRPr sz="1200">
              <a:latin typeface="Comfortaa"/>
              <a:ea typeface="Comfortaa"/>
              <a:cs typeface="Comfortaa"/>
              <a:sym typeface="Comfortaa"/>
            </a:endParaRPr>
          </a:p>
        </p:txBody>
      </p:sp>
      <p:sp>
        <p:nvSpPr>
          <p:cNvPr id="238" name="Google Shape;238;p33"/>
          <p:cNvSpPr txBox="1"/>
          <p:nvPr>
            <p:ph type="title"/>
          </p:nvPr>
        </p:nvSpPr>
        <p:spPr>
          <a:xfrm>
            <a:off x="834900" y="1117825"/>
            <a:ext cx="6257100" cy="644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Why is this research important and relevant?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4"/>
          <p:cNvSpPr txBox="1"/>
          <p:nvPr>
            <p:ph type="title"/>
          </p:nvPr>
        </p:nvSpPr>
        <p:spPr>
          <a:xfrm>
            <a:off x="3498075" y="2287775"/>
            <a:ext cx="3840000" cy="737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Methodology</a:t>
            </a:r>
            <a:endParaRPr/>
          </a:p>
        </p:txBody>
      </p:sp>
      <p:sp>
        <p:nvSpPr>
          <p:cNvPr id="244" name="Google Shape;244;p34"/>
          <p:cNvSpPr txBox="1"/>
          <p:nvPr>
            <p:ph idx="2" type="title"/>
          </p:nvPr>
        </p:nvSpPr>
        <p:spPr>
          <a:xfrm>
            <a:off x="4078650" y="1550077"/>
            <a:ext cx="986700" cy="737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02</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5"/>
          <p:cNvSpPr txBox="1"/>
          <p:nvPr>
            <p:ph idx="1" type="subTitle"/>
          </p:nvPr>
        </p:nvSpPr>
        <p:spPr>
          <a:xfrm>
            <a:off x="1892566" y="1767008"/>
            <a:ext cx="5562600" cy="2815500"/>
          </a:xfrm>
          <a:prstGeom prst="rect">
            <a:avLst/>
          </a:prstGeom>
        </p:spPr>
        <p:txBody>
          <a:bodyPr anchorCtr="0" anchor="t" bIns="91425" lIns="91425" spcFirstLastPara="1" rIns="91425" wrap="square" tIns="91425">
            <a:normAutofit lnSpcReduction="20000"/>
          </a:bodyPr>
          <a:lstStyle/>
          <a:p>
            <a:pPr indent="-317500" lvl="0" marL="457200" rtl="0" algn="l">
              <a:spcBef>
                <a:spcPts val="0"/>
              </a:spcBef>
              <a:spcAft>
                <a:spcPts val="0"/>
              </a:spcAft>
              <a:buSzPts val="1400"/>
              <a:buFont typeface="Arial"/>
              <a:buChar char="●"/>
            </a:pPr>
            <a:r>
              <a:rPr lang="en">
                <a:solidFill>
                  <a:srgbClr val="000000"/>
                </a:solidFill>
                <a:latin typeface="Comfortaa"/>
                <a:ea typeface="Comfortaa"/>
                <a:cs typeface="Comfortaa"/>
                <a:sym typeface="Comfortaa"/>
              </a:rPr>
              <a:t>Soil respiration data:  </a:t>
            </a:r>
            <a:r>
              <a:rPr lang="en" u="sng">
                <a:solidFill>
                  <a:srgbClr val="1155CC"/>
                </a:solidFill>
                <a:latin typeface="Comfortaa"/>
                <a:ea typeface="Comfortaa"/>
                <a:cs typeface="Comfortaa"/>
                <a:sym typeface="Comfortaa"/>
                <a:hlinkClick r:id="rId3">
                  <a:extLst>
                    <a:ext uri="{A12FA001-AC4F-418D-AE19-62706E023703}">
                      <ahyp:hlinkClr val="tx"/>
                    </a:ext>
                  </a:extLst>
                </a:hlinkClick>
              </a:rPr>
              <a:t>SRDB v5</a:t>
            </a:r>
            <a:endParaRPr>
              <a:solidFill>
                <a:srgbClr val="000000"/>
              </a:solidFill>
              <a:latin typeface="Comfortaa"/>
              <a:ea typeface="Comfortaa"/>
              <a:cs typeface="Comfortaa"/>
              <a:sym typeface="Comfortaa"/>
            </a:endParaRPr>
          </a:p>
          <a:p>
            <a:pPr indent="-317500" lvl="0" marL="457200" rtl="0" algn="l">
              <a:spcBef>
                <a:spcPts val="1000"/>
              </a:spcBef>
              <a:spcAft>
                <a:spcPts val="0"/>
              </a:spcAft>
              <a:buClr>
                <a:srgbClr val="000000"/>
              </a:buClr>
              <a:buSzPts val="1400"/>
              <a:buFont typeface="Arial"/>
              <a:buChar char="●"/>
            </a:pPr>
            <a:r>
              <a:rPr lang="en">
                <a:solidFill>
                  <a:srgbClr val="000000"/>
                </a:solidFill>
                <a:latin typeface="Comfortaa"/>
                <a:ea typeface="Comfortaa"/>
                <a:cs typeface="Comfortaa"/>
                <a:sym typeface="Comfortaa"/>
              </a:rPr>
              <a:t>Soil data: ERA5-Land (</a:t>
            </a:r>
            <a:r>
              <a:rPr lang="en" u="sng">
                <a:solidFill>
                  <a:srgbClr val="1155CC"/>
                </a:solidFill>
                <a:latin typeface="Comfortaa"/>
                <a:ea typeface="Comfortaa"/>
                <a:cs typeface="Comfortaa"/>
                <a:sym typeface="Comfortaa"/>
                <a:hlinkClick r:id="rId4">
                  <a:extLst>
                    <a:ext uri="{A12FA001-AC4F-418D-AE19-62706E023703}">
                      <ahyp:hlinkClr val="tx"/>
                    </a:ext>
                  </a:extLst>
                </a:hlinkClick>
              </a:rPr>
              <a:t>monthly</a:t>
            </a:r>
            <a:r>
              <a:rPr lang="en">
                <a:solidFill>
                  <a:srgbClr val="000000"/>
                </a:solidFill>
                <a:latin typeface="Comfortaa"/>
                <a:ea typeface="Comfortaa"/>
                <a:cs typeface="Comfortaa"/>
                <a:sym typeface="Comfortaa"/>
              </a:rPr>
              <a:t>), a product of the ERA5 climate reanalysis, which provides hourly data on many atmospheric, land-surface and sea-state parameters.</a:t>
            </a:r>
            <a:endParaRPr>
              <a:solidFill>
                <a:srgbClr val="000000"/>
              </a:solidFill>
              <a:latin typeface="Comfortaa"/>
              <a:ea typeface="Comfortaa"/>
              <a:cs typeface="Comfortaa"/>
              <a:sym typeface="Comfortaa"/>
            </a:endParaRPr>
          </a:p>
          <a:p>
            <a:pPr indent="-317500" lvl="0" marL="457200" rtl="0" algn="l">
              <a:spcBef>
                <a:spcPts val="1000"/>
              </a:spcBef>
              <a:spcAft>
                <a:spcPts val="0"/>
              </a:spcAft>
              <a:buClr>
                <a:srgbClr val="000000"/>
              </a:buClr>
              <a:buSzPts val="1400"/>
              <a:buFont typeface="Arial"/>
              <a:buChar char="●"/>
            </a:pPr>
            <a:r>
              <a:rPr lang="en">
                <a:solidFill>
                  <a:srgbClr val="000000"/>
                </a:solidFill>
                <a:latin typeface="Comfortaa"/>
                <a:ea typeface="Comfortaa"/>
                <a:cs typeface="Comfortaa"/>
                <a:sym typeface="Comfortaa"/>
              </a:rPr>
              <a:t>Climate data: </a:t>
            </a:r>
            <a:r>
              <a:rPr lang="en" u="sng">
                <a:solidFill>
                  <a:srgbClr val="1155CC"/>
                </a:solidFill>
                <a:latin typeface="Comfortaa"/>
                <a:ea typeface="Comfortaa"/>
                <a:cs typeface="Comfortaa"/>
                <a:sym typeface="Comfortaa"/>
                <a:hlinkClick r:id="rId5">
                  <a:extLst>
                    <a:ext uri="{A12FA001-AC4F-418D-AE19-62706E023703}">
                      <ahyp:hlinkClr val="tx"/>
                    </a:ext>
                  </a:extLst>
                </a:hlinkClick>
              </a:rPr>
              <a:t>ERA5 Monthly Aggregates</a:t>
            </a:r>
            <a:endParaRPr>
              <a:solidFill>
                <a:srgbClr val="000000"/>
              </a:solidFill>
              <a:latin typeface="Comfortaa"/>
              <a:ea typeface="Comfortaa"/>
              <a:cs typeface="Comfortaa"/>
              <a:sym typeface="Comfortaa"/>
            </a:endParaRPr>
          </a:p>
          <a:p>
            <a:pPr indent="-317500" lvl="0" marL="457200" rtl="0" algn="l">
              <a:spcBef>
                <a:spcPts val="1000"/>
              </a:spcBef>
              <a:spcAft>
                <a:spcPts val="0"/>
              </a:spcAft>
              <a:buClr>
                <a:srgbClr val="000000"/>
              </a:buClr>
              <a:buSzPts val="1400"/>
              <a:buFont typeface="Arial"/>
              <a:buChar char="●"/>
            </a:pPr>
            <a:r>
              <a:rPr lang="en">
                <a:solidFill>
                  <a:srgbClr val="000000"/>
                </a:solidFill>
                <a:latin typeface="Comfortaa"/>
                <a:ea typeface="Comfortaa"/>
                <a:cs typeface="Comfortaa"/>
                <a:sym typeface="Comfortaa"/>
              </a:rPr>
              <a:t>Land-use Data:  </a:t>
            </a:r>
            <a:r>
              <a:rPr lang="en" u="sng">
                <a:solidFill>
                  <a:srgbClr val="1155CC"/>
                </a:solidFill>
                <a:latin typeface="Comfortaa"/>
                <a:ea typeface="Comfortaa"/>
                <a:cs typeface="Comfortaa"/>
                <a:sym typeface="Comfortaa"/>
                <a:hlinkClick r:id="rId6">
                  <a:extLst>
                    <a:ext uri="{A12FA001-AC4F-418D-AE19-62706E023703}">
                      <ahyp:hlinkClr val="tx"/>
                    </a:ext>
                  </a:extLst>
                </a:hlinkClick>
              </a:rPr>
              <a:t>SRDB v5</a:t>
            </a:r>
            <a:endParaRPr>
              <a:solidFill>
                <a:srgbClr val="000000"/>
              </a:solidFill>
              <a:latin typeface="Comfortaa"/>
              <a:ea typeface="Comfortaa"/>
              <a:cs typeface="Comfortaa"/>
              <a:sym typeface="Comfortaa"/>
            </a:endParaRPr>
          </a:p>
          <a:p>
            <a:pPr indent="-317500" lvl="0" marL="457200" rtl="0" algn="l">
              <a:spcBef>
                <a:spcPts val="1000"/>
              </a:spcBef>
              <a:spcAft>
                <a:spcPts val="0"/>
              </a:spcAft>
              <a:buClr>
                <a:srgbClr val="000000"/>
              </a:buClr>
              <a:buSzPts val="1400"/>
              <a:buFont typeface="Arial"/>
              <a:buChar char="●"/>
            </a:pPr>
            <a:r>
              <a:rPr lang="en">
                <a:solidFill>
                  <a:srgbClr val="000000"/>
                </a:solidFill>
                <a:latin typeface="Comfortaa"/>
                <a:ea typeface="Comfortaa"/>
                <a:cs typeface="Comfortaa"/>
                <a:sym typeface="Comfortaa"/>
              </a:rPr>
              <a:t>Vegetation data: </a:t>
            </a:r>
            <a:r>
              <a:rPr lang="en" u="sng">
                <a:solidFill>
                  <a:srgbClr val="1155CC"/>
                </a:solidFill>
                <a:latin typeface="Comfortaa"/>
                <a:ea typeface="Comfortaa"/>
                <a:cs typeface="Comfortaa"/>
                <a:sym typeface="Comfortaa"/>
                <a:hlinkClick r:id="rId7">
                  <a:extLst>
                    <a:ext uri="{A12FA001-AC4F-418D-AE19-62706E023703}">
                      <ahyp:hlinkClr val="tx"/>
                    </a:ext>
                  </a:extLst>
                </a:hlinkClick>
              </a:rPr>
              <a:t>USGS Landsat datasets</a:t>
            </a:r>
            <a:endParaRPr>
              <a:latin typeface="Comfortaa"/>
              <a:ea typeface="Comfortaa"/>
              <a:cs typeface="Comfortaa"/>
              <a:sym typeface="Comfortaa"/>
            </a:endParaRPr>
          </a:p>
          <a:p>
            <a:pPr indent="0" lvl="0" marL="0" rtl="0" algn="ctr">
              <a:spcBef>
                <a:spcPts val="1000"/>
              </a:spcBef>
              <a:spcAft>
                <a:spcPts val="1000"/>
              </a:spcAft>
              <a:buNone/>
            </a:pPr>
            <a:r>
              <a:t/>
            </a:r>
            <a:endParaRPr/>
          </a:p>
        </p:txBody>
      </p:sp>
      <p:sp>
        <p:nvSpPr>
          <p:cNvPr id="250" name="Google Shape;250;p35"/>
          <p:cNvSpPr txBox="1"/>
          <p:nvPr>
            <p:ph type="title"/>
          </p:nvPr>
        </p:nvSpPr>
        <p:spPr>
          <a:xfrm>
            <a:off x="1892575" y="805193"/>
            <a:ext cx="7704000" cy="631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Input Data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6"/>
          <p:cNvSpPr txBox="1"/>
          <p:nvPr>
            <p:ph type="title"/>
          </p:nvPr>
        </p:nvSpPr>
        <p:spPr>
          <a:xfrm>
            <a:off x="2627000" y="858925"/>
            <a:ext cx="3351000" cy="6315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lang="en">
                <a:solidFill>
                  <a:srgbClr val="000000"/>
                </a:solidFill>
              </a:rPr>
              <a:t>Data preparation</a:t>
            </a:r>
            <a:endParaRPr b="0">
              <a:solidFill>
                <a:srgbClr val="000000"/>
              </a:solidFill>
            </a:endParaRPr>
          </a:p>
          <a:p>
            <a:pPr indent="0" lvl="0" marL="0" rtl="0" algn="l">
              <a:spcBef>
                <a:spcPts val="0"/>
              </a:spcBef>
              <a:spcAft>
                <a:spcPts val="0"/>
              </a:spcAft>
              <a:buNone/>
            </a:pPr>
            <a:r>
              <a:t/>
            </a:r>
            <a:endParaRPr/>
          </a:p>
        </p:txBody>
      </p:sp>
      <p:sp>
        <p:nvSpPr>
          <p:cNvPr id="256" name="Google Shape;256;p36"/>
          <p:cNvSpPr txBox="1"/>
          <p:nvPr>
            <p:ph idx="1" type="subTitle"/>
          </p:nvPr>
        </p:nvSpPr>
        <p:spPr>
          <a:xfrm>
            <a:off x="1892566" y="1767010"/>
            <a:ext cx="5683500" cy="2614200"/>
          </a:xfrm>
          <a:prstGeom prst="rect">
            <a:avLst/>
          </a:prstGeom>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Clr>
                <a:srgbClr val="000000"/>
              </a:buClr>
              <a:buSzPts val="1400"/>
              <a:buFont typeface="Comfortaa"/>
              <a:buChar char="●"/>
            </a:pPr>
            <a:r>
              <a:rPr lang="en">
                <a:solidFill>
                  <a:srgbClr val="000000"/>
                </a:solidFill>
                <a:latin typeface="Comfortaa"/>
                <a:ea typeface="Comfortaa"/>
                <a:cs typeface="Comfortaa"/>
                <a:sym typeface="Comfortaa"/>
              </a:rPr>
              <a:t>Clearing errors in the data and organizing it so that the model is efficient as possible (Data cleaning and </a:t>
            </a:r>
            <a:r>
              <a:rPr lang="en">
                <a:solidFill>
                  <a:srgbClr val="000000"/>
                </a:solidFill>
                <a:latin typeface="Comfortaa"/>
                <a:ea typeface="Comfortaa"/>
                <a:cs typeface="Comfortaa"/>
                <a:sym typeface="Comfortaa"/>
              </a:rPr>
              <a:t>normalization</a:t>
            </a:r>
            <a:r>
              <a:rPr lang="en">
                <a:solidFill>
                  <a:srgbClr val="000000"/>
                </a:solidFill>
                <a:latin typeface="Comfortaa"/>
                <a:ea typeface="Comfortaa"/>
                <a:cs typeface="Comfortaa"/>
                <a:sym typeface="Comfortaa"/>
              </a:rPr>
              <a:t>)</a:t>
            </a:r>
            <a:endParaRPr>
              <a:solidFill>
                <a:srgbClr val="000000"/>
              </a:solidFill>
              <a:latin typeface="Comfortaa"/>
              <a:ea typeface="Comfortaa"/>
              <a:cs typeface="Comfortaa"/>
              <a:sym typeface="Comfortaa"/>
            </a:endParaRPr>
          </a:p>
          <a:p>
            <a:pPr indent="-317500" lvl="0" marL="457200" rtl="0" algn="l">
              <a:lnSpc>
                <a:spcPct val="115000"/>
              </a:lnSpc>
              <a:spcBef>
                <a:spcPts val="1000"/>
              </a:spcBef>
              <a:spcAft>
                <a:spcPts val="0"/>
              </a:spcAft>
              <a:buClr>
                <a:srgbClr val="000000"/>
              </a:buClr>
              <a:buSzPts val="1400"/>
              <a:buFont typeface="Comfortaa"/>
              <a:buChar char="●"/>
            </a:pPr>
            <a:r>
              <a:rPr lang="en">
                <a:solidFill>
                  <a:srgbClr val="000000"/>
                </a:solidFill>
                <a:latin typeface="Comfortaa"/>
                <a:ea typeface="Comfortaa"/>
                <a:cs typeface="Comfortaa"/>
                <a:sym typeface="Comfortaa"/>
              </a:rPr>
              <a:t>Filling missing data values with context clues</a:t>
            </a:r>
            <a:endParaRPr>
              <a:solidFill>
                <a:srgbClr val="000000"/>
              </a:solidFill>
              <a:latin typeface="Comfortaa"/>
              <a:ea typeface="Comfortaa"/>
              <a:cs typeface="Comfortaa"/>
              <a:sym typeface="Comfortaa"/>
            </a:endParaRPr>
          </a:p>
          <a:p>
            <a:pPr indent="-317500" lvl="0" marL="457200" rtl="0" algn="l">
              <a:lnSpc>
                <a:spcPct val="115000"/>
              </a:lnSpc>
              <a:spcBef>
                <a:spcPts val="1000"/>
              </a:spcBef>
              <a:spcAft>
                <a:spcPts val="0"/>
              </a:spcAft>
              <a:buClr>
                <a:srgbClr val="000000"/>
              </a:buClr>
              <a:buSzPts val="1400"/>
              <a:buFont typeface="Comfortaa"/>
              <a:buChar char="●"/>
            </a:pPr>
            <a:r>
              <a:rPr lang="en">
                <a:solidFill>
                  <a:srgbClr val="000000"/>
                </a:solidFill>
                <a:latin typeface="Comfortaa"/>
                <a:ea typeface="Comfortaa"/>
                <a:cs typeface="Comfortaa"/>
                <a:sym typeface="Comfortaa"/>
              </a:rPr>
              <a:t>Removing inconsistencies from the data</a:t>
            </a:r>
            <a:endParaRPr>
              <a:solidFill>
                <a:srgbClr val="000000"/>
              </a:solidFill>
              <a:latin typeface="Comfortaa"/>
              <a:ea typeface="Comfortaa"/>
              <a:cs typeface="Comfortaa"/>
              <a:sym typeface="Comfortaa"/>
            </a:endParaRPr>
          </a:p>
          <a:p>
            <a:pPr indent="0" lvl="0" marL="0" rtl="0" algn="ctr">
              <a:spcBef>
                <a:spcPts val="100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7"/>
          <p:cNvSpPr txBox="1"/>
          <p:nvPr>
            <p:ph type="title"/>
          </p:nvPr>
        </p:nvSpPr>
        <p:spPr>
          <a:xfrm>
            <a:off x="720000" y="496318"/>
            <a:ext cx="7704000" cy="631500"/>
          </a:xfrm>
          <a:prstGeom prst="rect">
            <a:avLst/>
          </a:prstGeom>
        </p:spPr>
        <p:txBody>
          <a:bodyPr anchorCtr="0" anchor="t" bIns="91425" lIns="91425" spcFirstLastPara="1" rIns="91425" wrap="square" tIns="91425">
            <a:normAutofit/>
          </a:bodyPr>
          <a:lstStyle/>
          <a:p>
            <a:pPr indent="0" lvl="0" marL="0" rtl="0" algn="l">
              <a:lnSpc>
                <a:spcPct val="115000"/>
              </a:lnSpc>
              <a:spcBef>
                <a:spcPts val="1800"/>
              </a:spcBef>
              <a:spcAft>
                <a:spcPts val="600"/>
              </a:spcAft>
              <a:buNone/>
            </a:pPr>
            <a:r>
              <a:rPr b="0" lang="en">
                <a:solidFill>
                  <a:srgbClr val="000000"/>
                </a:solidFill>
              </a:rPr>
              <a:t>Machine Learning Model</a:t>
            </a:r>
            <a:r>
              <a:rPr b="0" lang="en">
                <a:solidFill>
                  <a:srgbClr val="000000"/>
                </a:solidFill>
              </a:rPr>
              <a:t>s</a:t>
            </a:r>
            <a:endParaRPr/>
          </a:p>
        </p:txBody>
      </p:sp>
      <p:sp>
        <p:nvSpPr>
          <p:cNvPr id="262" name="Google Shape;262;p37"/>
          <p:cNvSpPr txBox="1"/>
          <p:nvPr>
            <p:ph idx="5" type="title"/>
          </p:nvPr>
        </p:nvSpPr>
        <p:spPr>
          <a:xfrm>
            <a:off x="720000" y="1127825"/>
            <a:ext cx="7212300" cy="3775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t/>
            </a:r>
            <a:endParaRPr b="0" sz="1200">
              <a:latin typeface="Comfortaa"/>
              <a:ea typeface="Comfortaa"/>
              <a:cs typeface="Comfortaa"/>
              <a:sym typeface="Comfortaa"/>
            </a:endParaRPr>
          </a:p>
          <a:p>
            <a:pPr indent="0" lvl="0" marL="0" rtl="0" algn="l">
              <a:spcBef>
                <a:spcPts val="0"/>
              </a:spcBef>
              <a:spcAft>
                <a:spcPts val="0"/>
              </a:spcAft>
              <a:buNone/>
            </a:pPr>
            <a:r>
              <a:t/>
            </a:r>
            <a:endParaRPr b="0" sz="1200">
              <a:latin typeface="Comfortaa"/>
              <a:ea typeface="Comfortaa"/>
              <a:cs typeface="Comfortaa"/>
              <a:sym typeface="Comfortaa"/>
            </a:endParaRPr>
          </a:p>
          <a:p>
            <a:pPr indent="0" lvl="0" marL="0" rtl="0" algn="l">
              <a:spcBef>
                <a:spcPts val="0"/>
              </a:spcBef>
              <a:spcAft>
                <a:spcPts val="0"/>
              </a:spcAft>
              <a:buNone/>
            </a:pPr>
            <a:r>
              <a:rPr lang="en" sz="1400">
                <a:latin typeface="Comfortaa"/>
                <a:ea typeface="Comfortaa"/>
                <a:cs typeface="Comfortaa"/>
                <a:sym typeface="Comfortaa"/>
              </a:rPr>
              <a:t>Inputs</a:t>
            </a:r>
            <a:endParaRPr sz="1400">
              <a:latin typeface="Comfortaa"/>
              <a:ea typeface="Comfortaa"/>
              <a:cs typeface="Comfortaa"/>
              <a:sym typeface="Comfortaa"/>
            </a:endParaRPr>
          </a:p>
          <a:p>
            <a:pPr indent="-297180" lvl="0" marL="457200" rtl="0" algn="l">
              <a:spcBef>
                <a:spcPts val="0"/>
              </a:spcBef>
              <a:spcAft>
                <a:spcPts val="0"/>
              </a:spcAft>
              <a:buSzPct val="100000"/>
              <a:buFont typeface="Comfortaa"/>
              <a:buChar char="●"/>
            </a:pPr>
            <a:r>
              <a:rPr b="0" lang="en" sz="1200">
                <a:latin typeface="Comfortaa"/>
                <a:ea typeface="Comfortaa"/>
                <a:cs typeface="Comfortaa"/>
                <a:sym typeface="Comfortaa"/>
              </a:rPr>
              <a:t>Target Variable: </a:t>
            </a:r>
            <a:r>
              <a:rPr lang="en" sz="1200">
                <a:latin typeface="Comfortaa"/>
                <a:ea typeface="Comfortaa"/>
                <a:cs typeface="Comfortaa"/>
                <a:sym typeface="Comfortaa"/>
              </a:rPr>
              <a:t>Soil </a:t>
            </a:r>
            <a:r>
              <a:rPr lang="en" sz="1200">
                <a:latin typeface="Comfortaa"/>
                <a:ea typeface="Comfortaa"/>
                <a:cs typeface="Comfortaa"/>
                <a:sym typeface="Comfortaa"/>
              </a:rPr>
              <a:t>respiration</a:t>
            </a:r>
            <a:endParaRPr b="0" sz="1200">
              <a:latin typeface="Comfortaa"/>
              <a:ea typeface="Comfortaa"/>
              <a:cs typeface="Comfortaa"/>
              <a:sym typeface="Comfortaa"/>
            </a:endParaRPr>
          </a:p>
          <a:p>
            <a:pPr indent="-297180" lvl="0" marL="457200" rtl="0" algn="l">
              <a:spcBef>
                <a:spcPts val="0"/>
              </a:spcBef>
              <a:spcAft>
                <a:spcPts val="0"/>
              </a:spcAft>
              <a:buSzPct val="100000"/>
              <a:buFont typeface="Comfortaa"/>
              <a:buChar char="●"/>
            </a:pPr>
            <a:r>
              <a:rPr b="0" lang="en" sz="1200">
                <a:latin typeface="Comfortaa"/>
                <a:ea typeface="Comfortaa"/>
                <a:cs typeface="Comfortaa"/>
                <a:sym typeface="Comfortaa"/>
              </a:rPr>
              <a:t>Independent Variables: 27 environmental factors, including geographical location</a:t>
            </a:r>
            <a:r>
              <a:rPr lang="en" sz="1200">
                <a:latin typeface="Comfortaa"/>
                <a:ea typeface="Comfortaa"/>
                <a:cs typeface="Comfortaa"/>
                <a:sym typeface="Comfortaa"/>
              </a:rPr>
              <a:t>, </a:t>
            </a:r>
            <a:r>
              <a:rPr lang="en" sz="1200">
                <a:latin typeface="Comfortaa"/>
                <a:ea typeface="Comfortaa"/>
                <a:cs typeface="Comfortaa"/>
                <a:sym typeface="Comfortaa"/>
              </a:rPr>
              <a:t>climate data, and ecological</a:t>
            </a:r>
            <a:r>
              <a:rPr b="0" lang="en" sz="1200">
                <a:latin typeface="Comfortaa"/>
                <a:ea typeface="Comfortaa"/>
                <a:cs typeface="Comfortaa"/>
                <a:sym typeface="Comfortaa"/>
              </a:rPr>
              <a:t> data.</a:t>
            </a:r>
            <a:endParaRPr b="0" sz="1200">
              <a:latin typeface="Comfortaa"/>
              <a:ea typeface="Comfortaa"/>
              <a:cs typeface="Comfortaa"/>
              <a:sym typeface="Comfortaa"/>
            </a:endParaRPr>
          </a:p>
          <a:p>
            <a:pPr indent="0" lvl="0" marL="0" rtl="0" algn="l">
              <a:spcBef>
                <a:spcPts val="0"/>
              </a:spcBef>
              <a:spcAft>
                <a:spcPts val="0"/>
              </a:spcAft>
              <a:buNone/>
            </a:pPr>
            <a:r>
              <a:t/>
            </a:r>
            <a:endParaRPr b="0" sz="1200">
              <a:latin typeface="Comfortaa"/>
              <a:ea typeface="Comfortaa"/>
              <a:cs typeface="Comfortaa"/>
              <a:sym typeface="Comfortaa"/>
            </a:endParaRPr>
          </a:p>
          <a:p>
            <a:pPr indent="0" lvl="0" marL="0" rtl="0" algn="l">
              <a:spcBef>
                <a:spcPts val="0"/>
              </a:spcBef>
              <a:spcAft>
                <a:spcPts val="0"/>
              </a:spcAft>
              <a:buNone/>
            </a:pPr>
            <a:r>
              <a:rPr lang="en" sz="1200">
                <a:latin typeface="Comfortaa"/>
                <a:ea typeface="Comfortaa"/>
                <a:cs typeface="Comfortaa"/>
                <a:sym typeface="Comfortaa"/>
              </a:rPr>
              <a:t>Data set is split into 3 datasets</a:t>
            </a:r>
            <a:endParaRPr b="0" sz="1200">
              <a:latin typeface="Comfortaa"/>
              <a:ea typeface="Comfortaa"/>
              <a:cs typeface="Comfortaa"/>
              <a:sym typeface="Comfortaa"/>
            </a:endParaRPr>
          </a:p>
          <a:p>
            <a:pPr indent="0" lvl="0" marL="0" rtl="0" algn="l">
              <a:spcBef>
                <a:spcPts val="0"/>
              </a:spcBef>
              <a:spcAft>
                <a:spcPts val="0"/>
              </a:spcAft>
              <a:buNone/>
            </a:pPr>
            <a:r>
              <a:t/>
            </a:r>
            <a:endParaRPr b="0" sz="1200">
              <a:latin typeface="Comfortaa"/>
              <a:ea typeface="Comfortaa"/>
              <a:cs typeface="Comfortaa"/>
              <a:sym typeface="Comfortaa"/>
            </a:endParaRPr>
          </a:p>
          <a:p>
            <a:pPr indent="0" lvl="0" marL="0" rtl="0" algn="l">
              <a:spcBef>
                <a:spcPts val="0"/>
              </a:spcBef>
              <a:spcAft>
                <a:spcPts val="0"/>
              </a:spcAft>
              <a:buNone/>
            </a:pPr>
            <a:r>
              <a:rPr b="0" lang="en" sz="1200">
                <a:latin typeface="Comfortaa"/>
                <a:ea typeface="Comfortaa"/>
                <a:cs typeface="Comfortaa"/>
                <a:sym typeface="Comfortaa"/>
              </a:rPr>
              <a:t>Training Set: 60% of the entire dataset is used for model training. </a:t>
            </a:r>
            <a:endParaRPr b="0" sz="1200">
              <a:latin typeface="Comfortaa"/>
              <a:ea typeface="Comfortaa"/>
              <a:cs typeface="Comfortaa"/>
              <a:sym typeface="Comfortaa"/>
            </a:endParaRPr>
          </a:p>
          <a:p>
            <a:pPr indent="0" lvl="0" marL="0" rtl="0" algn="l">
              <a:spcBef>
                <a:spcPts val="0"/>
              </a:spcBef>
              <a:spcAft>
                <a:spcPts val="0"/>
              </a:spcAft>
              <a:buNone/>
            </a:pPr>
            <a:r>
              <a:t/>
            </a:r>
            <a:endParaRPr b="0" sz="1200">
              <a:latin typeface="Comfortaa"/>
              <a:ea typeface="Comfortaa"/>
              <a:cs typeface="Comfortaa"/>
              <a:sym typeface="Comfortaa"/>
            </a:endParaRPr>
          </a:p>
          <a:p>
            <a:pPr indent="0" lvl="0" marL="0" rtl="0" algn="l">
              <a:spcBef>
                <a:spcPts val="0"/>
              </a:spcBef>
              <a:spcAft>
                <a:spcPts val="0"/>
              </a:spcAft>
              <a:buNone/>
            </a:pPr>
            <a:r>
              <a:rPr b="0" lang="en" sz="1200">
                <a:latin typeface="Comfortaa"/>
                <a:ea typeface="Comfortaa"/>
                <a:cs typeface="Comfortaa"/>
                <a:sym typeface="Comfortaa"/>
              </a:rPr>
              <a:t>Validation set: 20% of the entire dataset is used for hyper-parameter tuning. This is especially important for DNN model</a:t>
            </a:r>
            <a:endParaRPr b="0" sz="1200">
              <a:latin typeface="Comfortaa"/>
              <a:ea typeface="Comfortaa"/>
              <a:cs typeface="Comfortaa"/>
              <a:sym typeface="Comfortaa"/>
            </a:endParaRPr>
          </a:p>
          <a:p>
            <a:pPr indent="0" lvl="0" marL="0" rtl="0" algn="l">
              <a:spcBef>
                <a:spcPts val="0"/>
              </a:spcBef>
              <a:spcAft>
                <a:spcPts val="0"/>
              </a:spcAft>
              <a:buNone/>
            </a:pPr>
            <a:r>
              <a:t/>
            </a:r>
            <a:endParaRPr b="0" sz="1200">
              <a:latin typeface="Comfortaa"/>
              <a:ea typeface="Comfortaa"/>
              <a:cs typeface="Comfortaa"/>
              <a:sym typeface="Comfortaa"/>
            </a:endParaRPr>
          </a:p>
          <a:p>
            <a:pPr indent="0" lvl="0" marL="0" rtl="0" algn="l">
              <a:spcBef>
                <a:spcPts val="0"/>
              </a:spcBef>
              <a:spcAft>
                <a:spcPts val="0"/>
              </a:spcAft>
              <a:buNone/>
            </a:pPr>
            <a:r>
              <a:rPr b="0" lang="en" sz="1200">
                <a:latin typeface="Comfortaa"/>
                <a:ea typeface="Comfortaa"/>
                <a:cs typeface="Comfortaa"/>
                <a:sym typeface="Comfortaa"/>
              </a:rPr>
              <a:t>Testing Set: 20% of the entire dataset is used for out-of-sample evaluation.</a:t>
            </a:r>
            <a:endParaRPr b="0" sz="1200">
              <a:latin typeface="Comfortaa"/>
              <a:ea typeface="Comfortaa"/>
              <a:cs typeface="Comfortaa"/>
              <a:sym typeface="Comfortaa"/>
            </a:endParaRPr>
          </a:p>
          <a:p>
            <a:pPr indent="0" lvl="0" marL="0" rtl="0" algn="l">
              <a:spcBef>
                <a:spcPts val="0"/>
              </a:spcBef>
              <a:spcAft>
                <a:spcPts val="0"/>
              </a:spcAft>
              <a:buNone/>
            </a:pPr>
            <a:r>
              <a:t/>
            </a:r>
            <a:endParaRPr b="0" sz="1200">
              <a:latin typeface="Comfortaa"/>
              <a:ea typeface="Comfortaa"/>
              <a:cs typeface="Comfortaa"/>
              <a:sym typeface="Comfortaa"/>
            </a:endParaRPr>
          </a:p>
          <a:p>
            <a:pPr indent="0" lvl="0" marL="0" rtl="0" algn="l">
              <a:spcBef>
                <a:spcPts val="0"/>
              </a:spcBef>
              <a:spcAft>
                <a:spcPts val="0"/>
              </a:spcAft>
              <a:buNone/>
            </a:pPr>
            <a:r>
              <a:rPr lang="en" sz="1400">
                <a:latin typeface="Comfortaa"/>
                <a:ea typeface="Comfortaa"/>
                <a:cs typeface="Comfortaa"/>
                <a:sym typeface="Comfortaa"/>
              </a:rPr>
              <a:t>Machine learning models</a:t>
            </a:r>
            <a:endParaRPr sz="1400">
              <a:latin typeface="Comfortaa"/>
              <a:ea typeface="Comfortaa"/>
              <a:cs typeface="Comfortaa"/>
              <a:sym typeface="Comfortaa"/>
            </a:endParaRPr>
          </a:p>
          <a:p>
            <a:pPr indent="0" lvl="0" marL="0" rtl="0" algn="l">
              <a:spcBef>
                <a:spcPts val="0"/>
              </a:spcBef>
              <a:spcAft>
                <a:spcPts val="0"/>
              </a:spcAft>
              <a:buNone/>
            </a:pPr>
            <a:r>
              <a:t/>
            </a:r>
            <a:endParaRPr b="0" sz="1200">
              <a:latin typeface="Comfortaa"/>
              <a:ea typeface="Comfortaa"/>
              <a:cs typeface="Comfortaa"/>
              <a:sym typeface="Comfortaa"/>
            </a:endParaRPr>
          </a:p>
          <a:p>
            <a:pPr indent="-297180" lvl="0" marL="457200" rtl="0" algn="l">
              <a:spcBef>
                <a:spcPts val="0"/>
              </a:spcBef>
              <a:spcAft>
                <a:spcPts val="0"/>
              </a:spcAft>
              <a:buSzPct val="100000"/>
              <a:buFont typeface="Comfortaa"/>
              <a:buChar char="●"/>
            </a:pPr>
            <a:r>
              <a:rPr b="0" lang="en" sz="1200">
                <a:latin typeface="Comfortaa"/>
                <a:ea typeface="Comfortaa"/>
                <a:cs typeface="Comfortaa"/>
                <a:sym typeface="Comfortaa"/>
              </a:rPr>
              <a:t>XGBoost Model</a:t>
            </a:r>
            <a:endParaRPr b="0" sz="1200">
              <a:latin typeface="Comfortaa"/>
              <a:ea typeface="Comfortaa"/>
              <a:cs typeface="Comfortaa"/>
              <a:sym typeface="Comfortaa"/>
            </a:endParaRPr>
          </a:p>
          <a:p>
            <a:pPr indent="0" lvl="0" marL="0" rtl="0" algn="l">
              <a:spcBef>
                <a:spcPts val="0"/>
              </a:spcBef>
              <a:spcAft>
                <a:spcPts val="0"/>
              </a:spcAft>
              <a:buNone/>
            </a:pPr>
            <a:r>
              <a:t/>
            </a:r>
            <a:endParaRPr b="0" sz="1200">
              <a:latin typeface="Comfortaa"/>
              <a:ea typeface="Comfortaa"/>
              <a:cs typeface="Comfortaa"/>
              <a:sym typeface="Comfortaa"/>
            </a:endParaRPr>
          </a:p>
          <a:p>
            <a:pPr indent="-297180" lvl="0" marL="457200" rtl="0" algn="l">
              <a:spcBef>
                <a:spcPts val="0"/>
              </a:spcBef>
              <a:spcAft>
                <a:spcPts val="0"/>
              </a:spcAft>
              <a:buSzPct val="100000"/>
              <a:buFont typeface="Comfortaa"/>
              <a:buChar char="●"/>
            </a:pPr>
            <a:r>
              <a:rPr b="0" lang="en" sz="1200">
                <a:latin typeface="Comfortaa"/>
                <a:ea typeface="Comfortaa"/>
                <a:cs typeface="Comfortaa"/>
                <a:sym typeface="Comfortaa"/>
              </a:rPr>
              <a:t>Deep Neural Network Model </a:t>
            </a:r>
            <a:endParaRPr b="0" sz="1200">
              <a:latin typeface="Comfortaa"/>
              <a:ea typeface="Comfortaa"/>
              <a:cs typeface="Comfortaa"/>
              <a:sym typeface="Comfortaa"/>
            </a:endParaRPr>
          </a:p>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8"/>
          <p:cNvSpPr txBox="1"/>
          <p:nvPr>
            <p:ph type="title"/>
          </p:nvPr>
        </p:nvSpPr>
        <p:spPr>
          <a:xfrm>
            <a:off x="3605500" y="2374325"/>
            <a:ext cx="3840000" cy="737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Results</a:t>
            </a:r>
            <a:endParaRPr/>
          </a:p>
        </p:txBody>
      </p:sp>
      <p:sp>
        <p:nvSpPr>
          <p:cNvPr id="268" name="Google Shape;268;p38"/>
          <p:cNvSpPr txBox="1"/>
          <p:nvPr>
            <p:ph idx="2" type="title"/>
          </p:nvPr>
        </p:nvSpPr>
        <p:spPr>
          <a:xfrm>
            <a:off x="3877200" y="1636627"/>
            <a:ext cx="986700" cy="737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03</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9"/>
          <p:cNvSpPr txBox="1"/>
          <p:nvPr>
            <p:ph idx="1" type="subTitle"/>
          </p:nvPr>
        </p:nvSpPr>
        <p:spPr>
          <a:xfrm>
            <a:off x="985077" y="822405"/>
            <a:ext cx="7248900" cy="32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000000"/>
                </a:solidFill>
                <a:latin typeface="Comfortaa"/>
                <a:ea typeface="Comfortaa"/>
                <a:cs typeface="Comfortaa"/>
                <a:sym typeface="Comfortaa"/>
              </a:rPr>
              <a:t>Performance evaluation:</a:t>
            </a:r>
            <a:endParaRPr b="1">
              <a:solidFill>
                <a:srgbClr val="000000"/>
              </a:solidFill>
              <a:latin typeface="Comfortaa"/>
              <a:ea typeface="Comfortaa"/>
              <a:cs typeface="Comfortaa"/>
              <a:sym typeface="Comfortaa"/>
            </a:endParaRPr>
          </a:p>
          <a:p>
            <a:pPr indent="-317500" lvl="0" marL="457200" rtl="0" algn="l">
              <a:spcBef>
                <a:spcPts val="0"/>
              </a:spcBef>
              <a:spcAft>
                <a:spcPts val="0"/>
              </a:spcAft>
              <a:buClr>
                <a:srgbClr val="000000"/>
              </a:buClr>
              <a:buSzPts val="1400"/>
              <a:buFont typeface="Comfortaa"/>
              <a:buChar char="●"/>
            </a:pPr>
            <a:r>
              <a:rPr lang="en">
                <a:solidFill>
                  <a:srgbClr val="000000"/>
                </a:solidFill>
                <a:latin typeface="Comfortaa"/>
                <a:ea typeface="Comfortaa"/>
                <a:cs typeface="Comfortaa"/>
                <a:sym typeface="Comfortaa"/>
              </a:rPr>
              <a:t>Evaluate performance metrics (R², RMSE, MAE) of our models.</a:t>
            </a:r>
            <a:endParaRPr>
              <a:solidFill>
                <a:srgbClr val="000000"/>
              </a:solidFill>
              <a:latin typeface="Comfortaa"/>
              <a:ea typeface="Comfortaa"/>
              <a:cs typeface="Comfortaa"/>
              <a:sym typeface="Comfortaa"/>
            </a:endParaRPr>
          </a:p>
          <a:p>
            <a:pPr indent="-317500" lvl="0" marL="457200" rtl="0" algn="l">
              <a:spcBef>
                <a:spcPts val="0"/>
              </a:spcBef>
              <a:spcAft>
                <a:spcPts val="0"/>
              </a:spcAft>
              <a:buClr>
                <a:srgbClr val="000000"/>
              </a:buClr>
              <a:buSzPts val="1400"/>
              <a:buFont typeface="Comfortaa"/>
              <a:buChar char="●"/>
            </a:pPr>
            <a:r>
              <a:rPr lang="en">
                <a:solidFill>
                  <a:srgbClr val="000000"/>
                </a:solidFill>
                <a:latin typeface="Comfortaa"/>
                <a:ea typeface="Comfortaa"/>
                <a:cs typeface="Comfortaa"/>
                <a:sym typeface="Comfortaa"/>
              </a:rPr>
              <a:t>Compare these metrics from the two models and with those reported in previous studies.</a:t>
            </a:r>
            <a:endParaRPr>
              <a:solidFill>
                <a:srgbClr val="000000"/>
              </a:solidFill>
              <a:latin typeface="Comfortaa"/>
              <a:ea typeface="Comfortaa"/>
              <a:cs typeface="Comfortaa"/>
              <a:sym typeface="Comfortaa"/>
            </a:endParaRPr>
          </a:p>
          <a:p>
            <a:pPr indent="-317500" lvl="0" marL="457200" rtl="0" algn="l">
              <a:spcBef>
                <a:spcPts val="0"/>
              </a:spcBef>
              <a:spcAft>
                <a:spcPts val="0"/>
              </a:spcAft>
              <a:buClr>
                <a:srgbClr val="000000"/>
              </a:buClr>
              <a:buSzPts val="1400"/>
              <a:buFont typeface="Comfortaa"/>
              <a:buChar char="●"/>
            </a:pPr>
            <a:r>
              <a:rPr lang="en">
                <a:solidFill>
                  <a:srgbClr val="000000"/>
                </a:solidFill>
                <a:latin typeface="Comfortaa"/>
                <a:ea typeface="Comfortaa"/>
                <a:cs typeface="Comfortaa"/>
                <a:sym typeface="Comfortaa"/>
              </a:rPr>
              <a:t>Discuss the improvements and potential reasons for better performance.</a:t>
            </a:r>
            <a:endParaRPr>
              <a:solidFill>
                <a:srgbClr val="000000"/>
              </a:solidFill>
              <a:latin typeface="Comfortaa"/>
              <a:ea typeface="Comfortaa"/>
              <a:cs typeface="Comfortaa"/>
              <a:sym typeface="Comfortaa"/>
            </a:endParaRPr>
          </a:p>
          <a:p>
            <a:pPr indent="0" lvl="0" marL="0" rtl="0" algn="l">
              <a:spcBef>
                <a:spcPts val="0"/>
              </a:spcBef>
              <a:spcAft>
                <a:spcPts val="0"/>
              </a:spcAft>
              <a:buNone/>
            </a:pPr>
            <a:r>
              <a:t/>
            </a:r>
            <a:endParaRPr>
              <a:solidFill>
                <a:srgbClr val="000000"/>
              </a:solidFill>
              <a:latin typeface="Comfortaa"/>
              <a:ea typeface="Comfortaa"/>
              <a:cs typeface="Comfortaa"/>
              <a:sym typeface="Comfortaa"/>
            </a:endParaRPr>
          </a:p>
          <a:p>
            <a:pPr indent="0" lvl="0" marL="0" rtl="0" algn="l">
              <a:lnSpc>
                <a:spcPct val="150000"/>
              </a:lnSpc>
              <a:spcBef>
                <a:spcPts val="0"/>
              </a:spcBef>
              <a:spcAft>
                <a:spcPts val="0"/>
              </a:spcAft>
              <a:buNone/>
            </a:pPr>
            <a:r>
              <a:rPr b="1" lang="en">
                <a:solidFill>
                  <a:srgbClr val="000000"/>
                </a:solidFill>
                <a:latin typeface="Comfortaa"/>
                <a:ea typeface="Comfortaa"/>
                <a:cs typeface="Comfortaa"/>
                <a:sym typeface="Comfortaa"/>
              </a:rPr>
              <a:t>Feature importance:: </a:t>
            </a:r>
            <a:endParaRPr b="1">
              <a:solidFill>
                <a:srgbClr val="000000"/>
              </a:solidFill>
              <a:latin typeface="Comfortaa"/>
              <a:ea typeface="Comfortaa"/>
              <a:cs typeface="Comfortaa"/>
              <a:sym typeface="Comfortaa"/>
            </a:endParaRPr>
          </a:p>
          <a:p>
            <a:pPr indent="-317500" lvl="0" marL="457200" rtl="0" algn="l">
              <a:lnSpc>
                <a:spcPct val="150000"/>
              </a:lnSpc>
              <a:spcBef>
                <a:spcPts val="0"/>
              </a:spcBef>
              <a:spcAft>
                <a:spcPts val="0"/>
              </a:spcAft>
              <a:buClr>
                <a:srgbClr val="000000"/>
              </a:buClr>
              <a:buSzPts val="1400"/>
              <a:buFont typeface="Comfortaa"/>
              <a:buChar char="●"/>
            </a:pPr>
            <a:r>
              <a:rPr lang="en">
                <a:solidFill>
                  <a:srgbClr val="000000"/>
                </a:solidFill>
                <a:latin typeface="Comfortaa"/>
                <a:ea typeface="Comfortaa"/>
                <a:cs typeface="Comfortaa"/>
                <a:sym typeface="Comfortaa"/>
              </a:rPr>
              <a:t>Identity top factors that impact soil respiration</a:t>
            </a:r>
            <a:endParaRPr>
              <a:solidFill>
                <a:srgbClr val="000000"/>
              </a:solidFill>
              <a:latin typeface="Comfortaa"/>
              <a:ea typeface="Comfortaa"/>
              <a:cs typeface="Comfortaa"/>
              <a:sym typeface="Comfortaa"/>
            </a:endParaRPr>
          </a:p>
          <a:p>
            <a:pPr indent="-317500" lvl="0" marL="457200" rtl="0" algn="l">
              <a:lnSpc>
                <a:spcPct val="150000"/>
              </a:lnSpc>
              <a:spcBef>
                <a:spcPts val="0"/>
              </a:spcBef>
              <a:spcAft>
                <a:spcPts val="0"/>
              </a:spcAft>
              <a:buClr>
                <a:srgbClr val="000000"/>
              </a:buClr>
              <a:buSzPts val="1400"/>
              <a:buFont typeface="Comfortaa"/>
              <a:buChar char="●"/>
            </a:pPr>
            <a:r>
              <a:rPr lang="en">
                <a:solidFill>
                  <a:srgbClr val="000000"/>
                </a:solidFill>
                <a:latin typeface="Comfortaa"/>
                <a:ea typeface="Comfortaa"/>
                <a:cs typeface="Comfortaa"/>
                <a:sym typeface="Comfortaa"/>
              </a:rPr>
              <a:t>What are the top factors in increasing soil respiration?</a:t>
            </a:r>
            <a:endParaRPr>
              <a:solidFill>
                <a:srgbClr val="000000"/>
              </a:solidFill>
              <a:latin typeface="Comfortaa"/>
              <a:ea typeface="Comfortaa"/>
              <a:cs typeface="Comfortaa"/>
              <a:sym typeface="Comfortaa"/>
            </a:endParaRPr>
          </a:p>
          <a:p>
            <a:pPr indent="-317500" lvl="0" marL="457200" rtl="0" algn="l">
              <a:lnSpc>
                <a:spcPct val="150000"/>
              </a:lnSpc>
              <a:spcBef>
                <a:spcPts val="0"/>
              </a:spcBef>
              <a:spcAft>
                <a:spcPts val="0"/>
              </a:spcAft>
              <a:buClr>
                <a:srgbClr val="000000"/>
              </a:buClr>
              <a:buSzPts val="1400"/>
              <a:buFont typeface="Comfortaa"/>
              <a:buChar char="●"/>
            </a:pPr>
            <a:r>
              <a:rPr lang="en">
                <a:solidFill>
                  <a:srgbClr val="000000"/>
                </a:solidFill>
                <a:latin typeface="Comfortaa"/>
                <a:ea typeface="Comfortaa"/>
                <a:cs typeface="Comfortaa"/>
                <a:sym typeface="Comfortaa"/>
              </a:rPr>
              <a:t>What are the top factors in decreasing soil respiration?</a:t>
            </a:r>
            <a:endParaRPr>
              <a:solidFill>
                <a:srgbClr val="000000"/>
              </a:solidFill>
              <a:latin typeface="Comfortaa"/>
              <a:ea typeface="Comfortaa"/>
              <a:cs typeface="Comfortaa"/>
              <a:sym typeface="Comforta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0"/>
          <p:cNvSpPr txBox="1"/>
          <p:nvPr>
            <p:ph type="title"/>
          </p:nvPr>
        </p:nvSpPr>
        <p:spPr>
          <a:xfrm>
            <a:off x="3068325" y="2287775"/>
            <a:ext cx="3840000" cy="737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Conclusion</a:t>
            </a:r>
            <a:endParaRPr/>
          </a:p>
        </p:txBody>
      </p:sp>
      <p:sp>
        <p:nvSpPr>
          <p:cNvPr id="279" name="Google Shape;279;p40"/>
          <p:cNvSpPr txBox="1"/>
          <p:nvPr>
            <p:ph idx="2" type="title"/>
          </p:nvPr>
        </p:nvSpPr>
        <p:spPr>
          <a:xfrm>
            <a:off x="3742925" y="1550077"/>
            <a:ext cx="986700" cy="737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 0</a:t>
            </a:r>
            <a:r>
              <a:rPr lang="en"/>
              <a:t>4</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1"/>
          <p:cNvSpPr txBox="1"/>
          <p:nvPr>
            <p:ph idx="6" type="title"/>
          </p:nvPr>
        </p:nvSpPr>
        <p:spPr>
          <a:xfrm>
            <a:off x="720000" y="1316775"/>
            <a:ext cx="7704000" cy="3042300"/>
          </a:xfrm>
          <a:prstGeom prst="rect">
            <a:avLst/>
          </a:prstGeom>
        </p:spPr>
        <p:txBody>
          <a:bodyPr anchorCtr="0" anchor="t" bIns="91425" lIns="91425" spcFirstLastPara="1" rIns="91425" wrap="square" tIns="91425">
            <a:normAutofit/>
          </a:bodyPr>
          <a:lstStyle/>
          <a:p>
            <a:pPr indent="0" lvl="0" marL="0" rtl="0" algn="l">
              <a:lnSpc>
                <a:spcPct val="115000"/>
              </a:lnSpc>
              <a:spcBef>
                <a:spcPts val="2000"/>
              </a:spcBef>
              <a:spcAft>
                <a:spcPts val="0"/>
              </a:spcAft>
              <a:buNone/>
            </a:pPr>
            <a:r>
              <a:t/>
            </a:r>
            <a:endParaRPr b="0" sz="1400">
              <a:solidFill>
                <a:srgbClr val="000000"/>
              </a:solidFill>
              <a:latin typeface="Comfortaa"/>
              <a:ea typeface="Comfortaa"/>
              <a:cs typeface="Comfortaa"/>
              <a:sym typeface="Comfortaa"/>
            </a:endParaRPr>
          </a:p>
          <a:p>
            <a:pPr indent="0" lvl="0" marL="0" rtl="0" algn="l">
              <a:lnSpc>
                <a:spcPct val="115000"/>
              </a:lnSpc>
              <a:spcBef>
                <a:spcPts val="600"/>
              </a:spcBef>
              <a:spcAft>
                <a:spcPts val="0"/>
              </a:spcAft>
              <a:buNone/>
            </a:pPr>
            <a:r>
              <a:rPr b="0" lang="en" sz="1300">
                <a:solidFill>
                  <a:srgbClr val="000000"/>
                </a:solidFill>
                <a:latin typeface="Comfortaa"/>
                <a:ea typeface="Comfortaa"/>
                <a:cs typeface="Comfortaa"/>
                <a:sym typeface="Comfortaa"/>
              </a:rPr>
              <a:t>Based on the results, we can identify these key points</a:t>
            </a:r>
            <a:endParaRPr b="0" sz="1300">
              <a:solidFill>
                <a:srgbClr val="000000"/>
              </a:solidFill>
              <a:latin typeface="Comfortaa"/>
              <a:ea typeface="Comfortaa"/>
              <a:cs typeface="Comfortaa"/>
              <a:sym typeface="Comfortaa"/>
            </a:endParaRPr>
          </a:p>
          <a:p>
            <a:pPr indent="0" lvl="0" marL="0" rtl="0" algn="l">
              <a:lnSpc>
                <a:spcPct val="115000"/>
              </a:lnSpc>
              <a:spcBef>
                <a:spcPts val="0"/>
              </a:spcBef>
              <a:spcAft>
                <a:spcPts val="0"/>
              </a:spcAft>
              <a:buNone/>
            </a:pPr>
            <a:r>
              <a:t/>
            </a:r>
            <a:endParaRPr b="0" sz="1300">
              <a:solidFill>
                <a:srgbClr val="000000"/>
              </a:solidFill>
              <a:latin typeface="Comfortaa"/>
              <a:ea typeface="Comfortaa"/>
              <a:cs typeface="Comfortaa"/>
              <a:sym typeface="Comfortaa"/>
            </a:endParaRPr>
          </a:p>
          <a:p>
            <a:pPr indent="-311150" lvl="0" marL="457200" rtl="0" algn="l">
              <a:lnSpc>
                <a:spcPct val="115000"/>
              </a:lnSpc>
              <a:spcBef>
                <a:spcPts val="0"/>
              </a:spcBef>
              <a:spcAft>
                <a:spcPts val="0"/>
              </a:spcAft>
              <a:buClr>
                <a:srgbClr val="000000"/>
              </a:buClr>
              <a:buSzPts val="1300"/>
              <a:buFont typeface="Comfortaa"/>
              <a:buChar char="●"/>
            </a:pPr>
            <a:r>
              <a:rPr b="0" lang="en" sz="1300">
                <a:solidFill>
                  <a:srgbClr val="000000"/>
                </a:solidFill>
                <a:latin typeface="Comfortaa"/>
                <a:ea typeface="Comfortaa"/>
                <a:cs typeface="Comfortaa"/>
                <a:sym typeface="Comfortaa"/>
              </a:rPr>
              <a:t>Are the two models in this study effective in predicting soil respiration based on environmental factors? </a:t>
            </a:r>
            <a:endParaRPr b="0" sz="1300">
              <a:solidFill>
                <a:srgbClr val="000000"/>
              </a:solidFill>
              <a:latin typeface="Comfortaa"/>
              <a:ea typeface="Comfortaa"/>
              <a:cs typeface="Comfortaa"/>
              <a:sym typeface="Comfortaa"/>
            </a:endParaRPr>
          </a:p>
          <a:p>
            <a:pPr indent="-311150" lvl="0" marL="457200" rtl="0" algn="l">
              <a:lnSpc>
                <a:spcPct val="115000"/>
              </a:lnSpc>
              <a:spcBef>
                <a:spcPts val="0"/>
              </a:spcBef>
              <a:spcAft>
                <a:spcPts val="0"/>
              </a:spcAft>
              <a:buClr>
                <a:srgbClr val="000000"/>
              </a:buClr>
              <a:buSzPts val="1300"/>
              <a:buFont typeface="Comfortaa"/>
              <a:buChar char="●"/>
            </a:pPr>
            <a:r>
              <a:rPr b="0" lang="en" sz="1300">
                <a:solidFill>
                  <a:srgbClr val="000000"/>
                </a:solidFill>
                <a:latin typeface="Comfortaa"/>
                <a:ea typeface="Comfortaa"/>
                <a:cs typeface="Comfortaa"/>
                <a:sym typeface="Comfortaa"/>
              </a:rPr>
              <a:t>What are the keep drives that impact soil respiration? </a:t>
            </a:r>
            <a:endParaRPr b="0" sz="1300">
              <a:solidFill>
                <a:srgbClr val="000000"/>
              </a:solidFill>
              <a:latin typeface="Comfortaa"/>
              <a:ea typeface="Comfortaa"/>
              <a:cs typeface="Comfortaa"/>
              <a:sym typeface="Comfortaa"/>
            </a:endParaRPr>
          </a:p>
          <a:p>
            <a:pPr indent="-311150" lvl="1" marL="914400" rtl="0" algn="l">
              <a:lnSpc>
                <a:spcPct val="115000"/>
              </a:lnSpc>
              <a:spcBef>
                <a:spcPts val="0"/>
              </a:spcBef>
              <a:spcAft>
                <a:spcPts val="0"/>
              </a:spcAft>
              <a:buClr>
                <a:srgbClr val="000000"/>
              </a:buClr>
              <a:buSzPts val="1300"/>
              <a:buFont typeface="Comfortaa"/>
              <a:buChar char="○"/>
            </a:pPr>
            <a:r>
              <a:rPr b="0" lang="en" sz="1300">
                <a:solidFill>
                  <a:srgbClr val="000000"/>
                </a:solidFill>
                <a:latin typeface="Comfortaa"/>
                <a:ea typeface="Comfortaa"/>
                <a:cs typeface="Comfortaa"/>
                <a:sym typeface="Comfortaa"/>
              </a:rPr>
              <a:t>What are the top factors in increasing soil respiration? </a:t>
            </a:r>
            <a:endParaRPr b="0" sz="1300">
              <a:solidFill>
                <a:srgbClr val="000000"/>
              </a:solidFill>
              <a:latin typeface="Comfortaa"/>
              <a:ea typeface="Comfortaa"/>
              <a:cs typeface="Comfortaa"/>
              <a:sym typeface="Comfortaa"/>
            </a:endParaRPr>
          </a:p>
          <a:p>
            <a:pPr indent="-311150" lvl="1" marL="914400" rtl="0" algn="l">
              <a:lnSpc>
                <a:spcPct val="115000"/>
              </a:lnSpc>
              <a:spcBef>
                <a:spcPts val="0"/>
              </a:spcBef>
              <a:spcAft>
                <a:spcPts val="0"/>
              </a:spcAft>
              <a:buClr>
                <a:srgbClr val="000000"/>
              </a:buClr>
              <a:buSzPts val="1300"/>
              <a:buFont typeface="Comfortaa"/>
              <a:buChar char="○"/>
            </a:pPr>
            <a:r>
              <a:rPr b="0" lang="en" sz="1300">
                <a:solidFill>
                  <a:srgbClr val="000000"/>
                </a:solidFill>
                <a:latin typeface="Comfortaa"/>
                <a:ea typeface="Comfortaa"/>
                <a:cs typeface="Comfortaa"/>
                <a:sym typeface="Comfortaa"/>
              </a:rPr>
              <a:t>What are the top factors in decreasing soil respiration?</a:t>
            </a:r>
            <a:endParaRPr b="0" sz="1300">
              <a:solidFill>
                <a:srgbClr val="000000"/>
              </a:solidFill>
              <a:latin typeface="Comfortaa"/>
              <a:ea typeface="Comfortaa"/>
              <a:cs typeface="Comfortaa"/>
              <a:sym typeface="Comfortaa"/>
            </a:endParaRPr>
          </a:p>
          <a:p>
            <a:pPr indent="-311150" lvl="0" marL="457200" rtl="0" algn="l">
              <a:lnSpc>
                <a:spcPct val="115000"/>
              </a:lnSpc>
              <a:spcBef>
                <a:spcPts val="0"/>
              </a:spcBef>
              <a:spcAft>
                <a:spcPts val="0"/>
              </a:spcAft>
              <a:buClr>
                <a:srgbClr val="000000"/>
              </a:buClr>
              <a:buSzPts val="1300"/>
              <a:buFont typeface="Comfortaa"/>
              <a:buChar char="●"/>
            </a:pPr>
            <a:r>
              <a:rPr b="0" lang="en" sz="1300">
                <a:solidFill>
                  <a:srgbClr val="000000"/>
                </a:solidFill>
                <a:latin typeface="Comfortaa"/>
                <a:ea typeface="Comfortaa"/>
                <a:cs typeface="Comfortaa"/>
                <a:sym typeface="Comfortaa"/>
              </a:rPr>
              <a:t>Identify key drivers that can be actioned upon.</a:t>
            </a:r>
            <a:endParaRPr b="0" sz="1300">
              <a:solidFill>
                <a:srgbClr val="000000"/>
              </a:solidFill>
              <a:latin typeface="Comfortaa"/>
              <a:ea typeface="Comfortaa"/>
              <a:cs typeface="Comfortaa"/>
              <a:sym typeface="Comfortaa"/>
            </a:endParaRPr>
          </a:p>
          <a:p>
            <a:pPr indent="-311150" lvl="0" marL="457200" rtl="0" algn="l">
              <a:lnSpc>
                <a:spcPct val="115000"/>
              </a:lnSpc>
              <a:spcBef>
                <a:spcPts val="0"/>
              </a:spcBef>
              <a:spcAft>
                <a:spcPts val="0"/>
              </a:spcAft>
              <a:buClr>
                <a:srgbClr val="000000"/>
              </a:buClr>
              <a:buSzPts val="1300"/>
              <a:buFont typeface="Comfortaa"/>
              <a:buChar char="●"/>
            </a:pPr>
            <a:r>
              <a:rPr b="0" lang="en" sz="1300">
                <a:solidFill>
                  <a:srgbClr val="000000"/>
                </a:solidFill>
                <a:latin typeface="Comfortaa"/>
                <a:ea typeface="Comfortaa"/>
                <a:cs typeface="Comfortaa"/>
                <a:sym typeface="Comfortaa"/>
              </a:rPr>
              <a:t>Make recommendations to reduce soil respiration and slow down global warming. </a:t>
            </a:r>
            <a:endParaRPr b="0" sz="1300">
              <a:solidFill>
                <a:srgbClr val="000000"/>
              </a:solidFill>
              <a:latin typeface="Comfortaa"/>
              <a:ea typeface="Comfortaa"/>
              <a:cs typeface="Comfortaa"/>
              <a:sym typeface="Comfortaa"/>
            </a:endParaRPr>
          </a:p>
          <a:p>
            <a:pPr indent="0" lvl="0" marL="0" rtl="0" algn="l">
              <a:spcBef>
                <a:spcPts val="0"/>
              </a:spcBef>
              <a:spcAft>
                <a:spcPts val="0"/>
              </a:spcAft>
              <a:buNone/>
            </a:pPr>
            <a:r>
              <a:t/>
            </a:r>
            <a:endParaRPr b="0" sz="1400">
              <a:latin typeface="Comfortaa"/>
              <a:ea typeface="Comfortaa"/>
              <a:cs typeface="Comfortaa"/>
              <a:sym typeface="Comforta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2"/>
          <p:cNvSpPr txBox="1"/>
          <p:nvPr>
            <p:ph type="title"/>
          </p:nvPr>
        </p:nvSpPr>
        <p:spPr>
          <a:xfrm>
            <a:off x="720002" y="1480659"/>
            <a:ext cx="7128000" cy="2182200"/>
          </a:xfrm>
          <a:prstGeom prst="rect">
            <a:avLst/>
          </a:prstGeom>
        </p:spPr>
        <p:txBody>
          <a:bodyPr anchorCtr="0" anchor="b" bIns="91425" lIns="91425" spcFirstLastPara="1" rIns="91425" wrap="square" tIns="91425">
            <a:normAutofit/>
          </a:bodyPr>
          <a:lstStyle/>
          <a:p>
            <a:pPr indent="0" lvl="0" marL="0" rtl="0" algn="l">
              <a:lnSpc>
                <a:spcPct val="115000"/>
              </a:lnSpc>
              <a:spcBef>
                <a:spcPts val="0"/>
              </a:spcBef>
              <a:spcAft>
                <a:spcPts val="0"/>
              </a:spcAft>
              <a:buNone/>
            </a:pPr>
            <a:r>
              <a:rPr b="0" lang="en" sz="1200">
                <a:solidFill>
                  <a:srgbClr val="000000"/>
                </a:solidFill>
                <a:latin typeface="Comfortaa"/>
                <a:ea typeface="Comfortaa"/>
                <a:cs typeface="Comfortaa"/>
                <a:sym typeface="Comfortaa"/>
              </a:rPr>
              <a:t>Liu, J., Hu, J., Liu, H., et al. "Global Soil Respiration Estimation Based on Ecological Big Data and Machine Learning Model." </a:t>
            </a:r>
            <a:r>
              <a:rPr b="0" i="1" lang="en" sz="1200">
                <a:solidFill>
                  <a:srgbClr val="000000"/>
                </a:solidFill>
                <a:latin typeface="Comfortaa"/>
                <a:ea typeface="Comfortaa"/>
                <a:cs typeface="Comfortaa"/>
                <a:sym typeface="Comfortaa"/>
              </a:rPr>
              <a:t>Scientific Reports</a:t>
            </a:r>
            <a:r>
              <a:rPr b="0" lang="en" sz="1200">
                <a:solidFill>
                  <a:srgbClr val="000000"/>
                </a:solidFill>
                <a:latin typeface="Comfortaa"/>
                <a:ea typeface="Comfortaa"/>
                <a:cs typeface="Comfortaa"/>
                <a:sym typeface="Comfortaa"/>
              </a:rPr>
              <a:t> 14 (2024): 13231.</a:t>
            </a:r>
            <a:r>
              <a:rPr b="0" lang="en" sz="1200">
                <a:solidFill>
                  <a:srgbClr val="000000"/>
                </a:solidFill>
                <a:uFill>
                  <a:noFill/>
                </a:uFill>
                <a:latin typeface="Comfortaa"/>
                <a:ea typeface="Comfortaa"/>
                <a:cs typeface="Comfortaa"/>
                <a:sym typeface="Comfortaa"/>
                <a:hlinkClick r:id="rId3">
                  <a:extLst>
                    <a:ext uri="{A12FA001-AC4F-418D-AE19-62706E023703}">
                      <ahyp:hlinkClr val="tx"/>
                    </a:ext>
                  </a:extLst>
                </a:hlinkClick>
              </a:rPr>
              <a:t> </a:t>
            </a:r>
            <a:r>
              <a:rPr b="0" lang="en" sz="1200" u="sng">
                <a:solidFill>
                  <a:srgbClr val="1155CC"/>
                </a:solidFill>
                <a:latin typeface="Comfortaa"/>
                <a:ea typeface="Comfortaa"/>
                <a:cs typeface="Comfortaa"/>
                <a:sym typeface="Comfortaa"/>
                <a:hlinkClick r:id="rId4">
                  <a:extLst>
                    <a:ext uri="{A12FA001-AC4F-418D-AE19-62706E023703}">
                      <ahyp:hlinkClr val="tx"/>
                    </a:ext>
                  </a:extLst>
                </a:hlinkClick>
              </a:rPr>
              <a:t>https://doi.org/10.1038/s41598-024-64235-w</a:t>
            </a:r>
            <a:r>
              <a:rPr b="0" lang="en" sz="1200">
                <a:solidFill>
                  <a:srgbClr val="000000"/>
                </a:solidFill>
                <a:latin typeface="Comfortaa"/>
                <a:ea typeface="Comfortaa"/>
                <a:cs typeface="Comfortaa"/>
                <a:sym typeface="Comfortaa"/>
              </a:rPr>
              <a:t>.</a:t>
            </a:r>
            <a:endParaRPr b="0" sz="1200">
              <a:solidFill>
                <a:srgbClr val="000000"/>
              </a:solidFill>
              <a:latin typeface="Comfortaa"/>
              <a:ea typeface="Comfortaa"/>
              <a:cs typeface="Comfortaa"/>
              <a:sym typeface="Comfortaa"/>
            </a:endParaRPr>
          </a:p>
          <a:p>
            <a:pPr indent="0" lvl="0" marL="0" rtl="0" algn="l">
              <a:lnSpc>
                <a:spcPct val="115000"/>
              </a:lnSpc>
              <a:spcBef>
                <a:spcPts val="0"/>
              </a:spcBef>
              <a:spcAft>
                <a:spcPts val="0"/>
              </a:spcAft>
              <a:buNone/>
            </a:pPr>
            <a:r>
              <a:t/>
            </a:r>
            <a:endParaRPr b="0" sz="1200">
              <a:solidFill>
                <a:srgbClr val="000000"/>
              </a:solidFill>
              <a:latin typeface="Comfortaa"/>
              <a:ea typeface="Comfortaa"/>
              <a:cs typeface="Comfortaa"/>
              <a:sym typeface="Comfortaa"/>
            </a:endParaRPr>
          </a:p>
          <a:p>
            <a:pPr indent="0" lvl="0" marL="0" rtl="0" algn="l">
              <a:lnSpc>
                <a:spcPct val="115000"/>
              </a:lnSpc>
              <a:spcBef>
                <a:spcPts val="0"/>
              </a:spcBef>
              <a:spcAft>
                <a:spcPts val="0"/>
              </a:spcAft>
              <a:buNone/>
            </a:pPr>
            <a:r>
              <a:t/>
            </a:r>
            <a:endParaRPr b="0" sz="1200">
              <a:solidFill>
                <a:srgbClr val="000000"/>
              </a:solidFill>
              <a:latin typeface="Comfortaa"/>
              <a:ea typeface="Comfortaa"/>
              <a:cs typeface="Comfortaa"/>
              <a:sym typeface="Comfortaa"/>
            </a:endParaRPr>
          </a:p>
          <a:p>
            <a:pPr indent="0" lvl="0" marL="0" rtl="0" algn="l">
              <a:lnSpc>
                <a:spcPct val="115000"/>
              </a:lnSpc>
              <a:spcBef>
                <a:spcPts val="0"/>
              </a:spcBef>
              <a:spcAft>
                <a:spcPts val="0"/>
              </a:spcAft>
              <a:buNone/>
            </a:pPr>
            <a:r>
              <a:rPr b="0" lang="en" sz="1200">
                <a:solidFill>
                  <a:srgbClr val="000000"/>
                </a:solidFill>
                <a:highlight>
                  <a:srgbClr val="FFFFFF"/>
                </a:highlight>
                <a:latin typeface="Comfortaa"/>
                <a:ea typeface="Comfortaa"/>
                <a:cs typeface="Comfortaa"/>
                <a:sym typeface="Comfortaa"/>
              </a:rPr>
              <a:t>Lu, H., S. Li, M. Ma, et al. 2021. "Comparing Machine Learning-Derived Global Estimates of Soil Respiration and Its Components with Those from Terrestrial Ecosystem Models." Environmental Research Letters 16, no. 5: Article 054048. </a:t>
            </a:r>
            <a:r>
              <a:rPr b="0" lang="en" sz="1200" u="sng">
                <a:solidFill>
                  <a:srgbClr val="1155CC"/>
                </a:solidFill>
                <a:highlight>
                  <a:srgbClr val="FFFFFF"/>
                </a:highlight>
                <a:latin typeface="Comfortaa"/>
                <a:ea typeface="Comfortaa"/>
                <a:cs typeface="Comfortaa"/>
                <a:sym typeface="Comfortaa"/>
                <a:hlinkClick r:id="rId5">
                  <a:extLst>
                    <a:ext uri="{A12FA001-AC4F-418D-AE19-62706E023703}">
                      <ahyp:hlinkClr val="tx"/>
                    </a:ext>
                  </a:extLst>
                </a:hlinkClick>
              </a:rPr>
              <a:t>https://doi.org/10.1088/1748-9326/abf526</a:t>
            </a:r>
            <a:r>
              <a:rPr b="0" lang="en" sz="1200">
                <a:solidFill>
                  <a:srgbClr val="000000"/>
                </a:solidFill>
                <a:highlight>
                  <a:srgbClr val="FFFFFF"/>
                </a:highlight>
                <a:latin typeface="Comfortaa"/>
                <a:ea typeface="Comfortaa"/>
                <a:cs typeface="Comfortaa"/>
                <a:sym typeface="Comfortaa"/>
              </a:rPr>
              <a:t>.</a:t>
            </a:r>
            <a:endParaRPr b="0" sz="1200">
              <a:latin typeface="Comfortaa"/>
              <a:ea typeface="Comfortaa"/>
              <a:cs typeface="Comfortaa"/>
              <a:sym typeface="Comfortaa"/>
            </a:endParaRPr>
          </a:p>
        </p:txBody>
      </p:sp>
      <p:sp>
        <p:nvSpPr>
          <p:cNvPr id="290" name="Google Shape;290;p42"/>
          <p:cNvSpPr txBox="1"/>
          <p:nvPr>
            <p:ph idx="6" type="title"/>
          </p:nvPr>
        </p:nvSpPr>
        <p:spPr>
          <a:xfrm>
            <a:off x="720000" y="496318"/>
            <a:ext cx="7704000" cy="631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References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