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2e446a2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2e446a2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2e1e9d2ff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2e1e9d2ff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db6fa93a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db6fa93a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2e15bb4d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2e15bb4d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2e1e9d2f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2e1e9d2f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2e1e9d2f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2e1e9d2f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2e15bb4d7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2e15bb4d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2e446a2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2e446a2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2e1e9d2ff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2e1e9d2ff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2e15bb4d7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2e15bb4d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2e15bb4d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32e15bb4d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819150" y="1658750"/>
            <a:ext cx="7505700" cy="1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/>
              <a:t> Exploring Innovative Machine Learning Models for Soil CO</a:t>
            </a:r>
            <a:r>
              <a:rPr b="1" baseline="-25000" lang="en" sz="3100"/>
              <a:t>2</a:t>
            </a:r>
            <a:r>
              <a:rPr b="1" lang="en" sz="3100"/>
              <a:t> Emission Forecasting</a:t>
            </a:r>
            <a:endParaRPr b="1" sz="3100"/>
          </a:p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3933900" y="3114925"/>
            <a:ext cx="12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Vincent Lu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612000" y="269100"/>
            <a:ext cx="7505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612000" y="853800"/>
            <a:ext cx="75057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lang="en" sz="1400" u="sng">
                <a:solidFill>
                  <a:srgbClr val="073763"/>
                </a:solidFill>
              </a:rPr>
              <a:t>Issue Statement</a:t>
            </a:r>
            <a:endParaRPr b="1" sz="1400" u="sng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73763"/>
                </a:solidFill>
              </a:rPr>
              <a:t>Currently, the world is experiencing global warming because of large amounts of CO2 emissions. A large contributor to this is a natural process called soil respiration by which CO2 is released from the soil.  Despite its significance, accurately predicting CO₂ emissions caused by soil respiration remains challenging, and the influence of environmental variables are not fully understood. 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73763"/>
                </a:solidFill>
              </a:rPr>
              <a:t>Previous works</a:t>
            </a:r>
            <a:endParaRPr b="1" sz="1400" u="sng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73763"/>
                </a:solidFill>
              </a:rPr>
              <a:t>Early studies using AI to predict soil respirations often rely on linear models or oversimplified datasets which lacked real-world applications. 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t/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73763"/>
                </a:solidFill>
              </a:rPr>
              <a:t>Research Objectives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Accurately predict CO₂ emissions from soil respiration based on spatial, temporal, climatic, and other observable variables by machine learning models. 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Provide model explainability to understand the environmental drivers behind soil respiration process.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357148" y="352650"/>
            <a:ext cx="66969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Data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587550" y="1013825"/>
            <a:ext cx="7968900" cy="3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b="1" lang="en" sz="6000" u="sng">
                <a:solidFill>
                  <a:srgbClr val="1F3864"/>
                </a:solidFill>
              </a:rPr>
              <a:t>Data source</a:t>
            </a:r>
            <a:endParaRPr b="1" sz="6000" u="sng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lang="en" sz="6000">
                <a:solidFill>
                  <a:srgbClr val="1F3864"/>
                </a:solidFill>
              </a:rPr>
              <a:t>All data is taken from Soil Respiration Database Version 5 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lang="en" sz="6000">
                <a:solidFill>
                  <a:srgbClr val="1F3864"/>
                </a:solidFill>
              </a:rPr>
              <a:t>(SRDB-V5), a comprehensive global archive of published research data on soil respiration.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b="1" lang="en" sz="6000" u="sng">
                <a:solidFill>
                  <a:srgbClr val="1F3864"/>
                </a:solidFill>
              </a:rPr>
              <a:t>Data cleaning and preprocessing</a:t>
            </a:r>
            <a:endParaRPr b="1" sz="6000" u="sng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Records with entries flagged in the Quality_flag field were excluded from the analysis.</a:t>
            </a:r>
            <a:endParaRPr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Extreme outliers, with Rs_annual values above 5000 gCm⁻², were also removed; this corresponded to 22 records from a total of 12,272 entries (less than 0.2%). </a:t>
            </a:r>
            <a:endParaRPr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Missing values for the independent variables were replaced by the median value of each respective feature.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321123" y="217525"/>
            <a:ext cx="66969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Exploratory Data Analysis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4928475" y="1067875"/>
            <a:ext cx="36267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rPr b="1" lang="en" sz="6000">
                <a:solidFill>
                  <a:srgbClr val="1F3864"/>
                </a:solidFill>
              </a:rPr>
              <a:t>Dependent variable: </a:t>
            </a:r>
            <a:r>
              <a:rPr lang="en" sz="6000">
                <a:solidFill>
                  <a:srgbClr val="1F3864"/>
                </a:solidFill>
              </a:rPr>
              <a:t> Rs_annual, the quantity of carbon dioxide emitted in a year by soil respiration. 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rPr b="1" lang="en" sz="6000">
                <a:solidFill>
                  <a:srgbClr val="1F3864"/>
                </a:solidFill>
              </a:rPr>
              <a:t>Independent variables (total 29):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Spatial/temporal: Study_year, YearsOfData, Latitude, Longitude, Biome, Elevation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Climate: MAT, MAP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Land use: Ecosystem_type, Ecosystem_state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Soil: Soil type, soil drainage, density etc.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Vegetation and carbon features: LAI, total carbon in vegetation at site, basal area at site etc..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75" y="1067876"/>
            <a:ext cx="1966524" cy="144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200" y="1109651"/>
            <a:ext cx="1905549" cy="13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325" y="2774844"/>
            <a:ext cx="2085226" cy="153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3550" y="2711875"/>
            <a:ext cx="2123024" cy="17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421400" y="406675"/>
            <a:ext cx="73893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Model Training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535400" y="902875"/>
            <a:ext cx="40992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Proposed Model: XGBoost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Baseline Models: Random Forest (RF), Gradient Boosting (GB)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explored: DNN model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</a:t>
            </a:r>
            <a:endParaRPr sz="1500" u="sng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GridSearchCV with K-fold cross-validation.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XGBoost parameters: number of estimators, tree depth, and learning rate …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DNN: neuron counts, learning rate, and batch size…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0" y="1571975"/>
            <a:ext cx="4104475" cy="216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421400" y="406675"/>
            <a:ext cx="52815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Model Evaluation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74500" y="1252900"/>
            <a:ext cx="7900500" cy="23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</a:pPr>
            <a:r>
              <a:rPr b="1" lang="en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Arial"/>
              <a:buNone/>
            </a:pPr>
            <a:r>
              <a:t/>
            </a:r>
            <a:endParaRPr b="1" sz="18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Mean Absolute Error (MAE):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Average absolute difference between predicted and real observed values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Root Mean Squared Error (RMSE): S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quare root of the mean of the squared differences between the predicted and actual values. 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Coefficient of Determination (R²):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 The amount of variance in the dependent variable that can be explained by the independent variables in the regression model.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548900" y="431250"/>
            <a:ext cx="63159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- Model Performance Comparison</a:t>
            </a:r>
            <a:endParaRPr sz="27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819150" y="2909525"/>
            <a:ext cx="7505700" cy="14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1F3864"/>
                </a:solidFill>
              </a:rPr>
              <a:t>XGBoost model has the best performance in terms of predictive accuracy and error reduction compared with the other three models with lowest MAE and RMSE, and highest R2.</a:t>
            </a:r>
            <a:endParaRPr sz="1400">
              <a:solidFill>
                <a:srgbClr val="1F3864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1F3864"/>
                </a:solidFill>
              </a:rPr>
              <a:t>The DNN model does not provide good results due to small sample size.</a:t>
            </a:r>
            <a:endParaRPr sz="14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9" name="Google Shape;179;p19"/>
          <p:cNvSpPr txBox="1"/>
          <p:nvPr/>
        </p:nvSpPr>
        <p:spPr>
          <a:xfrm>
            <a:off x="4294925" y="905675"/>
            <a:ext cx="488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787" y="20035461"/>
            <a:ext cx="6052493" cy="165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085" y="1434874"/>
            <a:ext cx="4281540" cy="11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4294925" y="1415325"/>
            <a:ext cx="657600" cy="11682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113900" y="1415325"/>
            <a:ext cx="657600" cy="1168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512900" y="269100"/>
            <a:ext cx="79014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- Model Explainability by SHAP Analysis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5982050" y="1779150"/>
            <a:ext cx="2801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Mean Annual Temperature (MAT) and Mean Annual Precipitation (MAP) are the most influential environmental factors, alongside geographic features such as latitude and longitude, aligning with previous studies. 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In addition, the four features, Study Year, Soil Type, soil composition related features, Elevation, and Basal Area (BA) also demonstrate high impact on Rs estimates.</a:t>
            </a:r>
            <a:endParaRPr sz="1400">
              <a:solidFill>
                <a:srgbClr val="073763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787" y="20035461"/>
            <a:ext cx="6052493" cy="165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975" y="1974425"/>
            <a:ext cx="4964726" cy="27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48050" y="884500"/>
            <a:ext cx="763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Machine learning methods are mostly seen as "black boxes."  To overcome this, 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SH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apley 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dditive ex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lanations (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SHAP)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is applied together with the XGBoost model to analyze feature importance, feature distribution, partial dependence, and the interactions between different features.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009575" y="1713113"/>
            <a:ext cx="2008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Importance Plot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dotted graph with white text&#10;&#10;Description automatically generated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025" y="739700"/>
            <a:ext cx="2428584" cy="20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5775" y="694575"/>
            <a:ext cx="2164575" cy="20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775" y="2789194"/>
            <a:ext cx="3123436" cy="20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2711" y="2788249"/>
            <a:ext cx="2439044" cy="20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280075" y="199100"/>
            <a:ext cx="78762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Partial dependence plots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from SHAP illustrate how the model outcome changes as a specific feature change, while other features remain unchanged. 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414800" y="1073575"/>
            <a:ext cx="17925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MAP increases up to 1000 mm, Rs increases. However, beyond 1000 mm of MAP, the predicted Rs values level off.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630500" y="983575"/>
            <a:ext cx="10359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slight upward trend between MAT and Rs.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864900" y="2788250"/>
            <a:ext cx="14142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Interaction effect of MAT and MAP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702475" y="2875250"/>
            <a:ext cx="11712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clear upward trend between study year and predicted 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517675" y="46044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386775" y="224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</a:rPr>
              <a:t>Conclusion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458825" y="782325"/>
            <a:ext cx="7505700" cy="40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An innovative ensemble model, XGBoost, is developed to predict annual Rs from spatial, temporal, climate, and other independent variables. In addition, a DNN model is experimented. The models are evaluated against two baseline models, Random Forest (RF) and Gradient Boosting (GB) from previous studies.</a:t>
            </a:r>
            <a:endParaRPr sz="1400">
              <a:solidFill>
                <a:srgbClr val="1F3864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The XGBoost model delivers the best performance, achieving a 4% reduction in MAE and RMSE and a 3.7% improvement in R</a:t>
            </a:r>
            <a:r>
              <a:rPr baseline="30000" lang="en" sz="1400">
                <a:solidFill>
                  <a:srgbClr val="002060"/>
                </a:solidFill>
              </a:rPr>
              <a:t>2</a:t>
            </a:r>
            <a:r>
              <a:rPr lang="en" sz="1400">
                <a:solidFill>
                  <a:srgbClr val="002060"/>
                </a:solidFill>
              </a:rPr>
              <a:t> compared to the Random Forest model, previously identified as the top-performing approach.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The DNN model fails to achieve reasonable results, primarily due to the limited sample size. </a:t>
            </a:r>
            <a:endParaRPr sz="1400">
              <a:solidFill>
                <a:srgbClr val="002060"/>
              </a:solidFill>
            </a:endParaRPr>
          </a:p>
          <a:p>
            <a:pPr indent="-2222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SHAP analysis is a great tool to provide model explainability, highlighting the importance of the impacts of features on predictions provided by the model.</a:t>
            </a:r>
            <a:endParaRPr sz="1400">
              <a:solidFill>
                <a:srgbClr val="00206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Results reveal that Mean Annual Temperature (MAT) and Mean Annual Precipitation (MAP) are the most influential environmental factors, alongside geographic features such as latitude and longitude, aligning with previous research.</a:t>
            </a:r>
            <a:endParaRPr sz="1400">
              <a:solidFill>
                <a:srgbClr val="00206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In addition, the four features, Study Year, Soil Type, soil composition related features, Elevation, and Basal Area (BA) also demonstrate high impact on Rs estimates.</a:t>
            </a:r>
            <a:endParaRPr sz="1400">
              <a:solidFill>
                <a:srgbClr val="00206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8" name="Google Shape;218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693025" y="422225"/>
            <a:ext cx="750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</a:rPr>
              <a:t>References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693025" y="1061825"/>
            <a:ext cx="7505700" cy="28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D. M. Lawrence et al., "The Community Land Model version 5: Description of new features, benchmarking, and impact of forcing uncertainty," J. Adv. Model. Earth Syst., vol. 11, no. 12, pp. 4245–4287, 2019.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J. Liu, J. Hu, H. Liu, et al., "Global soil respiration estimation based on ecological big data and machine learning model," Sci. Rep., vol. 14, 13231, 2024. doi: 10.1038/s41598-024-64235-w.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H. Lu, S. Li, M. Ma, et al., "Comparing machine learning-derived global estimates of soil respiration and its components with those from terrestrial ecosystem models," Environ. Res. Lett., vol. 16, no. 5, Art. 054048, 2021. doi: 10.1088/1748-9326/abf526.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H. Luo, C. Xiang, L. Zeng, et al., "SHAP-based predictive modeling for 1-year all-cause readmission risk in elderly heart failure patients: Feature selection and model interpretation," Sci. Rep., vol. 14, 17728, 2024. doi: 10.1038/s41598-024-67844-7.</a:t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2060"/>
                </a:solidFill>
              </a:rPr>
              <a:t>AI was not used in creating this display item</a:t>
            </a:r>
            <a:endParaRPr sz="1400">
              <a:solidFill>
                <a:srgbClr val="002060"/>
              </a:solidFill>
            </a:endParaRPr>
          </a:p>
        </p:txBody>
      </p:sp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