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2d7bcc1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2d7bcc1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2d7bcc19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2d7bcc19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565750" y="85725"/>
            <a:ext cx="7582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/>
              <a:t>Exploring Innovative Machine Learning Models for Soil CO</a:t>
            </a:r>
            <a:r>
              <a:rPr b="1" baseline="-25000" lang="en" sz="1550"/>
              <a:t>2</a:t>
            </a:r>
            <a:r>
              <a:rPr b="1" lang="en" sz="1550"/>
              <a:t> Emission Forecasting</a:t>
            </a:r>
            <a:endParaRPr b="1" sz="155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b="1" lang="en" sz="1000"/>
              <a:t>Vincent Lu, Basis Independent Fremont, Fremont, CA, USA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69925" y="785850"/>
            <a:ext cx="4157100" cy="1785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Q1: Research Question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How can AI/machine learning framework help us accurately predict CO₂ emissions from soil respiration based on spatial, temporal, climatic, and other observable variables? 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Can </a:t>
            </a:r>
            <a:r>
              <a:rPr lang="en" sz="1100">
                <a:solidFill>
                  <a:schemeClr val="dk1"/>
                </a:solidFill>
              </a:rPr>
              <a:t>AI/machine learning</a:t>
            </a:r>
            <a:r>
              <a:rPr lang="en" sz="1100">
                <a:solidFill>
                  <a:schemeClr val="dk1"/>
                </a:solidFill>
              </a:rPr>
              <a:t> help us </a:t>
            </a:r>
            <a:r>
              <a:rPr lang="en" sz="1100">
                <a:solidFill>
                  <a:schemeClr val="dk1"/>
                </a:solidFill>
              </a:rPr>
              <a:t>understand the environmental drivers behind soil respiration process?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819950" y="628500"/>
            <a:ext cx="4094400" cy="307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b="1" lang="en" sz="1000">
                <a:solidFill>
                  <a:schemeClr val="dk1"/>
                </a:solidFill>
              </a:rPr>
              <a:t>Q3: Data Analysis and Results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3172700"/>
            <a:ext cx="1743000" cy="1924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Q2: Methodology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Model selection: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Proposed Model: XGBoost; 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Baseline models: Random Forest (RF), Gradient Boosting (GB)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Hyperparameter optimization: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GridSearchCV with K-fold cross-validation. 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868850" y="3335175"/>
            <a:ext cx="3500700" cy="398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Q4: Interpretation and Conclusions</a:t>
            </a:r>
            <a:endParaRPr sz="1700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500" y="3332600"/>
            <a:ext cx="2517299" cy="1327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850" y="1183875"/>
            <a:ext cx="2293751" cy="66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081050" y="897225"/>
            <a:ext cx="174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XGBoost </a:t>
            </a:r>
            <a:r>
              <a:rPr lang="en" sz="800">
                <a:solidFill>
                  <a:schemeClr val="dk1"/>
                </a:solidFill>
              </a:rPr>
              <a:t>model has the best performance in terms of predictive accuracy and error reduction compared with the other three models: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Lowest MAE and RMSE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Highest R2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675950" y="3668725"/>
            <a:ext cx="43824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An innovative ensemble model, XGBoost, is developed to predict annual Rs from spatial, temporal, climate, and other independent variables. The XGBoost model delivers the best performance, achieving a 4% reduction in MAE and RMSE and a 3.7% improvement in R2 compared to the Random Forest model, previously identified as the top-performing approach. 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SHAP (SHapley Additive exPlanations) is employed as a robust method for model explainability, enabling the assessment of feature impacts on predictions both globally and at the individual observation level.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89375" y="936300"/>
            <a:ext cx="18195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Model Performance Comparison</a:t>
            </a:r>
            <a:endParaRPr b="1" sz="800">
              <a:solidFill>
                <a:schemeClr val="dk1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9951" y="1966862"/>
            <a:ext cx="2158350" cy="121591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7189150" y="2039988"/>
            <a:ext cx="1743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SHAP</a:t>
            </a:r>
            <a:r>
              <a:rPr lang="en" sz="800">
                <a:solidFill>
                  <a:schemeClr val="dk1"/>
                </a:solidFill>
              </a:rPr>
              <a:t> analysis reveals that Mean Annual Temperature (MAT) and Mean Annual Precipitation (MAP) are the most influential environmental factors, alongside  geographic features such as latitude and longitude, aligning with previous studies.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" name="Google Shape;66;p13"/>
          <p:cNvCxnSpPr/>
          <p:nvPr/>
        </p:nvCxnSpPr>
        <p:spPr>
          <a:xfrm>
            <a:off x="435075" y="3209475"/>
            <a:ext cx="8374500" cy="84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>
            <a:off x="4527025" y="878450"/>
            <a:ext cx="68700" cy="4221600"/>
          </a:xfrm>
          <a:prstGeom prst="straightConnector1">
            <a:avLst/>
          </a:prstGeom>
          <a:noFill/>
          <a:ln cap="flat" cmpd="sng" w="28575">
            <a:solidFill>
              <a:srgbClr val="3D8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8295450" y="39575"/>
            <a:ext cx="76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ID: </a:t>
            </a:r>
            <a:r>
              <a:rPr b="1" lang="en" sz="1050">
                <a:solidFill>
                  <a:srgbClr val="212B36"/>
                </a:solidFill>
              </a:rPr>
              <a:t>6736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